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市場規模（億円）</c:v>
                </c:pt>
              </c:strCache>
            </c:strRef>
          </c:tx>
          <c:spPr>
            <a:solidFill>
              <a:srgbClr val="C41E3A"/>
            </a:solidFill>
            <a:effectLst/>
          </c:spPr>
          <c:invertIfNegative val="0"/>
          <c:dLbls>
            <c:numFmt formatCode="#,##0" sourceLinked="0"/>
            <c:txPr>
              <a:bodyPr/>
              <a:lstStyle/>
              <a:p>
                <a:pPr>
                  <a:defRPr b="0" i="0" strike="noStrike" sz="900" u="none">
                    <a:solidFill>
                      <a:srgbClr val="2D2D2D"/>
                    </a:solidFill>
                    <a:latin typeface="Arial"/>
                  </a:defRPr>
                </a:pPr>
              </a:p>
            </c:txPr>
            <c:showLegendKey val="0"/>
            <c:showVal val="1"/>
            <c:showCatName val="0"/>
            <c:showSerName val="0"/>
            <c:showPercent val="0"/>
            <c:showBubbleSize val="0"/>
            <c:showLeaderLines val="0"/>
          </c:dLbls>
          <c:dPt>
            <c:idx val="0"/>
            <c:invertIfNegative val="0"/>
            <c:bubble3D val="0"/>
            <c:spPr>
              <a:solidFill>
                <a:srgbClr val="C41E3A"/>
              </a:solidFill>
              <a:effectLst/>
            </c:spPr>
          </c:dPt>
          <c:dPt>
            <c:idx val="1"/>
            <c:invertIfNegative val="0"/>
            <c:bubble3D val="0"/>
            <c:spPr>
              <a:solidFill>
                <a:srgbClr val="D4A017"/>
              </a:solidFill>
              <a:effectLst/>
            </c:spPr>
          </c:dPt>
          <c:dPt>
            <c:idx val="2"/>
            <c:invertIfNegative val="0"/>
            <c:bubble3D val="0"/>
            <c:spPr>
              <a:solidFill>
                <a:srgbClr val="8B0000"/>
              </a:solidFill>
              <a:effectLst/>
            </c:spPr>
          </c:dPt>
          <c:dPt>
            <c:idx val="3"/>
            <c:invertIfNegative val="0"/>
            <c:bubble3D val="0"/>
            <c:spPr>
              <a:solidFill>
                <a:srgbClr val="E8A87C"/>
              </a:solidFill>
              <a:effectLst/>
            </c:spPr>
          </c:dPt>
          <c:dPt>
            <c:idx val="4"/>
            <c:invertIfNegative val="0"/>
            <c:bubble3D val="0"/>
            <c:spPr>
              <a:solidFill>
                <a:srgbClr val="B8860B"/>
              </a:solidFill>
              <a:effectLst/>
            </c:spPr>
          </c:dPt>
          <c:cat>
            <c:multiLvlStrRef>
              <c:f>Sheet1!$A$2:$A$6</c:f>
              <c:multiLvlStrCache>
                <c:ptCount val="5"/>
                <c:lvl>
                  <c:pt idx="0">
                    <c:v>ポケモン</c:v>
                  </c:pt>
                  <c:pt idx="1">
                    <c:v>ONE PIECE</c:v>
                  </c:pt>
                  <c:pt idx="2">
                    <c:v>遊戯王</c:v>
                  </c:pt>
                  <c:pt idx="3">
                    <c:v>デュエマ</c:v>
                  </c:pt>
                  <c:pt idx="4">
                    <c:v>その他</c:v>
                  </c:pt>
                </c:lvl>
              </c:multiLvlStrCache>
            </c:multiLvlStrRef>
          </c:cat>
          <c:val>
            <c:numRef>
              <c:f>Sheet1!$B$2:$B$6</c:f>
              <c:numCache>
                <c:formatCode>General</c:formatCode>
                <c:ptCount val="5"/>
                <c:pt idx="0">
                  <c:v>1200</c:v>
                </c:pt>
                <c:pt idx="1">
                  <c:v>400</c:v>
                </c:pt>
                <c:pt idx="2">
                  <c:v>300</c:v>
                </c:pt>
                <c:pt idx="3">
                  <c:v>200</c:v>
                </c:pt>
                <c:pt idx="4">
                  <c:v>900</c:v>
                </c:pt>
              </c:numCache>
            </c:numRef>
          </c:val>
        </c:ser>
        <c:dLbls>
          <c:numFmt formatCode="#,##0" sourceLinked="0"/>
          <c:txPr>
            <a:bodyPr/>
            <a:lstStyle/>
            <a:p>
              <a:pPr>
                <a:defRPr b="0" i="0" strike="noStrike" sz="900" u="none">
                  <a:solidFill>
                    <a:srgbClr val="2D2D2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2D2D2D"/>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月間売上（万円）</c:v>
                </c:pt>
              </c:strCache>
            </c:strRef>
          </c:tx>
          <c:spPr>
            <a:solidFill>
              <a:srgbClr val="C41E3A"/>
            </a:solidFill>
            <a:ln w="25400" cap="flat">
              <a:solidFill>
                <a:srgbClr val="C41E3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41E3A"/>
              </a:solidFill>
              <a:ln w="9525" cap="flat">
                <a:solidFill>
                  <a:srgbClr val="C41E3A"/>
                </a:solidFill>
                <a:prstDash val="solid"/>
                <a:round/>
              </a:ln>
              <a:effectLst/>
            </c:spPr>
          </c:marker>
          <c:cat>
            <c:multiLvlStrRef>
              <c:f>Sheet1!$A$2:$A$13</c:f>
              <c:multiLvlStrCache>
                <c:ptCount val="12"/>
                <c:lvl>
                  <c:pt idx="0">
                    <c:v>1月</c:v>
                  </c:pt>
                  <c:pt idx="1">
                    <c:v>2月</c:v>
                  </c:pt>
                  <c:pt idx="2">
                    <c:v>3月</c:v>
                  </c:pt>
                  <c:pt idx="3">
                    <c:v>4月</c:v>
                  </c:pt>
                  <c:pt idx="4">
                    <c:v>5月</c:v>
                  </c:pt>
                  <c:pt idx="5">
                    <c:v>6月</c:v>
                  </c:pt>
                  <c:pt idx="6">
                    <c:v>7月</c:v>
                  </c:pt>
                  <c:pt idx="7">
                    <c:v>8月</c:v>
                  </c:pt>
                  <c:pt idx="8">
                    <c:v>9月</c:v>
                  </c:pt>
                  <c:pt idx="9">
                    <c:v>10月</c:v>
                  </c:pt>
                  <c:pt idx="10">
                    <c:v>11月</c:v>
                  </c:pt>
                  <c:pt idx="11">
                    <c:v>12月</c:v>
                  </c:pt>
                </c:lvl>
              </c:multiLvlStrCache>
            </c:multiLvlStrRef>
          </c:cat>
          <c:val>
            <c:numRef>
              <c:f>Sheet1!$B$2:$B$13</c:f>
              <c:numCache>
                <c:formatCode>General</c:formatCode>
                <c:ptCount val="12"/>
                <c:pt idx="0">
                  <c:v>37.5</c:v>
                </c:pt>
                <c:pt idx="1">
                  <c:v>62</c:v>
                </c:pt>
                <c:pt idx="2">
                  <c:v>83.5</c:v>
                </c:pt>
                <c:pt idx="3">
                  <c:v>106.5</c:v>
                </c:pt>
                <c:pt idx="4">
                  <c:v>134</c:v>
                </c:pt>
                <c:pt idx="5">
                  <c:v>168</c:v>
                </c:pt>
                <c:pt idx="6">
                  <c:v>210.5</c:v>
                </c:pt>
                <c:pt idx="7">
                  <c:v>263</c:v>
                </c:pt>
                <c:pt idx="8">
                  <c:v>328.5</c:v>
                </c:pt>
                <c:pt idx="9">
                  <c:v>411</c:v>
                </c:pt>
                <c:pt idx="10">
                  <c:v>513.5</c:v>
                </c:pt>
                <c:pt idx="11">
                  <c:v>642</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2D2D2D"/>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EEE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99999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0A0E"/>
        </a:solidFill>
      </p:bgPr>
    </p:bg>
    <p:spTree>
      <p:nvGrpSpPr>
        <p:cNvPr id="1" name=""/>
        <p:cNvGrpSpPr/>
        <p:nvPr/>
      </p:nvGrpSpPr>
      <p:grpSpPr>
        <a:xfrm>
          <a:off x="0" y="0"/>
          <a:ext cx="0" cy="0"/>
          <a:chOff x="0" y="0"/>
          <a:chExt cx="0" cy="0"/>
        </a:xfrm>
      </p:grpSpPr>
      <p:sp>
        <p:nvSpPr>
          <p:cNvPr id="2" name="Shape 0"/>
          <p:cNvSpPr/>
          <p:nvPr/>
        </p:nvSpPr>
        <p:spPr>
          <a:xfrm>
            <a:off x="6583680" y="-1645920"/>
            <a:ext cx="4114800" cy="4114800"/>
          </a:xfrm>
          <a:prstGeom prst="ellipse">
            <a:avLst/>
          </a:prstGeom>
          <a:solidFill>
            <a:srgbClr val="D4A017">
              <a:alpha val="8000"/>
            </a:srgbClr>
          </a:solidFill>
          <a:ln/>
        </p:spPr>
      </p:sp>
      <p:sp>
        <p:nvSpPr>
          <p:cNvPr id="3" name="Shape 1"/>
          <p:cNvSpPr/>
          <p:nvPr/>
        </p:nvSpPr>
        <p:spPr>
          <a:xfrm>
            <a:off x="-1371600" y="3200400"/>
            <a:ext cx="3200400" cy="3200400"/>
          </a:xfrm>
          <a:prstGeom prst="ellipse">
            <a:avLst/>
          </a:prstGeom>
          <a:solidFill>
            <a:srgbClr val="C41E3A">
              <a:alpha val="8000"/>
            </a:srgbClr>
          </a:solidFill>
          <a:ln/>
        </p:spPr>
      </p:sp>
      <p:sp>
        <p:nvSpPr>
          <p:cNvPr id="4" name="Text 2"/>
          <p:cNvSpPr/>
          <p:nvPr/>
        </p:nvSpPr>
        <p:spPr>
          <a:xfrm>
            <a:off x="457200" y="914400"/>
            <a:ext cx="8229600" cy="1005840"/>
          </a:xfrm>
          <a:prstGeom prst="rect">
            <a:avLst/>
          </a:prstGeom>
          <a:noFill/>
          <a:ln/>
        </p:spPr>
        <p:txBody>
          <a:bodyPr wrap="square" lIns="0" tIns="0" rIns="0" bIns="0" rtlCol="0" anchor="ctr"/>
          <a:lstStyle/>
          <a:p>
            <a:pPr algn="ctr" indent="0" marL="0">
              <a:buNone/>
            </a:pPr>
            <a:r>
              <a:rPr lang="en-US" sz="7200" b="1" dirty="0">
                <a:solidFill>
                  <a:srgbClr val="C41E3A"/>
                </a:solidFill>
                <a:latin typeface="Calibri" pitchFamily="34" charset="0"/>
                <a:ea typeface="Calibri" pitchFamily="34" charset="-122"/>
                <a:cs typeface="Calibri" pitchFamily="34" charset="-120"/>
              </a:rPr>
              <a:t>ORIPA</a:t>
            </a:r>
            <a:endParaRPr lang="en-US" sz="7200" dirty="0"/>
          </a:p>
        </p:txBody>
      </p:sp>
      <p:sp>
        <p:nvSpPr>
          <p:cNvPr id="5" name="Text 3"/>
          <p:cNvSpPr/>
          <p:nvPr/>
        </p:nvSpPr>
        <p:spPr>
          <a:xfrm>
            <a:off x="457200" y="1920240"/>
            <a:ext cx="8229600" cy="457200"/>
          </a:xfrm>
          <a:prstGeom prst="rect">
            <a:avLst/>
          </a:prstGeom>
          <a:noFill/>
          <a:ln/>
        </p:spPr>
        <p:txBody>
          <a:bodyPr wrap="square" lIns="0" tIns="0" rIns="0" bIns="0" rtlCol="0" anchor="ctr"/>
          <a:lstStyle/>
          <a:p>
            <a:pPr algn="ctr" indent="0" marL="0">
              <a:buNone/>
            </a:pPr>
            <a:r>
              <a:rPr lang="en-US" sz="2200" dirty="0">
                <a:solidFill>
                  <a:srgbClr val="D4A017"/>
                </a:solidFill>
                <a:latin typeface="Calibri" pitchFamily="34" charset="0"/>
                <a:ea typeface="Calibri" pitchFamily="34" charset="-122"/>
                <a:cs typeface="Calibri" pitchFamily="34" charset="-120"/>
              </a:rPr>
              <a:t>オンラインオリパプラットフォーム</a:t>
            </a:r>
            <a:endParaRPr lang="en-US" sz="2200" dirty="0"/>
          </a:p>
        </p:txBody>
      </p:sp>
      <p:sp>
        <p:nvSpPr>
          <p:cNvPr id="6" name="Text 4"/>
          <p:cNvSpPr/>
          <p:nvPr/>
        </p:nvSpPr>
        <p:spPr>
          <a:xfrm>
            <a:off x="1371600" y="2651760"/>
            <a:ext cx="6400800" cy="731520"/>
          </a:xfrm>
          <a:prstGeom prst="rect">
            <a:avLst/>
          </a:prstGeom>
          <a:noFill/>
          <a:ln/>
        </p:spPr>
        <p:txBody>
          <a:bodyPr wrap="square" lIns="0" tIns="0" rIns="0" bIns="0" rtlCol="0" anchor="ctr"/>
          <a:lstStyle/>
          <a:p>
            <a:pPr algn="ctr" indent="0" marL="0">
              <a:lnSpc>
                <a:spcPct val="150000"/>
              </a:lnSpc>
              <a:buNone/>
            </a:pPr>
            <a:r>
              <a:rPr lang="en-US" sz="1400" dirty="0">
                <a:solidFill>
                  <a:srgbClr val="FFFFFF"/>
                </a:solidFill>
                <a:latin typeface="Calibri" pitchFamily="34" charset="0"/>
                <a:ea typeface="Calibri" pitchFamily="34" charset="-122"/>
                <a:cs typeface="Calibri" pitchFamily="34" charset="-120"/>
              </a:rPr>
              <a:t>トレーディングカード × テクノロジーで実現する</a:t>
            </a:r>
            <a:endParaRPr lang="en-US" sz="1400" dirty="0"/>
          </a:p>
          <a:p>
            <a:pPr algn="ctr" indent="0" marL="0">
              <a:lnSpc>
                <a:spcPct val="150000"/>
              </a:lnSpc>
              <a:buNone/>
            </a:pPr>
            <a:r>
              <a:rPr lang="en-US" sz="1400" dirty="0">
                <a:solidFill>
                  <a:srgbClr val="FFFFFF"/>
                </a:solidFill>
                <a:latin typeface="Calibri" pitchFamily="34" charset="0"/>
                <a:ea typeface="Calibri" pitchFamily="34" charset="-122"/>
                <a:cs typeface="Calibri" pitchFamily="34" charset="-120"/>
              </a:rPr>
              <a:t>次世代オンラインくじ引きプラットフォーム</a:t>
            </a:r>
            <a:endParaRPr lang="en-US" sz="1400" dirty="0"/>
          </a:p>
        </p:txBody>
      </p:sp>
      <p:sp>
        <p:nvSpPr>
          <p:cNvPr id="7" name="Text 5"/>
          <p:cNvSpPr/>
          <p:nvPr/>
        </p:nvSpPr>
        <p:spPr>
          <a:xfrm>
            <a:off x="457200" y="4389120"/>
            <a:ext cx="8229600" cy="365760"/>
          </a:xfrm>
          <a:prstGeom prst="rect">
            <a:avLst/>
          </a:prstGeom>
          <a:noFill/>
          <a:ln/>
        </p:spPr>
        <p:txBody>
          <a:bodyPr wrap="square" lIns="0" tIns="0" rIns="0" bIns="0" rtlCol="0" anchor="ctr"/>
          <a:lstStyle/>
          <a:p>
            <a:pPr algn="ctr" indent="0" marL="0">
              <a:buNone/>
            </a:pPr>
            <a:r>
              <a:rPr lang="en-US" sz="1000" dirty="0">
                <a:solidFill>
                  <a:srgbClr val="999999"/>
                </a:solidFill>
                <a:latin typeface="Calibri" pitchFamily="34" charset="0"/>
                <a:ea typeface="Calibri" pitchFamily="34" charset="-122"/>
                <a:cs typeface="Calibri" pitchFamily="34" charset="-120"/>
              </a:rPr>
              <a:t>事業計画書  |  2026年7月  |  Confidential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algn="l" indent="0" marL="0">
              <a:buNone/>
            </a:pPr>
            <a:r>
              <a:rPr lang="en-US" sz="3200" b="1" dirty="0">
                <a:solidFill>
                  <a:srgbClr val="8B0000"/>
                </a:solidFill>
                <a:latin typeface="Calibri" pitchFamily="34" charset="0"/>
                <a:ea typeface="Calibri" pitchFamily="34" charset="-122"/>
                <a:cs typeface="Calibri" pitchFamily="34" charset="-120"/>
              </a:rPr>
              <a:t>エグゼクティブサマリー</a:t>
            </a:r>
            <a:endParaRPr lang="en-US" sz="3200" dirty="0"/>
          </a:p>
        </p:txBody>
      </p:sp>
      <p:sp>
        <p:nvSpPr>
          <p:cNvPr id="3" name="Text 1"/>
          <p:cNvSpPr/>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2</a:t>
            </a:r>
            <a:endParaRPr lang="en-US" sz="900" dirty="0"/>
          </a:p>
        </p:txBody>
      </p:sp>
      <p:sp>
        <p:nvSpPr>
          <p:cNvPr id="4" name="Shape 2"/>
          <p:cNvSpPr/>
          <p:nvPr/>
        </p:nvSpPr>
        <p:spPr>
          <a:xfrm>
            <a:off x="548640" y="1005840"/>
            <a:ext cx="1874520" cy="2011680"/>
          </a:xfrm>
          <a:prstGeom prst="roundRect">
            <a:avLst>
              <a:gd name="adj" fmla="val 3902"/>
            </a:avLst>
          </a:prstGeom>
          <a:solidFill>
            <a:srgbClr val="FDF5E6"/>
          </a:solidFill>
          <a:ln/>
          <a:effectLst>
            <a:outerShdw sx="100000" sy="100000" kx="0" ky="0" algn="bl" rotWithShape="0" blurRad="50800" dist="25400" dir="18900000">
              <a:srgbClr val="000000">
                <a:alpha val="12000"/>
              </a:srgbClr>
            </a:outerShdw>
          </a:effectLst>
        </p:spPr>
      </p:sp>
      <p:sp>
        <p:nvSpPr>
          <p:cNvPr id="5" name="Shape 3"/>
          <p:cNvSpPr/>
          <p:nvPr/>
        </p:nvSpPr>
        <p:spPr>
          <a:xfrm>
            <a:off x="1284732" y="1188720"/>
            <a:ext cx="402336" cy="402336"/>
          </a:xfrm>
          <a:prstGeom prst="ellipse">
            <a:avLst/>
          </a:prstGeom>
          <a:solidFill>
            <a:srgbClr val="C41E3A"/>
          </a:solidFill>
          <a:ln/>
        </p:spPr>
      </p:sp>
      <p:sp>
        <p:nvSpPr>
          <p:cNvPr id="6" name="Text 4"/>
          <p:cNvSpPr/>
          <p:nvPr/>
        </p:nvSpPr>
        <p:spPr>
          <a:xfrm>
            <a:off x="548640" y="1737360"/>
            <a:ext cx="1874520" cy="457200"/>
          </a:xfrm>
          <a:prstGeom prst="rect">
            <a:avLst/>
          </a:prstGeom>
          <a:noFill/>
          <a:ln/>
        </p:spPr>
        <p:txBody>
          <a:bodyPr wrap="square" lIns="0" tIns="0" rIns="0" bIns="0" rtlCol="0" anchor="ctr"/>
          <a:lstStyle/>
          <a:p>
            <a:pPr algn="ctr" indent="0" marL="0">
              <a:buNone/>
            </a:pPr>
            <a:r>
              <a:rPr lang="en-US" sz="1800" b="1" dirty="0">
                <a:solidFill>
                  <a:srgbClr val="8B0000"/>
                </a:solidFill>
                <a:latin typeface="Calibri" pitchFamily="34" charset="0"/>
                <a:ea typeface="Calibri" pitchFamily="34" charset="-122"/>
                <a:cs typeface="Calibri" pitchFamily="34" charset="-120"/>
              </a:rPr>
              <a:t>3,000億円+</a:t>
            </a:r>
            <a:endParaRPr lang="en-US" sz="1800" dirty="0"/>
          </a:p>
        </p:txBody>
      </p:sp>
      <p:sp>
        <p:nvSpPr>
          <p:cNvPr id="7" name="Text 5"/>
          <p:cNvSpPr/>
          <p:nvPr/>
        </p:nvSpPr>
        <p:spPr>
          <a:xfrm>
            <a:off x="548640" y="2240280"/>
            <a:ext cx="1874520" cy="320040"/>
          </a:xfrm>
          <a:prstGeom prst="rect">
            <a:avLst/>
          </a:prstGeom>
          <a:noFill/>
          <a:ln/>
        </p:spPr>
        <p:txBody>
          <a:bodyPr wrap="square" lIns="0" tIns="0" rIns="0" bIns="0" rtlCol="0" anchor="ctr"/>
          <a:lstStyle/>
          <a:p>
            <a:pPr algn="ctr" indent="0" marL="0">
              <a:buNone/>
            </a:pPr>
            <a:r>
              <a:rPr lang="en-US" sz="1200" b="1" dirty="0">
                <a:solidFill>
                  <a:srgbClr val="2D2D2D"/>
                </a:solidFill>
                <a:latin typeface="Calibri" pitchFamily="34" charset="0"/>
                <a:ea typeface="Calibri" pitchFamily="34" charset="-122"/>
                <a:cs typeface="Calibri" pitchFamily="34" charset="-120"/>
              </a:rPr>
              <a:t>国内トレカ市場規模</a:t>
            </a:r>
            <a:endParaRPr lang="en-US" sz="1200" dirty="0"/>
          </a:p>
        </p:txBody>
      </p:sp>
      <p:sp>
        <p:nvSpPr>
          <p:cNvPr id="8" name="Text 6"/>
          <p:cNvSpPr/>
          <p:nvPr/>
        </p:nvSpPr>
        <p:spPr>
          <a:xfrm>
            <a:off x="548640" y="2514600"/>
            <a:ext cx="1874520" cy="274320"/>
          </a:xfrm>
          <a:prstGeom prst="rect">
            <a:avLst/>
          </a:prstGeom>
          <a:noFill/>
          <a:ln/>
        </p:spPr>
        <p:txBody>
          <a:bodyPr wrap="square" lIns="0" tIns="0" rIns="0" bIns="0" rtlCol="0" anchor="ctr"/>
          <a:lstStyle/>
          <a:p>
            <a:pPr algn="ctr" indent="0" marL="0">
              <a:buNone/>
            </a:pPr>
            <a:r>
              <a:rPr lang="en-US" sz="1000" dirty="0">
                <a:solidFill>
                  <a:srgbClr val="999999"/>
                </a:solidFill>
                <a:latin typeface="Calibri" pitchFamily="34" charset="0"/>
                <a:ea typeface="Calibri" pitchFamily="34" charset="-122"/>
                <a:cs typeface="Calibri" pitchFamily="34" charset="-120"/>
              </a:rPr>
              <a:t>(2024年)</a:t>
            </a:r>
            <a:endParaRPr lang="en-US" sz="1000" dirty="0"/>
          </a:p>
        </p:txBody>
      </p:sp>
      <p:sp>
        <p:nvSpPr>
          <p:cNvPr id="9" name="Shape 7"/>
          <p:cNvSpPr/>
          <p:nvPr/>
        </p:nvSpPr>
        <p:spPr>
          <a:xfrm>
            <a:off x="2606040" y="1005840"/>
            <a:ext cx="1874520" cy="2011680"/>
          </a:xfrm>
          <a:prstGeom prst="roundRect">
            <a:avLst>
              <a:gd name="adj" fmla="val 3902"/>
            </a:avLst>
          </a:prstGeom>
          <a:solidFill>
            <a:srgbClr val="FDF5E6"/>
          </a:solidFill>
          <a:ln/>
          <a:effectLst>
            <a:outerShdw sx="100000" sy="100000" kx="0" ky="0" algn="bl" rotWithShape="0" blurRad="50800" dist="25400" dir="18900000">
              <a:srgbClr val="000000">
                <a:alpha val="12000"/>
              </a:srgbClr>
            </a:outerShdw>
          </a:effectLst>
        </p:spPr>
      </p:sp>
      <p:sp>
        <p:nvSpPr>
          <p:cNvPr id="10" name="Shape 8"/>
          <p:cNvSpPr/>
          <p:nvPr/>
        </p:nvSpPr>
        <p:spPr>
          <a:xfrm>
            <a:off x="3342132" y="1188720"/>
            <a:ext cx="402336" cy="402336"/>
          </a:xfrm>
          <a:prstGeom prst="ellipse">
            <a:avLst/>
          </a:prstGeom>
          <a:solidFill>
            <a:srgbClr val="C41E3A"/>
          </a:solidFill>
          <a:ln/>
        </p:spPr>
      </p:sp>
      <p:sp>
        <p:nvSpPr>
          <p:cNvPr id="11" name="Text 9"/>
          <p:cNvSpPr/>
          <p:nvPr/>
        </p:nvSpPr>
        <p:spPr>
          <a:xfrm>
            <a:off x="2606040" y="1737360"/>
            <a:ext cx="1874520" cy="457200"/>
          </a:xfrm>
          <a:prstGeom prst="rect">
            <a:avLst/>
          </a:prstGeom>
          <a:noFill/>
          <a:ln/>
        </p:spPr>
        <p:txBody>
          <a:bodyPr wrap="square" lIns="0" tIns="0" rIns="0" bIns="0" rtlCol="0" anchor="ctr"/>
          <a:lstStyle/>
          <a:p>
            <a:pPr algn="ctr" indent="0" marL="0">
              <a:buNone/>
            </a:pPr>
            <a:r>
              <a:rPr lang="en-US" sz="2400" b="1" dirty="0">
                <a:solidFill>
                  <a:srgbClr val="8B0000"/>
                </a:solidFill>
                <a:latin typeface="Calibri" pitchFamily="34" charset="0"/>
                <a:ea typeface="Calibri" pitchFamily="34" charset="-122"/>
                <a:cs typeface="Calibri" pitchFamily="34" charset="-120"/>
              </a:rPr>
              <a:t>10%+</a:t>
            </a:r>
            <a:endParaRPr lang="en-US" sz="2400" dirty="0"/>
          </a:p>
        </p:txBody>
      </p:sp>
      <p:sp>
        <p:nvSpPr>
          <p:cNvPr id="12" name="Text 10"/>
          <p:cNvSpPr/>
          <p:nvPr/>
        </p:nvSpPr>
        <p:spPr>
          <a:xfrm>
            <a:off x="2606040" y="2240280"/>
            <a:ext cx="1874520" cy="320040"/>
          </a:xfrm>
          <a:prstGeom prst="rect">
            <a:avLst/>
          </a:prstGeom>
          <a:noFill/>
          <a:ln/>
        </p:spPr>
        <p:txBody>
          <a:bodyPr wrap="square" lIns="0" tIns="0" rIns="0" bIns="0" rtlCol="0" anchor="ctr"/>
          <a:lstStyle/>
          <a:p>
            <a:pPr algn="ctr" indent="0" marL="0">
              <a:buNone/>
            </a:pPr>
            <a:r>
              <a:rPr lang="en-US" sz="1200" b="1" dirty="0">
                <a:solidFill>
                  <a:srgbClr val="2D2D2D"/>
                </a:solidFill>
                <a:latin typeface="Calibri" pitchFamily="34" charset="0"/>
                <a:ea typeface="Calibri" pitchFamily="34" charset="-122"/>
                <a:cs typeface="Calibri" pitchFamily="34" charset="-120"/>
              </a:rPr>
              <a:t>年間成長率</a:t>
            </a:r>
            <a:endParaRPr lang="en-US" sz="1200" dirty="0"/>
          </a:p>
        </p:txBody>
      </p:sp>
      <p:sp>
        <p:nvSpPr>
          <p:cNvPr id="13" name="Text 11"/>
          <p:cNvSpPr/>
          <p:nvPr/>
        </p:nvSpPr>
        <p:spPr>
          <a:xfrm>
            <a:off x="2606040" y="2514600"/>
            <a:ext cx="1874520" cy="274320"/>
          </a:xfrm>
          <a:prstGeom prst="rect">
            <a:avLst/>
          </a:prstGeom>
          <a:noFill/>
          <a:ln/>
        </p:spPr>
        <p:txBody>
          <a:bodyPr wrap="square" lIns="0" tIns="0" rIns="0" bIns="0" rtlCol="0" anchor="ctr"/>
          <a:lstStyle/>
          <a:p>
            <a:pPr algn="ctr" indent="0" marL="0">
              <a:buNone/>
            </a:pPr>
            <a:r>
              <a:rPr lang="en-US" sz="1000" dirty="0">
                <a:solidFill>
                  <a:srgbClr val="999999"/>
                </a:solidFill>
                <a:latin typeface="Calibri" pitchFamily="34" charset="0"/>
                <a:ea typeface="Calibri" pitchFamily="34" charset="-122"/>
                <a:cs typeface="Calibri" pitchFamily="34" charset="-120"/>
              </a:rPr>
              <a:t>継続的な拡大</a:t>
            </a:r>
            <a:endParaRPr lang="en-US" sz="1000" dirty="0"/>
          </a:p>
        </p:txBody>
      </p:sp>
      <p:sp>
        <p:nvSpPr>
          <p:cNvPr id="14" name="Shape 12"/>
          <p:cNvSpPr/>
          <p:nvPr/>
        </p:nvSpPr>
        <p:spPr>
          <a:xfrm>
            <a:off x="4663440" y="1005840"/>
            <a:ext cx="1874520" cy="2011680"/>
          </a:xfrm>
          <a:prstGeom prst="roundRect">
            <a:avLst>
              <a:gd name="adj" fmla="val 3902"/>
            </a:avLst>
          </a:prstGeom>
          <a:solidFill>
            <a:srgbClr val="FDF5E6"/>
          </a:solidFill>
          <a:ln/>
          <a:effectLst>
            <a:outerShdw sx="100000" sy="100000" kx="0" ky="0" algn="bl" rotWithShape="0" blurRad="50800" dist="25400" dir="18900000">
              <a:srgbClr val="000000">
                <a:alpha val="12000"/>
              </a:srgbClr>
            </a:outerShdw>
          </a:effectLst>
        </p:spPr>
      </p:sp>
      <p:sp>
        <p:nvSpPr>
          <p:cNvPr id="15" name="Shape 13"/>
          <p:cNvSpPr/>
          <p:nvPr/>
        </p:nvSpPr>
        <p:spPr>
          <a:xfrm>
            <a:off x="5399532" y="1188720"/>
            <a:ext cx="402336" cy="402336"/>
          </a:xfrm>
          <a:prstGeom prst="ellipse">
            <a:avLst/>
          </a:prstGeom>
          <a:solidFill>
            <a:srgbClr val="C41E3A"/>
          </a:solidFill>
          <a:ln/>
        </p:spPr>
      </p:sp>
      <p:sp>
        <p:nvSpPr>
          <p:cNvPr id="16" name="Text 14"/>
          <p:cNvSpPr/>
          <p:nvPr/>
        </p:nvSpPr>
        <p:spPr>
          <a:xfrm>
            <a:off x="4663440" y="1737360"/>
            <a:ext cx="1874520" cy="457200"/>
          </a:xfrm>
          <a:prstGeom prst="rect">
            <a:avLst/>
          </a:prstGeom>
          <a:noFill/>
          <a:ln/>
        </p:spPr>
        <p:txBody>
          <a:bodyPr wrap="square" lIns="0" tIns="0" rIns="0" bIns="0" rtlCol="0" anchor="ctr"/>
          <a:lstStyle/>
          <a:p>
            <a:pPr algn="ctr" indent="0" marL="0">
              <a:buNone/>
            </a:pPr>
            <a:r>
              <a:rPr lang="en-US" sz="2400" b="1" dirty="0">
                <a:solidFill>
                  <a:srgbClr val="8B0000"/>
                </a:solidFill>
                <a:latin typeface="Calibri" pitchFamily="34" charset="0"/>
                <a:ea typeface="Calibri" pitchFamily="34" charset="-122"/>
                <a:cs typeface="Calibri" pitchFamily="34" charset="-120"/>
              </a:rPr>
              <a:t>23.59億円</a:t>
            </a:r>
            <a:endParaRPr lang="en-US" sz="2400" dirty="0"/>
          </a:p>
        </p:txBody>
      </p:sp>
      <p:sp>
        <p:nvSpPr>
          <p:cNvPr id="17" name="Text 15"/>
          <p:cNvSpPr/>
          <p:nvPr/>
        </p:nvSpPr>
        <p:spPr>
          <a:xfrm>
            <a:off x="4663440" y="2240280"/>
            <a:ext cx="1874520" cy="320040"/>
          </a:xfrm>
          <a:prstGeom prst="rect">
            <a:avLst/>
          </a:prstGeom>
          <a:noFill/>
          <a:ln/>
        </p:spPr>
        <p:txBody>
          <a:bodyPr wrap="square" lIns="0" tIns="0" rIns="0" bIns="0" rtlCol="0" anchor="ctr"/>
          <a:lstStyle/>
          <a:p>
            <a:pPr algn="ctr" indent="0" marL="0">
              <a:buNone/>
            </a:pPr>
            <a:r>
              <a:rPr lang="en-US" sz="1200" b="1" dirty="0">
                <a:solidFill>
                  <a:srgbClr val="2D2D2D"/>
                </a:solidFill>
                <a:latin typeface="Calibri" pitchFamily="34" charset="0"/>
                <a:ea typeface="Calibri" pitchFamily="34" charset="-122"/>
                <a:cs typeface="Calibri" pitchFamily="34" charset="-120"/>
              </a:rPr>
              <a:t>競合純利益実績</a:t>
            </a:r>
            <a:endParaRPr lang="en-US" sz="1200" dirty="0"/>
          </a:p>
        </p:txBody>
      </p:sp>
      <p:sp>
        <p:nvSpPr>
          <p:cNvPr id="18" name="Text 16"/>
          <p:cNvSpPr/>
          <p:nvPr/>
        </p:nvSpPr>
        <p:spPr>
          <a:xfrm>
            <a:off x="4663440" y="2514600"/>
            <a:ext cx="1874520" cy="274320"/>
          </a:xfrm>
          <a:prstGeom prst="rect">
            <a:avLst/>
          </a:prstGeom>
          <a:noFill/>
          <a:ln/>
        </p:spPr>
        <p:txBody>
          <a:bodyPr wrap="square" lIns="0" tIns="0" rIns="0" bIns="0" rtlCol="0" anchor="ctr"/>
          <a:lstStyle/>
          <a:p>
            <a:pPr algn="ctr" indent="0" marL="0">
              <a:buNone/>
            </a:pPr>
            <a:r>
              <a:rPr lang="en-US" sz="1000" dirty="0">
                <a:solidFill>
                  <a:srgbClr val="999999"/>
                </a:solidFill>
                <a:latin typeface="Calibri" pitchFamily="34" charset="0"/>
                <a:ea typeface="Calibri" pitchFamily="34" charset="-122"/>
                <a:cs typeface="Calibri" pitchFamily="34" charset="-120"/>
              </a:rPr>
              <a:t>日本トレカセンター</a:t>
            </a:r>
            <a:endParaRPr lang="en-US" sz="1000" dirty="0"/>
          </a:p>
        </p:txBody>
      </p:sp>
      <p:sp>
        <p:nvSpPr>
          <p:cNvPr id="19" name="Shape 17"/>
          <p:cNvSpPr/>
          <p:nvPr/>
        </p:nvSpPr>
        <p:spPr>
          <a:xfrm>
            <a:off x="6720840" y="1005840"/>
            <a:ext cx="1874520" cy="2011680"/>
          </a:xfrm>
          <a:prstGeom prst="roundRect">
            <a:avLst>
              <a:gd name="adj" fmla="val 3902"/>
            </a:avLst>
          </a:prstGeom>
          <a:solidFill>
            <a:srgbClr val="FDF5E6"/>
          </a:solidFill>
          <a:ln/>
          <a:effectLst>
            <a:outerShdw sx="100000" sy="100000" kx="0" ky="0" algn="bl" rotWithShape="0" blurRad="50800" dist="25400" dir="18900000">
              <a:srgbClr val="000000">
                <a:alpha val="12000"/>
              </a:srgbClr>
            </a:outerShdw>
          </a:effectLst>
        </p:spPr>
      </p:sp>
      <p:sp>
        <p:nvSpPr>
          <p:cNvPr id="20" name="Shape 18"/>
          <p:cNvSpPr/>
          <p:nvPr/>
        </p:nvSpPr>
        <p:spPr>
          <a:xfrm>
            <a:off x="7456932" y="1188720"/>
            <a:ext cx="402336" cy="402336"/>
          </a:xfrm>
          <a:prstGeom prst="ellipse">
            <a:avLst/>
          </a:prstGeom>
          <a:solidFill>
            <a:srgbClr val="C41E3A"/>
          </a:solidFill>
          <a:ln/>
        </p:spPr>
      </p:sp>
      <p:sp>
        <p:nvSpPr>
          <p:cNvPr id="21" name="Text 19"/>
          <p:cNvSpPr/>
          <p:nvPr/>
        </p:nvSpPr>
        <p:spPr>
          <a:xfrm>
            <a:off x="6720840" y="1737360"/>
            <a:ext cx="1874520" cy="457200"/>
          </a:xfrm>
          <a:prstGeom prst="rect">
            <a:avLst/>
          </a:prstGeom>
          <a:noFill/>
          <a:ln/>
        </p:spPr>
        <p:txBody>
          <a:bodyPr wrap="square" lIns="0" tIns="0" rIns="0" bIns="0" rtlCol="0" anchor="ctr"/>
          <a:lstStyle/>
          <a:p>
            <a:pPr algn="ctr" indent="0" marL="0">
              <a:buNone/>
            </a:pPr>
            <a:r>
              <a:rPr lang="en-US" sz="2400" b="1" dirty="0">
                <a:solidFill>
                  <a:srgbClr val="8B0000"/>
                </a:solidFill>
                <a:latin typeface="Calibri" pitchFamily="34" charset="0"/>
                <a:ea typeface="Calibri" pitchFamily="34" charset="-122"/>
                <a:cs typeface="Calibri" pitchFamily="34" charset="-120"/>
              </a:rPr>
              <a:t>MVP完成</a:t>
            </a:r>
            <a:endParaRPr lang="en-US" sz="2400" dirty="0"/>
          </a:p>
        </p:txBody>
      </p:sp>
      <p:sp>
        <p:nvSpPr>
          <p:cNvPr id="22" name="Text 20"/>
          <p:cNvSpPr/>
          <p:nvPr/>
        </p:nvSpPr>
        <p:spPr>
          <a:xfrm>
            <a:off x="6720840" y="2240280"/>
            <a:ext cx="1874520" cy="320040"/>
          </a:xfrm>
          <a:prstGeom prst="rect">
            <a:avLst/>
          </a:prstGeom>
          <a:noFill/>
          <a:ln/>
        </p:spPr>
        <p:txBody>
          <a:bodyPr wrap="square" lIns="0" tIns="0" rIns="0" bIns="0" rtlCol="0" anchor="ctr"/>
          <a:lstStyle/>
          <a:p>
            <a:pPr algn="ctr" indent="0" marL="0">
              <a:buNone/>
            </a:pPr>
            <a:r>
              <a:rPr lang="en-US" sz="1200" b="1" dirty="0">
                <a:solidFill>
                  <a:srgbClr val="2D2D2D"/>
                </a:solidFill>
                <a:latin typeface="Calibri" pitchFamily="34" charset="0"/>
                <a:ea typeface="Calibri" pitchFamily="34" charset="-122"/>
                <a:cs typeface="Calibri" pitchFamily="34" charset="-120"/>
              </a:rPr>
              <a:t>Phase 1 実装済み</a:t>
            </a:r>
            <a:endParaRPr lang="en-US" sz="1200" dirty="0"/>
          </a:p>
        </p:txBody>
      </p:sp>
      <p:sp>
        <p:nvSpPr>
          <p:cNvPr id="23" name="Text 21"/>
          <p:cNvSpPr/>
          <p:nvPr/>
        </p:nvSpPr>
        <p:spPr>
          <a:xfrm>
            <a:off x="6720840" y="2514600"/>
            <a:ext cx="1874520" cy="274320"/>
          </a:xfrm>
          <a:prstGeom prst="rect">
            <a:avLst/>
          </a:prstGeom>
          <a:noFill/>
          <a:ln/>
        </p:spPr>
        <p:txBody>
          <a:bodyPr wrap="square" lIns="0" tIns="0" rIns="0" bIns="0" rtlCol="0" anchor="ctr"/>
          <a:lstStyle/>
          <a:p>
            <a:pPr algn="ctr" indent="0" marL="0">
              <a:buNone/>
            </a:pPr>
            <a:r>
              <a:rPr lang="en-US" sz="1000" dirty="0">
                <a:solidFill>
                  <a:srgbClr val="999999"/>
                </a:solidFill>
                <a:latin typeface="Calibri" pitchFamily="34" charset="0"/>
                <a:ea typeface="Calibri" pitchFamily="34" charset="-122"/>
                <a:cs typeface="Calibri" pitchFamily="34" charset="-120"/>
              </a:rPr>
              <a:t>8機能リリース準備完了</a:t>
            </a:r>
            <a:endParaRPr lang="en-US" sz="1000" dirty="0"/>
          </a:p>
        </p:txBody>
      </p:sp>
      <p:sp>
        <p:nvSpPr>
          <p:cNvPr id="24" name="Text 22"/>
          <p:cNvSpPr/>
          <p:nvPr/>
        </p:nvSpPr>
        <p:spPr>
          <a:xfrm>
            <a:off x="731520" y="3383280"/>
            <a:ext cx="7680960" cy="457200"/>
          </a:xfrm>
          <a:prstGeom prst="rect">
            <a:avLst/>
          </a:prstGeom>
          <a:noFill/>
          <a:ln/>
        </p:spPr>
        <p:txBody>
          <a:bodyPr wrap="square" lIns="0" tIns="0" rIns="0" bIns="0" rtlCol="0" anchor="ctr"/>
          <a:lstStyle/>
          <a:p>
            <a:pPr algn="ctr" indent="0" marL="0">
              <a:buNone/>
            </a:pPr>
            <a:r>
              <a:rPr lang="en-US" sz="1300" dirty="0">
                <a:solidFill>
                  <a:srgbClr val="999999"/>
                </a:solidFill>
                <a:latin typeface="Calibri" pitchFamily="34" charset="0"/>
                <a:ea typeface="Calibri" pitchFamily="34" charset="-122"/>
                <a:cs typeface="Calibri" pitchFamily="34" charset="-120"/>
              </a:rPr>
              <a:t>在庫消化型抽選 × 冪等Stripe決済 × バーチャル在庫 × 演出投資で差別化</a:t>
            </a:r>
            <a:endParaRPr lang="en-US" sz="1300" dirty="0"/>
          </a:p>
        </p:txBody>
      </p:sp>
      <p:sp>
        <p:nvSpPr>
          <p:cNvPr id="25" name="Text 23"/>
          <p:cNvSpPr/>
          <p:nvPr/>
        </p:nvSpPr>
        <p:spPr>
          <a:xfrm>
            <a:off x="914400" y="3840480"/>
            <a:ext cx="7315200" cy="457200"/>
          </a:xfrm>
          <a:prstGeom prst="rect">
            <a:avLst/>
          </a:prstGeom>
          <a:noFill/>
          <a:ln/>
        </p:spPr>
        <p:txBody>
          <a:bodyPr wrap="square" lIns="0" tIns="0" rIns="0" bIns="0" rtlCol="0" anchor="ctr"/>
          <a:lstStyle/>
          <a:p>
            <a:pPr algn="ctr" indent="0" marL="0">
              <a:buNone/>
            </a:pPr>
            <a:r>
              <a:rPr lang="en-US" sz="1100" dirty="0">
                <a:solidFill>
                  <a:srgbClr val="999999"/>
                </a:solidFill>
                <a:latin typeface="Calibri" pitchFamily="34" charset="0"/>
                <a:ea typeface="Calibri" pitchFamily="34" charset="-122"/>
                <a:cs typeface="Calibri" pitchFamily="34" charset="-120"/>
              </a:rPr>
              <a:t>Next.js + Supabase で構築。暗号学的に安全な抽選と公平な体験を提供するオンラインオリパプラットフォーム。</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algn="l" indent="0" marL="0">
              <a:buNone/>
            </a:pPr>
            <a:r>
              <a:rPr lang="en-US" sz="3200" b="1" dirty="0">
                <a:solidFill>
                  <a:srgbClr val="8B0000"/>
                </a:solidFill>
                <a:latin typeface="Calibri" pitchFamily="34" charset="0"/>
                <a:ea typeface="Calibri" pitchFamily="34" charset="-122"/>
                <a:cs typeface="Calibri" pitchFamily="34" charset="-120"/>
              </a:rPr>
              <a:t>サービス概要</a:t>
            </a:r>
            <a:endParaRPr lang="en-US" sz="3200" dirty="0"/>
          </a:p>
        </p:txBody>
      </p:sp>
      <p:sp>
        <p:nvSpPr>
          <p:cNvPr id="3" name="Text 1"/>
          <p:cNvSpPr/>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3</a:t>
            </a:r>
            <a:endParaRPr lang="en-US" sz="900" dirty="0"/>
          </a:p>
        </p:txBody>
      </p:sp>
      <p:sp>
        <p:nvSpPr>
          <p:cNvPr id="4" name="Shape 2"/>
          <p:cNvSpPr/>
          <p:nvPr/>
        </p:nvSpPr>
        <p:spPr>
          <a:xfrm>
            <a:off x="548640" y="1005840"/>
            <a:ext cx="3840480" cy="1828800"/>
          </a:xfrm>
          <a:prstGeom prst="roundRect">
            <a:avLst>
              <a:gd name="adj" fmla="val 4000"/>
            </a:avLst>
          </a:prstGeom>
          <a:solidFill>
            <a:srgbClr val="FDF5E6"/>
          </a:solidFill>
          <a:ln/>
          <a:effectLst>
            <a:outerShdw sx="100000" sy="100000" kx="0" ky="0" algn="bl" rotWithShape="0" blurRad="50800" dist="25400" dir="18900000">
              <a:srgbClr val="000000">
                <a:alpha val="12000"/>
              </a:srgbClr>
            </a:outerShdw>
          </a:effectLst>
        </p:spPr>
      </p:sp>
      <p:sp>
        <p:nvSpPr>
          <p:cNvPr id="5" name="Text 3"/>
          <p:cNvSpPr/>
          <p:nvPr/>
        </p:nvSpPr>
        <p:spPr>
          <a:xfrm>
            <a:off x="731520" y="1097280"/>
            <a:ext cx="3474720" cy="320040"/>
          </a:xfrm>
          <a:prstGeom prst="rect">
            <a:avLst/>
          </a:prstGeom>
          <a:noFill/>
          <a:ln/>
        </p:spPr>
        <p:txBody>
          <a:bodyPr wrap="square" lIns="0" tIns="0" rIns="0" bIns="0" rtlCol="0" anchor="ctr"/>
          <a:lstStyle/>
          <a:p>
            <a:pPr algn="l" indent="0" marL="0">
              <a:buNone/>
            </a:pPr>
            <a:r>
              <a:rPr lang="en-US" sz="1600" b="1" dirty="0">
                <a:solidFill>
                  <a:srgbClr val="8B0000"/>
                </a:solidFill>
                <a:latin typeface="Calibri" pitchFamily="34" charset="0"/>
                <a:ea typeface="Calibri" pitchFamily="34" charset="-122"/>
                <a:cs typeface="Calibri" pitchFamily="34" charset="-120"/>
              </a:rPr>
              <a:t>オンラインオリパとは</a:t>
            </a:r>
            <a:endParaRPr lang="en-US" sz="1600" dirty="0"/>
          </a:p>
        </p:txBody>
      </p:sp>
      <p:sp>
        <p:nvSpPr>
          <p:cNvPr id="6" name="Text 4"/>
          <p:cNvSpPr/>
          <p:nvPr/>
        </p:nvSpPr>
        <p:spPr>
          <a:xfrm>
            <a:off x="731520" y="1463040"/>
            <a:ext cx="3474720" cy="1188720"/>
          </a:xfrm>
          <a:prstGeom prst="rect">
            <a:avLst/>
          </a:prstGeom>
          <a:noFill/>
          <a:ln/>
        </p:spPr>
        <p:txBody>
          <a:bodyPr wrap="square" lIns="0" tIns="0" rIns="0" bIns="0" rtlCol="0" anchor="ctr"/>
          <a:lstStyle/>
          <a:p>
            <a:pPr algn="l" indent="0" marL="0">
              <a:lnSpc>
                <a:spcPct val="140000"/>
              </a:lnSpc>
              <a:buNone/>
            </a:pPr>
            <a:r>
              <a:rPr lang="en-US" sz="1100" dirty="0">
                <a:solidFill>
                  <a:srgbClr val="2D2D2D"/>
                </a:solidFill>
                <a:latin typeface="Calibri" pitchFamily="34" charset="0"/>
                <a:ea typeface="Calibri" pitchFamily="34" charset="-122"/>
                <a:cs typeface="Calibri" pitchFamily="34" charset="-120"/>
              </a:rPr>
              <a:t>カードショップが独自に封入内容を決めて販売するトレーディングカードのくじ引き商品「オリパ」をオンラインで完全再現。ポイント購入 → オリパ選択 → 抽選 → 発送 or ポイント変換 の体験を提供。</a:t>
            </a:r>
            <a:endParaRPr lang="en-US" sz="1100" dirty="0"/>
          </a:p>
        </p:txBody>
      </p:sp>
      <p:sp>
        <p:nvSpPr>
          <p:cNvPr id="7" name="Shape 5"/>
          <p:cNvSpPr/>
          <p:nvPr/>
        </p:nvSpPr>
        <p:spPr>
          <a:xfrm>
            <a:off x="4754880" y="1005840"/>
            <a:ext cx="3840480" cy="1828800"/>
          </a:xfrm>
          <a:prstGeom prst="roundRect">
            <a:avLst>
              <a:gd name="adj" fmla="val 4000"/>
            </a:avLst>
          </a:prstGeom>
          <a:solidFill>
            <a:srgbClr val="FDF5E6"/>
          </a:solidFill>
          <a:ln/>
          <a:effectLst>
            <a:outerShdw sx="100000" sy="100000" kx="0" ky="0" algn="bl" rotWithShape="0" blurRad="50800" dist="25400" dir="18900000">
              <a:srgbClr val="000000">
                <a:alpha val="12000"/>
              </a:srgbClr>
            </a:outerShdw>
          </a:effectLst>
        </p:spPr>
      </p:sp>
      <p:sp>
        <p:nvSpPr>
          <p:cNvPr id="8" name="Text 6"/>
          <p:cNvSpPr/>
          <p:nvPr/>
        </p:nvSpPr>
        <p:spPr>
          <a:xfrm>
            <a:off x="4937760" y="1097280"/>
            <a:ext cx="3474720" cy="320040"/>
          </a:xfrm>
          <a:prstGeom prst="rect">
            <a:avLst/>
          </a:prstGeom>
          <a:noFill/>
          <a:ln/>
        </p:spPr>
        <p:txBody>
          <a:bodyPr wrap="square" lIns="0" tIns="0" rIns="0" bIns="0" rtlCol="0" anchor="ctr"/>
          <a:lstStyle/>
          <a:p>
            <a:pPr algn="l" indent="0" marL="0">
              <a:buNone/>
            </a:pPr>
            <a:r>
              <a:rPr lang="en-US" sz="1600" b="1" dirty="0">
                <a:solidFill>
                  <a:srgbClr val="8B0000"/>
                </a:solidFill>
                <a:latin typeface="Calibri" pitchFamily="34" charset="0"/>
                <a:ea typeface="Calibri" pitchFamily="34" charset="-122"/>
                <a:cs typeface="Calibri" pitchFamily="34" charset="-120"/>
              </a:rPr>
              <a:t>主な特徴</a:t>
            </a:r>
            <a:endParaRPr lang="en-US" sz="1600" dirty="0"/>
          </a:p>
        </p:txBody>
      </p:sp>
      <p:sp>
        <p:nvSpPr>
          <p:cNvPr id="9" name="Text 7"/>
          <p:cNvSpPr/>
          <p:nvPr/>
        </p:nvSpPr>
        <p:spPr>
          <a:xfrm>
            <a:off x="4937760" y="1463040"/>
            <a:ext cx="3474720" cy="1188720"/>
          </a:xfrm>
          <a:prstGeom prst="rect">
            <a:avLst/>
          </a:prstGeom>
          <a:noFill/>
          <a:ln/>
        </p:spPr>
        <p:txBody>
          <a:bodyPr wrap="square" lIns="0" tIns="0" rIns="0" bIns="0" rtlCol="0" anchor="ctr"/>
          <a:lstStyle/>
          <a:p>
            <a:pPr algn="l" marL="342900" indent="-342900">
              <a:spcAft>
                <a:spcPts val="600"/>
              </a:spcAft>
              <a:buSzPct val="100000"/>
              <a:buChar char="•"/>
            </a:pPr>
            <a:r>
              <a:rPr lang="en-US" sz="1100" dirty="0">
                <a:solidFill>
                  <a:srgbClr val="2D2D2D"/>
                </a:solidFill>
                <a:latin typeface="Calibri" pitchFamily="34" charset="0"/>
                <a:ea typeface="Calibri" pitchFamily="34" charset="-122"/>
                <a:cs typeface="Calibri" pitchFamily="34" charset="-120"/>
              </a:rPr>
              <a:t>1pt = 1円の固定レート</a:t>
            </a:r>
            <a:endParaRPr lang="en-US" sz="1100" dirty="0"/>
          </a:p>
          <a:p>
            <a:pPr algn="l" marL="342900" indent="-342900">
              <a:spcAft>
                <a:spcPts val="600"/>
              </a:spcAft>
              <a:buSzPct val="100000"/>
              <a:buChar char="•"/>
            </a:pPr>
            <a:r>
              <a:rPr lang="en-US" sz="1100" dirty="0">
                <a:solidFill>
                  <a:srgbClr val="2D2D2D"/>
                </a:solidFill>
                <a:latin typeface="Calibri" pitchFamily="34" charset="0"/>
                <a:ea typeface="Calibri" pitchFamily="34" charset="-122"/>
                <a:cs typeface="Calibri" pitchFamily="34" charset="-120"/>
              </a:rPr>
              <a:t>1回 / 5回 / 10回引き対応</a:t>
            </a:r>
            <a:endParaRPr lang="en-US" sz="1100" dirty="0"/>
          </a:p>
          <a:p>
            <a:pPr algn="l" marL="342900" indent="-342900">
              <a:spcAft>
                <a:spcPts val="600"/>
              </a:spcAft>
              <a:buSzPct val="100000"/>
              <a:buChar char="•"/>
            </a:pPr>
            <a:r>
              <a:rPr lang="en-US" sz="1100" dirty="0">
                <a:solidFill>
                  <a:srgbClr val="2D2D2D"/>
                </a:solidFill>
                <a:latin typeface="Calibri" pitchFamily="34" charset="0"/>
                <a:ea typeface="Calibri" pitchFamily="34" charset="-122"/>
                <a:cs typeface="Calibri" pitchFamily="34" charset="-120"/>
              </a:rPr>
              <a:t>25種類以上のガチャ演出</a:t>
            </a:r>
            <a:endParaRPr lang="en-US" sz="1100" dirty="0"/>
          </a:p>
          <a:p>
            <a:pPr algn="l" marL="342900" indent="-342900">
              <a:spcAft>
                <a:spcPts val="600"/>
              </a:spcAft>
              <a:buSzPct val="100000"/>
              <a:buChar char="•"/>
            </a:pPr>
            <a:r>
              <a:rPr lang="en-US" sz="1100" dirty="0">
                <a:solidFill>
                  <a:srgbClr val="2D2D2D"/>
                </a:solidFill>
                <a:latin typeface="Calibri" pitchFamily="34" charset="0"/>
                <a:ea typeface="Calibri" pitchFamily="34" charset="-122"/>
                <a:cs typeface="Calibri" pitchFamily="34" charset="-120"/>
              </a:rPr>
              <a:t>ポイント変換 or 物理発送を選択</a:t>
            </a:r>
            <a:endParaRPr lang="en-US" sz="1100" dirty="0"/>
          </a:p>
        </p:txBody>
      </p:sp>
      <p:sp>
        <p:nvSpPr>
          <p:cNvPr id="10" name="Text 8"/>
          <p:cNvSpPr/>
          <p:nvPr/>
        </p:nvSpPr>
        <p:spPr>
          <a:xfrm>
            <a:off x="548640" y="3017520"/>
            <a:ext cx="2743200" cy="320040"/>
          </a:xfrm>
          <a:prstGeom prst="rect">
            <a:avLst/>
          </a:prstGeom>
          <a:noFill/>
          <a:ln/>
        </p:spPr>
        <p:txBody>
          <a:bodyPr wrap="square" lIns="0" tIns="0" rIns="0" bIns="0" rtlCol="0" anchor="ctr"/>
          <a:lstStyle/>
          <a:p>
            <a:pPr algn="l" indent="0" marL="0">
              <a:buNone/>
            </a:pPr>
            <a:r>
              <a:rPr lang="en-US" sz="1400" b="1" dirty="0">
                <a:solidFill>
                  <a:srgbClr val="8B0000"/>
                </a:solidFill>
                <a:latin typeface="Calibri" pitchFamily="34" charset="0"/>
                <a:ea typeface="Calibri" pitchFamily="34" charset="-122"/>
                <a:cs typeface="Calibri" pitchFamily="34" charset="-120"/>
              </a:rPr>
              <a:t>サービスフロー</a:t>
            </a:r>
            <a:endParaRPr lang="en-US" sz="1400" dirty="0"/>
          </a:p>
        </p:txBody>
      </p:sp>
      <p:sp>
        <p:nvSpPr>
          <p:cNvPr id="11" name="Shape 9"/>
          <p:cNvSpPr/>
          <p:nvPr/>
        </p:nvSpPr>
        <p:spPr>
          <a:xfrm>
            <a:off x="1028700" y="3474720"/>
            <a:ext cx="365760" cy="365760"/>
          </a:xfrm>
          <a:prstGeom prst="ellipse">
            <a:avLst/>
          </a:prstGeom>
          <a:solidFill>
            <a:srgbClr val="C41E3A"/>
          </a:solidFill>
          <a:ln/>
        </p:spPr>
      </p:sp>
      <p:sp>
        <p:nvSpPr>
          <p:cNvPr id="12" name="Text 10"/>
          <p:cNvSpPr/>
          <p:nvPr/>
        </p:nvSpPr>
        <p:spPr>
          <a:xfrm>
            <a:off x="1028700" y="347472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3" name="Text 11"/>
          <p:cNvSpPr/>
          <p:nvPr/>
        </p:nvSpPr>
        <p:spPr>
          <a:xfrm>
            <a:off x="640080" y="3931920"/>
            <a:ext cx="1143000" cy="274320"/>
          </a:xfrm>
          <a:prstGeom prst="rect">
            <a:avLst/>
          </a:prstGeom>
          <a:noFill/>
          <a:ln/>
        </p:spPr>
        <p:txBody>
          <a:bodyPr wrap="square" lIns="0" tIns="0" rIns="0" bIns="0" rtlCol="0" anchor="ctr"/>
          <a:lstStyle/>
          <a:p>
            <a:pPr algn="ctr" indent="0" marL="0">
              <a:buNone/>
            </a:pPr>
            <a:r>
              <a:rPr lang="en-US" sz="1000" dirty="0">
                <a:solidFill>
                  <a:srgbClr val="2D2D2D"/>
                </a:solidFill>
                <a:latin typeface="Calibri" pitchFamily="34" charset="0"/>
                <a:ea typeface="Calibri" pitchFamily="34" charset="-122"/>
                <a:cs typeface="Calibri" pitchFamily="34" charset="-120"/>
              </a:rPr>
              <a:t>会員登録</a:t>
            </a:r>
            <a:endParaRPr lang="en-US" sz="1000" dirty="0"/>
          </a:p>
        </p:txBody>
      </p:sp>
      <p:sp>
        <p:nvSpPr>
          <p:cNvPr id="14" name="Text 12"/>
          <p:cNvSpPr/>
          <p:nvPr/>
        </p:nvSpPr>
        <p:spPr>
          <a:xfrm>
            <a:off x="1783080" y="3474720"/>
            <a:ext cx="201168" cy="365760"/>
          </a:xfrm>
          <a:prstGeom prst="rect">
            <a:avLst/>
          </a:prstGeom>
          <a:noFill/>
          <a:ln/>
        </p:spPr>
        <p:txBody>
          <a:bodyPr wrap="square" lIns="0" tIns="0" rIns="0" bIns="0" rtlCol="0" anchor="ctr"/>
          <a:lstStyle/>
          <a:p>
            <a:pPr algn="ctr" indent="0" marL="0">
              <a:buNone/>
            </a:pPr>
            <a:r>
              <a:rPr lang="en-US" sz="1400" dirty="0">
                <a:solidFill>
                  <a:srgbClr val="D4A017"/>
                </a:solidFill>
                <a:latin typeface="Calibri" pitchFamily="34" charset="0"/>
                <a:ea typeface="Calibri" pitchFamily="34" charset="-122"/>
                <a:cs typeface="Calibri" pitchFamily="34" charset="-120"/>
              </a:rPr>
              <a:t>→</a:t>
            </a:r>
            <a:endParaRPr lang="en-US" sz="1400" dirty="0"/>
          </a:p>
        </p:txBody>
      </p:sp>
      <p:sp>
        <p:nvSpPr>
          <p:cNvPr id="15" name="Shape 13"/>
          <p:cNvSpPr/>
          <p:nvPr/>
        </p:nvSpPr>
        <p:spPr>
          <a:xfrm>
            <a:off x="2372868" y="3474720"/>
            <a:ext cx="365760" cy="365760"/>
          </a:xfrm>
          <a:prstGeom prst="ellipse">
            <a:avLst/>
          </a:prstGeom>
          <a:solidFill>
            <a:srgbClr val="C41E3A"/>
          </a:solidFill>
          <a:ln/>
        </p:spPr>
      </p:sp>
      <p:sp>
        <p:nvSpPr>
          <p:cNvPr id="16" name="Text 14"/>
          <p:cNvSpPr/>
          <p:nvPr/>
        </p:nvSpPr>
        <p:spPr>
          <a:xfrm>
            <a:off x="2372868" y="347472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7" name="Text 15"/>
          <p:cNvSpPr/>
          <p:nvPr/>
        </p:nvSpPr>
        <p:spPr>
          <a:xfrm>
            <a:off x="1984248" y="3931920"/>
            <a:ext cx="1143000" cy="274320"/>
          </a:xfrm>
          <a:prstGeom prst="rect">
            <a:avLst/>
          </a:prstGeom>
          <a:noFill/>
          <a:ln/>
        </p:spPr>
        <p:txBody>
          <a:bodyPr wrap="square" lIns="0" tIns="0" rIns="0" bIns="0" rtlCol="0" anchor="ctr"/>
          <a:lstStyle/>
          <a:p>
            <a:pPr algn="ctr" indent="0" marL="0">
              <a:buNone/>
            </a:pPr>
            <a:r>
              <a:rPr lang="en-US" sz="1000" dirty="0">
                <a:solidFill>
                  <a:srgbClr val="2D2D2D"/>
                </a:solidFill>
                <a:latin typeface="Calibri" pitchFamily="34" charset="0"/>
                <a:ea typeface="Calibri" pitchFamily="34" charset="-122"/>
                <a:cs typeface="Calibri" pitchFamily="34" charset="-120"/>
              </a:rPr>
              <a:t>ポイント購入</a:t>
            </a:r>
            <a:endParaRPr lang="en-US" sz="1000" dirty="0"/>
          </a:p>
        </p:txBody>
      </p:sp>
      <p:sp>
        <p:nvSpPr>
          <p:cNvPr id="18" name="Text 16"/>
          <p:cNvSpPr/>
          <p:nvPr/>
        </p:nvSpPr>
        <p:spPr>
          <a:xfrm>
            <a:off x="3127248" y="3474720"/>
            <a:ext cx="201168" cy="365760"/>
          </a:xfrm>
          <a:prstGeom prst="rect">
            <a:avLst/>
          </a:prstGeom>
          <a:noFill/>
          <a:ln/>
        </p:spPr>
        <p:txBody>
          <a:bodyPr wrap="square" lIns="0" tIns="0" rIns="0" bIns="0" rtlCol="0" anchor="ctr"/>
          <a:lstStyle/>
          <a:p>
            <a:pPr algn="ctr" indent="0" marL="0">
              <a:buNone/>
            </a:pPr>
            <a:r>
              <a:rPr lang="en-US" sz="1400" dirty="0">
                <a:solidFill>
                  <a:srgbClr val="D4A017"/>
                </a:solidFill>
                <a:latin typeface="Calibri" pitchFamily="34" charset="0"/>
                <a:ea typeface="Calibri" pitchFamily="34" charset="-122"/>
                <a:cs typeface="Calibri" pitchFamily="34" charset="-120"/>
              </a:rPr>
              <a:t>→</a:t>
            </a:r>
            <a:endParaRPr lang="en-US" sz="1400" dirty="0"/>
          </a:p>
        </p:txBody>
      </p:sp>
      <p:sp>
        <p:nvSpPr>
          <p:cNvPr id="19" name="Shape 17"/>
          <p:cNvSpPr/>
          <p:nvPr/>
        </p:nvSpPr>
        <p:spPr>
          <a:xfrm>
            <a:off x="3717036" y="3474720"/>
            <a:ext cx="365760" cy="365760"/>
          </a:xfrm>
          <a:prstGeom prst="ellipse">
            <a:avLst/>
          </a:prstGeom>
          <a:solidFill>
            <a:srgbClr val="C41E3A"/>
          </a:solidFill>
          <a:ln/>
        </p:spPr>
      </p:sp>
      <p:sp>
        <p:nvSpPr>
          <p:cNvPr id="20" name="Text 18"/>
          <p:cNvSpPr/>
          <p:nvPr/>
        </p:nvSpPr>
        <p:spPr>
          <a:xfrm>
            <a:off x="3717036" y="347472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9"/>
          <p:cNvSpPr/>
          <p:nvPr/>
        </p:nvSpPr>
        <p:spPr>
          <a:xfrm>
            <a:off x="3328416" y="3931920"/>
            <a:ext cx="1143000" cy="274320"/>
          </a:xfrm>
          <a:prstGeom prst="rect">
            <a:avLst/>
          </a:prstGeom>
          <a:noFill/>
          <a:ln/>
        </p:spPr>
        <p:txBody>
          <a:bodyPr wrap="square" lIns="0" tIns="0" rIns="0" bIns="0" rtlCol="0" anchor="ctr"/>
          <a:lstStyle/>
          <a:p>
            <a:pPr algn="ctr" indent="0" marL="0">
              <a:buNone/>
            </a:pPr>
            <a:r>
              <a:rPr lang="en-US" sz="1000" dirty="0">
                <a:solidFill>
                  <a:srgbClr val="2D2D2D"/>
                </a:solidFill>
                <a:latin typeface="Calibri" pitchFamily="34" charset="0"/>
                <a:ea typeface="Calibri" pitchFamily="34" charset="-122"/>
                <a:cs typeface="Calibri" pitchFamily="34" charset="-120"/>
              </a:rPr>
              <a:t>オリパ選択</a:t>
            </a:r>
            <a:endParaRPr lang="en-US" sz="1000" dirty="0"/>
          </a:p>
        </p:txBody>
      </p:sp>
      <p:sp>
        <p:nvSpPr>
          <p:cNvPr id="22" name="Text 20"/>
          <p:cNvSpPr/>
          <p:nvPr/>
        </p:nvSpPr>
        <p:spPr>
          <a:xfrm>
            <a:off x="4471416" y="3474720"/>
            <a:ext cx="201168" cy="365760"/>
          </a:xfrm>
          <a:prstGeom prst="rect">
            <a:avLst/>
          </a:prstGeom>
          <a:noFill/>
          <a:ln/>
        </p:spPr>
        <p:txBody>
          <a:bodyPr wrap="square" lIns="0" tIns="0" rIns="0" bIns="0" rtlCol="0" anchor="ctr"/>
          <a:lstStyle/>
          <a:p>
            <a:pPr algn="ctr" indent="0" marL="0">
              <a:buNone/>
            </a:pPr>
            <a:r>
              <a:rPr lang="en-US" sz="1400" dirty="0">
                <a:solidFill>
                  <a:srgbClr val="D4A017"/>
                </a:solidFill>
                <a:latin typeface="Calibri" pitchFamily="34" charset="0"/>
                <a:ea typeface="Calibri" pitchFamily="34" charset="-122"/>
                <a:cs typeface="Calibri" pitchFamily="34" charset="-120"/>
              </a:rPr>
              <a:t>→</a:t>
            </a:r>
            <a:endParaRPr lang="en-US" sz="1400" dirty="0"/>
          </a:p>
        </p:txBody>
      </p:sp>
      <p:sp>
        <p:nvSpPr>
          <p:cNvPr id="23" name="Shape 21"/>
          <p:cNvSpPr/>
          <p:nvPr/>
        </p:nvSpPr>
        <p:spPr>
          <a:xfrm>
            <a:off x="5061204" y="3474720"/>
            <a:ext cx="365760" cy="365760"/>
          </a:xfrm>
          <a:prstGeom prst="ellipse">
            <a:avLst/>
          </a:prstGeom>
          <a:solidFill>
            <a:srgbClr val="C41E3A"/>
          </a:solidFill>
          <a:ln/>
        </p:spPr>
      </p:sp>
      <p:sp>
        <p:nvSpPr>
          <p:cNvPr id="24" name="Text 22"/>
          <p:cNvSpPr/>
          <p:nvPr/>
        </p:nvSpPr>
        <p:spPr>
          <a:xfrm>
            <a:off x="5061204" y="347472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3"/>
          <p:cNvSpPr/>
          <p:nvPr/>
        </p:nvSpPr>
        <p:spPr>
          <a:xfrm>
            <a:off x="4672584" y="3931920"/>
            <a:ext cx="1143000" cy="274320"/>
          </a:xfrm>
          <a:prstGeom prst="rect">
            <a:avLst/>
          </a:prstGeom>
          <a:noFill/>
          <a:ln/>
        </p:spPr>
        <p:txBody>
          <a:bodyPr wrap="square" lIns="0" tIns="0" rIns="0" bIns="0" rtlCol="0" anchor="ctr"/>
          <a:lstStyle/>
          <a:p>
            <a:pPr algn="ctr" indent="0" marL="0">
              <a:buNone/>
            </a:pPr>
            <a:r>
              <a:rPr lang="en-US" sz="1000" dirty="0">
                <a:solidFill>
                  <a:srgbClr val="2D2D2D"/>
                </a:solidFill>
                <a:latin typeface="Calibri" pitchFamily="34" charset="0"/>
                <a:ea typeface="Calibri" pitchFamily="34" charset="-122"/>
                <a:cs typeface="Calibri" pitchFamily="34" charset="-120"/>
              </a:rPr>
              <a:t>抽選実行</a:t>
            </a:r>
            <a:endParaRPr lang="en-US" sz="1000" dirty="0"/>
          </a:p>
        </p:txBody>
      </p:sp>
      <p:sp>
        <p:nvSpPr>
          <p:cNvPr id="26" name="Text 24"/>
          <p:cNvSpPr/>
          <p:nvPr/>
        </p:nvSpPr>
        <p:spPr>
          <a:xfrm>
            <a:off x="5815584" y="3474720"/>
            <a:ext cx="201168" cy="365760"/>
          </a:xfrm>
          <a:prstGeom prst="rect">
            <a:avLst/>
          </a:prstGeom>
          <a:noFill/>
          <a:ln/>
        </p:spPr>
        <p:txBody>
          <a:bodyPr wrap="square" lIns="0" tIns="0" rIns="0" bIns="0" rtlCol="0" anchor="ctr"/>
          <a:lstStyle/>
          <a:p>
            <a:pPr algn="ctr" indent="0" marL="0">
              <a:buNone/>
            </a:pPr>
            <a:r>
              <a:rPr lang="en-US" sz="1400" dirty="0">
                <a:solidFill>
                  <a:srgbClr val="D4A017"/>
                </a:solidFill>
                <a:latin typeface="Calibri" pitchFamily="34" charset="0"/>
                <a:ea typeface="Calibri" pitchFamily="34" charset="-122"/>
                <a:cs typeface="Calibri" pitchFamily="34" charset="-120"/>
              </a:rPr>
              <a:t>→</a:t>
            </a:r>
            <a:endParaRPr lang="en-US" sz="1400" dirty="0"/>
          </a:p>
        </p:txBody>
      </p:sp>
      <p:sp>
        <p:nvSpPr>
          <p:cNvPr id="27" name="Shape 25"/>
          <p:cNvSpPr/>
          <p:nvPr/>
        </p:nvSpPr>
        <p:spPr>
          <a:xfrm>
            <a:off x="6405372" y="3474720"/>
            <a:ext cx="365760" cy="365760"/>
          </a:xfrm>
          <a:prstGeom prst="ellipse">
            <a:avLst/>
          </a:prstGeom>
          <a:solidFill>
            <a:srgbClr val="C41E3A"/>
          </a:solidFill>
          <a:ln/>
        </p:spPr>
      </p:sp>
      <p:sp>
        <p:nvSpPr>
          <p:cNvPr id="28" name="Text 26"/>
          <p:cNvSpPr/>
          <p:nvPr/>
        </p:nvSpPr>
        <p:spPr>
          <a:xfrm>
            <a:off x="6405372" y="347472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9" name="Text 27"/>
          <p:cNvSpPr/>
          <p:nvPr/>
        </p:nvSpPr>
        <p:spPr>
          <a:xfrm>
            <a:off x="6016752" y="3931920"/>
            <a:ext cx="1143000" cy="274320"/>
          </a:xfrm>
          <a:prstGeom prst="rect">
            <a:avLst/>
          </a:prstGeom>
          <a:noFill/>
          <a:ln/>
        </p:spPr>
        <p:txBody>
          <a:bodyPr wrap="square" lIns="0" tIns="0" rIns="0" bIns="0" rtlCol="0" anchor="ctr"/>
          <a:lstStyle/>
          <a:p>
            <a:pPr algn="ctr" indent="0" marL="0">
              <a:buNone/>
            </a:pPr>
            <a:r>
              <a:rPr lang="en-US" sz="1000" dirty="0">
                <a:solidFill>
                  <a:srgbClr val="2D2D2D"/>
                </a:solidFill>
                <a:latin typeface="Calibri" pitchFamily="34" charset="0"/>
                <a:ea typeface="Calibri" pitchFamily="34" charset="-122"/>
                <a:cs typeface="Calibri" pitchFamily="34" charset="-120"/>
              </a:rPr>
              <a:t>演出視聴</a:t>
            </a:r>
            <a:endParaRPr lang="en-US" sz="1000" dirty="0"/>
          </a:p>
        </p:txBody>
      </p:sp>
      <p:sp>
        <p:nvSpPr>
          <p:cNvPr id="30" name="Text 28"/>
          <p:cNvSpPr/>
          <p:nvPr/>
        </p:nvSpPr>
        <p:spPr>
          <a:xfrm>
            <a:off x="7159752" y="3474720"/>
            <a:ext cx="201168" cy="365760"/>
          </a:xfrm>
          <a:prstGeom prst="rect">
            <a:avLst/>
          </a:prstGeom>
          <a:noFill/>
          <a:ln/>
        </p:spPr>
        <p:txBody>
          <a:bodyPr wrap="square" lIns="0" tIns="0" rIns="0" bIns="0" rtlCol="0" anchor="ctr"/>
          <a:lstStyle/>
          <a:p>
            <a:pPr algn="ctr" indent="0" marL="0">
              <a:buNone/>
            </a:pPr>
            <a:r>
              <a:rPr lang="en-US" sz="1400" dirty="0">
                <a:solidFill>
                  <a:srgbClr val="D4A017"/>
                </a:solidFill>
                <a:latin typeface="Calibri" pitchFamily="34" charset="0"/>
                <a:ea typeface="Calibri" pitchFamily="34" charset="-122"/>
                <a:cs typeface="Calibri" pitchFamily="34" charset="-120"/>
              </a:rPr>
              <a:t>→</a:t>
            </a:r>
            <a:endParaRPr lang="en-US" sz="1400" dirty="0"/>
          </a:p>
        </p:txBody>
      </p:sp>
      <p:sp>
        <p:nvSpPr>
          <p:cNvPr id="31" name="Shape 29"/>
          <p:cNvSpPr/>
          <p:nvPr/>
        </p:nvSpPr>
        <p:spPr>
          <a:xfrm>
            <a:off x="7749540" y="3474720"/>
            <a:ext cx="365760" cy="365760"/>
          </a:xfrm>
          <a:prstGeom prst="ellipse">
            <a:avLst/>
          </a:prstGeom>
          <a:solidFill>
            <a:srgbClr val="C41E3A"/>
          </a:solidFill>
          <a:ln/>
        </p:spPr>
      </p:sp>
      <p:sp>
        <p:nvSpPr>
          <p:cNvPr id="32" name="Text 30"/>
          <p:cNvSpPr/>
          <p:nvPr/>
        </p:nvSpPr>
        <p:spPr>
          <a:xfrm>
            <a:off x="7749540" y="347472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3" name="Text 31"/>
          <p:cNvSpPr/>
          <p:nvPr/>
        </p:nvSpPr>
        <p:spPr>
          <a:xfrm>
            <a:off x="7360920" y="3931920"/>
            <a:ext cx="1143000" cy="274320"/>
          </a:xfrm>
          <a:prstGeom prst="rect">
            <a:avLst/>
          </a:prstGeom>
          <a:noFill/>
          <a:ln/>
        </p:spPr>
        <p:txBody>
          <a:bodyPr wrap="square" lIns="0" tIns="0" rIns="0" bIns="0" rtlCol="0" anchor="ctr"/>
          <a:lstStyle/>
          <a:p>
            <a:pPr algn="ctr" indent="0" marL="0">
              <a:buNone/>
            </a:pPr>
            <a:r>
              <a:rPr lang="en-US" sz="1000" dirty="0">
                <a:solidFill>
                  <a:srgbClr val="2D2D2D"/>
                </a:solidFill>
                <a:latin typeface="Calibri" pitchFamily="34" charset="0"/>
                <a:ea typeface="Calibri" pitchFamily="34" charset="-122"/>
                <a:cs typeface="Calibri" pitchFamily="34" charset="-120"/>
              </a:rPr>
              <a:t>発送/変換</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algn="l" indent="0" marL="0">
              <a:buNone/>
            </a:pPr>
            <a:r>
              <a:rPr lang="en-US" sz="3200" b="1" dirty="0">
                <a:solidFill>
                  <a:srgbClr val="8B0000"/>
                </a:solidFill>
                <a:latin typeface="Calibri" pitchFamily="34" charset="0"/>
                <a:ea typeface="Calibri" pitchFamily="34" charset="-122"/>
                <a:cs typeface="Calibri" pitchFamily="34" charset="-120"/>
              </a:rPr>
              <a:t>ポイントプラン</a:t>
            </a:r>
            <a:endParaRPr lang="en-US" sz="3200" dirty="0"/>
          </a:p>
        </p:txBody>
      </p:sp>
      <p:sp>
        <p:nvSpPr>
          <p:cNvPr id="3" name="Text 1"/>
          <p:cNvSpPr/>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4</a:t>
            </a:r>
            <a:endParaRPr lang="en-US" sz="900" dirty="0"/>
          </a:p>
        </p:txBody>
      </p:sp>
      <p:sp>
        <p:nvSpPr>
          <p:cNvPr id="4" name="Shape 2"/>
          <p:cNvSpPr/>
          <p:nvPr/>
        </p:nvSpPr>
        <p:spPr>
          <a:xfrm>
            <a:off x="411480" y="1005840"/>
            <a:ext cx="1554480" cy="2926080"/>
          </a:xfrm>
          <a:prstGeom prst="roundRect">
            <a:avLst>
              <a:gd name="adj" fmla="val 4706"/>
            </a:avLst>
          </a:prstGeom>
          <a:solidFill>
            <a:srgbClr val="FDF5E6"/>
          </a:solidFill>
          <a:ln/>
          <a:effectLst>
            <a:outerShdw sx="100000" sy="100000" kx="0" ky="0" algn="bl" rotWithShape="0" blurRad="50800" dist="25400" dir="18900000">
              <a:srgbClr val="000000">
                <a:alpha val="12000"/>
              </a:srgbClr>
            </a:outerShdw>
          </a:effectLst>
        </p:spPr>
      </p:sp>
      <p:sp>
        <p:nvSpPr>
          <p:cNvPr id="5" name="Text 3"/>
          <p:cNvSpPr/>
          <p:nvPr/>
        </p:nvSpPr>
        <p:spPr>
          <a:xfrm>
            <a:off x="411480" y="1234440"/>
            <a:ext cx="1554480" cy="365760"/>
          </a:xfrm>
          <a:prstGeom prst="rect">
            <a:avLst/>
          </a:prstGeom>
          <a:noFill/>
          <a:ln/>
        </p:spPr>
        <p:txBody>
          <a:bodyPr wrap="square" lIns="0" tIns="0" rIns="0" bIns="0" rtlCol="0" anchor="ctr"/>
          <a:lstStyle/>
          <a:p>
            <a:pPr algn="ctr" indent="0" marL="0">
              <a:buNone/>
            </a:pPr>
            <a:r>
              <a:rPr lang="en-US" sz="2000" b="1" dirty="0">
                <a:solidFill>
                  <a:srgbClr val="2D2D2D"/>
                </a:solidFill>
                <a:latin typeface="Calibri" pitchFamily="34" charset="0"/>
                <a:ea typeface="Calibri" pitchFamily="34" charset="-122"/>
                <a:cs typeface="Calibri" pitchFamily="34" charset="-120"/>
              </a:rPr>
              <a:t>¥1,000</a:t>
            </a:r>
            <a:endParaRPr lang="en-US" sz="2000" dirty="0"/>
          </a:p>
        </p:txBody>
      </p:sp>
      <p:sp>
        <p:nvSpPr>
          <p:cNvPr id="6" name="Text 4"/>
          <p:cNvSpPr/>
          <p:nvPr/>
        </p:nvSpPr>
        <p:spPr>
          <a:xfrm>
            <a:off x="411480" y="1737360"/>
            <a:ext cx="1554480" cy="320040"/>
          </a:xfrm>
          <a:prstGeom prst="rect">
            <a:avLst/>
          </a:prstGeom>
          <a:noFill/>
          <a:ln/>
        </p:spPr>
        <p:txBody>
          <a:bodyPr wrap="square" lIns="0" tIns="0" rIns="0" bIns="0" rtlCol="0" anchor="ctr"/>
          <a:lstStyle/>
          <a:p>
            <a:pPr algn="ctr" indent="0" marL="0">
              <a:buNone/>
            </a:pPr>
            <a:r>
              <a:rPr lang="en-US" sz="1600" b="1" dirty="0">
                <a:solidFill>
                  <a:srgbClr val="8B0000"/>
                </a:solidFill>
                <a:latin typeface="Calibri" pitchFamily="34" charset="0"/>
                <a:ea typeface="Calibri" pitchFamily="34" charset="-122"/>
                <a:cs typeface="Calibri" pitchFamily="34" charset="-120"/>
              </a:rPr>
              <a:t>1,000pt</a:t>
            </a:r>
            <a:endParaRPr lang="en-US" sz="1600" dirty="0"/>
          </a:p>
        </p:txBody>
      </p:sp>
      <p:sp>
        <p:nvSpPr>
          <p:cNvPr id="7" name="Text 5"/>
          <p:cNvSpPr/>
          <p:nvPr/>
        </p:nvSpPr>
        <p:spPr>
          <a:xfrm>
            <a:off x="411480" y="2286000"/>
            <a:ext cx="1554480" cy="548640"/>
          </a:xfrm>
          <a:prstGeom prst="rect">
            <a:avLst/>
          </a:prstGeom>
          <a:noFill/>
          <a:ln/>
        </p:spPr>
        <p:txBody>
          <a:bodyPr wrap="square" lIns="0" tIns="0" rIns="0" bIns="0" rtlCol="0" anchor="ctr"/>
          <a:lstStyle/>
          <a:p>
            <a:pPr algn="ctr" indent="0" marL="0">
              <a:buNone/>
            </a:pPr>
            <a:r>
              <a:rPr lang="en-US" sz="1100" dirty="0">
                <a:solidFill>
                  <a:srgbClr val="2D2D2D"/>
                </a:solidFill>
                <a:latin typeface="Calibri" pitchFamily="34" charset="0"/>
                <a:ea typeface="Calibri" pitchFamily="34" charset="-122"/>
                <a:cs typeface="Calibri" pitchFamily="34" charset="-120"/>
              </a:rPr>
              <a:t>ボーナス</a:t>
            </a:r>
            <a:endParaRPr lang="en-US" sz="1100" dirty="0"/>
          </a:p>
          <a:p>
            <a:pPr algn="ctr" indent="0" marL="0">
              <a:buNone/>
            </a:pPr>
            <a:r>
              <a:rPr lang="en-US" sz="1100" b="1" dirty="0">
                <a:solidFill>
                  <a:srgbClr val="2D2D2D"/>
                </a:solidFill>
                <a:latin typeface="Calibri" pitchFamily="34" charset="0"/>
                <a:ea typeface="Calibri" pitchFamily="34" charset="-122"/>
                <a:cs typeface="Calibri" pitchFamily="34" charset="-120"/>
              </a:rPr>
              <a:t>0pt</a:t>
            </a:r>
            <a:endParaRPr lang="en-US" sz="1100" dirty="0"/>
          </a:p>
        </p:txBody>
      </p:sp>
      <p:sp>
        <p:nvSpPr>
          <p:cNvPr id="8" name="Text 6"/>
          <p:cNvSpPr/>
          <p:nvPr/>
        </p:nvSpPr>
        <p:spPr>
          <a:xfrm>
            <a:off x="411480" y="3017520"/>
            <a:ext cx="1554480" cy="365760"/>
          </a:xfrm>
          <a:prstGeom prst="rect">
            <a:avLst/>
          </a:prstGeom>
          <a:noFill/>
          <a:ln/>
        </p:spPr>
        <p:txBody>
          <a:bodyPr wrap="square" lIns="0" tIns="0" rIns="0" bIns="0" rtlCol="0" anchor="ctr"/>
          <a:lstStyle/>
          <a:p>
            <a:pPr algn="ctr" indent="0" marL="0">
              <a:buNone/>
            </a:pPr>
            <a:r>
              <a:rPr lang="en-US" sz="2200" b="1" dirty="0">
                <a:solidFill>
                  <a:srgbClr val="C41E3A"/>
                </a:solidFill>
                <a:latin typeface="Calibri" pitchFamily="34" charset="0"/>
                <a:ea typeface="Calibri" pitchFamily="34" charset="-122"/>
                <a:cs typeface="Calibri" pitchFamily="34" charset="-120"/>
              </a:rPr>
              <a:t>0%</a:t>
            </a:r>
            <a:endParaRPr lang="en-US" sz="2200" dirty="0"/>
          </a:p>
        </p:txBody>
      </p:sp>
      <p:sp>
        <p:nvSpPr>
          <p:cNvPr id="9" name="Text 7"/>
          <p:cNvSpPr/>
          <p:nvPr/>
        </p:nvSpPr>
        <p:spPr>
          <a:xfrm>
            <a:off x="411480" y="3383280"/>
            <a:ext cx="1554480" cy="274320"/>
          </a:xfrm>
          <a:prstGeom prst="rect">
            <a:avLst/>
          </a:prstGeom>
          <a:noFill/>
          <a:ln/>
        </p:spPr>
        <p:txBody>
          <a:bodyPr wrap="square" lIns="0" tIns="0" rIns="0" bIns="0" rtlCol="0" anchor="ctr"/>
          <a:lstStyle/>
          <a:p>
            <a:pPr algn="ctr" indent="0" marL="0">
              <a:buNone/>
            </a:pPr>
            <a:r>
              <a:rPr lang="en-US" sz="900" dirty="0">
                <a:solidFill>
                  <a:srgbClr val="999999"/>
                </a:solidFill>
                <a:latin typeface="Calibri" pitchFamily="34" charset="0"/>
                <a:ea typeface="Calibri" pitchFamily="34" charset="-122"/>
                <a:cs typeface="Calibri" pitchFamily="34" charset="-120"/>
              </a:rPr>
              <a:t>ボーナス率</a:t>
            </a:r>
            <a:endParaRPr lang="en-US" sz="900" dirty="0"/>
          </a:p>
        </p:txBody>
      </p:sp>
      <p:sp>
        <p:nvSpPr>
          <p:cNvPr id="10" name="Shape 8"/>
          <p:cNvSpPr/>
          <p:nvPr/>
        </p:nvSpPr>
        <p:spPr>
          <a:xfrm>
            <a:off x="2103120" y="1005840"/>
            <a:ext cx="1554480" cy="2926080"/>
          </a:xfrm>
          <a:prstGeom prst="roundRect">
            <a:avLst>
              <a:gd name="adj" fmla="val 4706"/>
            </a:avLst>
          </a:prstGeom>
          <a:solidFill>
            <a:srgbClr val="FDF5E6"/>
          </a:solidFill>
          <a:ln/>
          <a:effectLst>
            <a:outerShdw sx="100000" sy="100000" kx="0" ky="0" algn="bl" rotWithShape="0" blurRad="50800" dist="25400" dir="18900000">
              <a:srgbClr val="000000">
                <a:alpha val="12000"/>
              </a:srgbClr>
            </a:outerShdw>
          </a:effectLst>
        </p:spPr>
      </p:sp>
      <p:sp>
        <p:nvSpPr>
          <p:cNvPr id="11" name="Text 9"/>
          <p:cNvSpPr/>
          <p:nvPr/>
        </p:nvSpPr>
        <p:spPr>
          <a:xfrm>
            <a:off x="2103120" y="1234440"/>
            <a:ext cx="1554480" cy="365760"/>
          </a:xfrm>
          <a:prstGeom prst="rect">
            <a:avLst/>
          </a:prstGeom>
          <a:noFill/>
          <a:ln/>
        </p:spPr>
        <p:txBody>
          <a:bodyPr wrap="square" lIns="0" tIns="0" rIns="0" bIns="0" rtlCol="0" anchor="ctr"/>
          <a:lstStyle/>
          <a:p>
            <a:pPr algn="ctr" indent="0" marL="0">
              <a:buNone/>
            </a:pPr>
            <a:r>
              <a:rPr lang="en-US" sz="2000" b="1" dirty="0">
                <a:solidFill>
                  <a:srgbClr val="2D2D2D"/>
                </a:solidFill>
                <a:latin typeface="Calibri" pitchFamily="34" charset="0"/>
                <a:ea typeface="Calibri" pitchFamily="34" charset="-122"/>
                <a:cs typeface="Calibri" pitchFamily="34" charset="-120"/>
              </a:rPr>
              <a:t>¥3,000</a:t>
            </a:r>
            <a:endParaRPr lang="en-US" sz="2000" dirty="0"/>
          </a:p>
        </p:txBody>
      </p:sp>
      <p:sp>
        <p:nvSpPr>
          <p:cNvPr id="12" name="Text 10"/>
          <p:cNvSpPr/>
          <p:nvPr/>
        </p:nvSpPr>
        <p:spPr>
          <a:xfrm>
            <a:off x="2103120" y="1737360"/>
            <a:ext cx="1554480" cy="320040"/>
          </a:xfrm>
          <a:prstGeom prst="rect">
            <a:avLst/>
          </a:prstGeom>
          <a:noFill/>
          <a:ln/>
        </p:spPr>
        <p:txBody>
          <a:bodyPr wrap="square" lIns="0" tIns="0" rIns="0" bIns="0" rtlCol="0" anchor="ctr"/>
          <a:lstStyle/>
          <a:p>
            <a:pPr algn="ctr" indent="0" marL="0">
              <a:buNone/>
            </a:pPr>
            <a:r>
              <a:rPr lang="en-US" sz="1600" b="1" dirty="0">
                <a:solidFill>
                  <a:srgbClr val="8B0000"/>
                </a:solidFill>
                <a:latin typeface="Calibri" pitchFamily="34" charset="0"/>
                <a:ea typeface="Calibri" pitchFamily="34" charset="-122"/>
                <a:cs typeface="Calibri" pitchFamily="34" charset="-120"/>
              </a:rPr>
              <a:t>3,100pt</a:t>
            </a:r>
            <a:endParaRPr lang="en-US" sz="1600" dirty="0"/>
          </a:p>
        </p:txBody>
      </p:sp>
      <p:sp>
        <p:nvSpPr>
          <p:cNvPr id="13" name="Text 11"/>
          <p:cNvSpPr/>
          <p:nvPr/>
        </p:nvSpPr>
        <p:spPr>
          <a:xfrm>
            <a:off x="2103120" y="2286000"/>
            <a:ext cx="1554480" cy="548640"/>
          </a:xfrm>
          <a:prstGeom prst="rect">
            <a:avLst/>
          </a:prstGeom>
          <a:noFill/>
          <a:ln/>
        </p:spPr>
        <p:txBody>
          <a:bodyPr wrap="square" lIns="0" tIns="0" rIns="0" bIns="0" rtlCol="0" anchor="ctr"/>
          <a:lstStyle/>
          <a:p>
            <a:pPr algn="ctr" indent="0" marL="0">
              <a:buNone/>
            </a:pPr>
            <a:r>
              <a:rPr lang="en-US" sz="1100" dirty="0">
                <a:solidFill>
                  <a:srgbClr val="2D2D2D"/>
                </a:solidFill>
                <a:latin typeface="Calibri" pitchFamily="34" charset="0"/>
                <a:ea typeface="Calibri" pitchFamily="34" charset="-122"/>
                <a:cs typeface="Calibri" pitchFamily="34" charset="-120"/>
              </a:rPr>
              <a:t>ボーナス</a:t>
            </a:r>
            <a:endParaRPr lang="en-US" sz="1100" dirty="0"/>
          </a:p>
          <a:p>
            <a:pPr algn="ctr" indent="0" marL="0">
              <a:buNone/>
            </a:pPr>
            <a:r>
              <a:rPr lang="en-US" sz="1100" b="1" dirty="0">
                <a:solidFill>
                  <a:srgbClr val="2D2D2D"/>
                </a:solidFill>
                <a:latin typeface="Calibri" pitchFamily="34" charset="0"/>
                <a:ea typeface="Calibri" pitchFamily="34" charset="-122"/>
                <a:cs typeface="Calibri" pitchFamily="34" charset="-120"/>
              </a:rPr>
              <a:t>100pt</a:t>
            </a:r>
            <a:endParaRPr lang="en-US" sz="1100" dirty="0"/>
          </a:p>
        </p:txBody>
      </p:sp>
      <p:sp>
        <p:nvSpPr>
          <p:cNvPr id="14" name="Text 12"/>
          <p:cNvSpPr/>
          <p:nvPr/>
        </p:nvSpPr>
        <p:spPr>
          <a:xfrm>
            <a:off x="2103120" y="3017520"/>
            <a:ext cx="1554480" cy="365760"/>
          </a:xfrm>
          <a:prstGeom prst="rect">
            <a:avLst/>
          </a:prstGeom>
          <a:noFill/>
          <a:ln/>
        </p:spPr>
        <p:txBody>
          <a:bodyPr wrap="square" lIns="0" tIns="0" rIns="0" bIns="0" rtlCol="0" anchor="ctr"/>
          <a:lstStyle/>
          <a:p>
            <a:pPr algn="ctr" indent="0" marL="0">
              <a:buNone/>
            </a:pPr>
            <a:r>
              <a:rPr lang="en-US" sz="2200" b="1" dirty="0">
                <a:solidFill>
                  <a:srgbClr val="C41E3A"/>
                </a:solidFill>
                <a:latin typeface="Calibri" pitchFamily="34" charset="0"/>
                <a:ea typeface="Calibri" pitchFamily="34" charset="-122"/>
                <a:cs typeface="Calibri" pitchFamily="34" charset="-120"/>
              </a:rPr>
              <a:t>3.3%</a:t>
            </a:r>
            <a:endParaRPr lang="en-US" sz="2200" dirty="0"/>
          </a:p>
        </p:txBody>
      </p:sp>
      <p:sp>
        <p:nvSpPr>
          <p:cNvPr id="15" name="Text 13"/>
          <p:cNvSpPr/>
          <p:nvPr/>
        </p:nvSpPr>
        <p:spPr>
          <a:xfrm>
            <a:off x="2103120" y="3383280"/>
            <a:ext cx="1554480" cy="274320"/>
          </a:xfrm>
          <a:prstGeom prst="rect">
            <a:avLst/>
          </a:prstGeom>
          <a:noFill/>
          <a:ln/>
        </p:spPr>
        <p:txBody>
          <a:bodyPr wrap="square" lIns="0" tIns="0" rIns="0" bIns="0" rtlCol="0" anchor="ctr"/>
          <a:lstStyle/>
          <a:p>
            <a:pPr algn="ctr" indent="0" marL="0">
              <a:buNone/>
            </a:pPr>
            <a:r>
              <a:rPr lang="en-US" sz="900" dirty="0">
                <a:solidFill>
                  <a:srgbClr val="999999"/>
                </a:solidFill>
                <a:latin typeface="Calibri" pitchFamily="34" charset="0"/>
                <a:ea typeface="Calibri" pitchFamily="34" charset="-122"/>
                <a:cs typeface="Calibri" pitchFamily="34" charset="-120"/>
              </a:rPr>
              <a:t>ボーナス率</a:t>
            </a:r>
            <a:endParaRPr lang="en-US" sz="900" dirty="0"/>
          </a:p>
        </p:txBody>
      </p:sp>
      <p:sp>
        <p:nvSpPr>
          <p:cNvPr id="16" name="Shape 14"/>
          <p:cNvSpPr/>
          <p:nvPr/>
        </p:nvSpPr>
        <p:spPr>
          <a:xfrm>
            <a:off x="3794760" y="1005840"/>
            <a:ext cx="1554480" cy="2926080"/>
          </a:xfrm>
          <a:prstGeom prst="roundRect">
            <a:avLst>
              <a:gd name="adj" fmla="val 4706"/>
            </a:avLst>
          </a:prstGeom>
          <a:solidFill>
            <a:srgbClr val="FDF5E6"/>
          </a:solidFill>
          <a:ln/>
          <a:effectLst>
            <a:outerShdw sx="100000" sy="100000" kx="0" ky="0" algn="bl" rotWithShape="0" blurRad="50800" dist="25400" dir="18900000">
              <a:srgbClr val="000000">
                <a:alpha val="12000"/>
              </a:srgbClr>
            </a:outerShdw>
          </a:effectLst>
        </p:spPr>
      </p:sp>
      <p:sp>
        <p:nvSpPr>
          <p:cNvPr id="17" name="Text 15"/>
          <p:cNvSpPr/>
          <p:nvPr/>
        </p:nvSpPr>
        <p:spPr>
          <a:xfrm>
            <a:off x="3794760" y="1234440"/>
            <a:ext cx="1554480" cy="365760"/>
          </a:xfrm>
          <a:prstGeom prst="rect">
            <a:avLst/>
          </a:prstGeom>
          <a:noFill/>
          <a:ln/>
        </p:spPr>
        <p:txBody>
          <a:bodyPr wrap="square" lIns="0" tIns="0" rIns="0" bIns="0" rtlCol="0" anchor="ctr"/>
          <a:lstStyle/>
          <a:p>
            <a:pPr algn="ctr" indent="0" marL="0">
              <a:buNone/>
            </a:pPr>
            <a:r>
              <a:rPr lang="en-US" sz="2000" b="1" dirty="0">
                <a:solidFill>
                  <a:srgbClr val="2D2D2D"/>
                </a:solidFill>
                <a:latin typeface="Calibri" pitchFamily="34" charset="0"/>
                <a:ea typeface="Calibri" pitchFamily="34" charset="-122"/>
                <a:cs typeface="Calibri" pitchFamily="34" charset="-120"/>
              </a:rPr>
              <a:t>¥5,000</a:t>
            </a:r>
            <a:endParaRPr lang="en-US" sz="2000" dirty="0"/>
          </a:p>
        </p:txBody>
      </p:sp>
      <p:sp>
        <p:nvSpPr>
          <p:cNvPr id="18" name="Text 16"/>
          <p:cNvSpPr/>
          <p:nvPr/>
        </p:nvSpPr>
        <p:spPr>
          <a:xfrm>
            <a:off x="3794760" y="1737360"/>
            <a:ext cx="1554480" cy="320040"/>
          </a:xfrm>
          <a:prstGeom prst="rect">
            <a:avLst/>
          </a:prstGeom>
          <a:noFill/>
          <a:ln/>
        </p:spPr>
        <p:txBody>
          <a:bodyPr wrap="square" lIns="0" tIns="0" rIns="0" bIns="0" rtlCol="0" anchor="ctr"/>
          <a:lstStyle/>
          <a:p>
            <a:pPr algn="ctr" indent="0" marL="0">
              <a:buNone/>
            </a:pPr>
            <a:r>
              <a:rPr lang="en-US" sz="1600" b="1" dirty="0">
                <a:solidFill>
                  <a:srgbClr val="8B0000"/>
                </a:solidFill>
                <a:latin typeface="Calibri" pitchFamily="34" charset="0"/>
                <a:ea typeface="Calibri" pitchFamily="34" charset="-122"/>
                <a:cs typeface="Calibri" pitchFamily="34" charset="-120"/>
              </a:rPr>
              <a:t>5,300pt</a:t>
            </a:r>
            <a:endParaRPr lang="en-US" sz="1600" dirty="0"/>
          </a:p>
        </p:txBody>
      </p:sp>
      <p:sp>
        <p:nvSpPr>
          <p:cNvPr id="19" name="Text 17"/>
          <p:cNvSpPr/>
          <p:nvPr/>
        </p:nvSpPr>
        <p:spPr>
          <a:xfrm>
            <a:off x="3794760" y="2286000"/>
            <a:ext cx="1554480" cy="548640"/>
          </a:xfrm>
          <a:prstGeom prst="rect">
            <a:avLst/>
          </a:prstGeom>
          <a:noFill/>
          <a:ln/>
        </p:spPr>
        <p:txBody>
          <a:bodyPr wrap="square" lIns="0" tIns="0" rIns="0" bIns="0" rtlCol="0" anchor="ctr"/>
          <a:lstStyle/>
          <a:p>
            <a:pPr algn="ctr" indent="0" marL="0">
              <a:buNone/>
            </a:pPr>
            <a:r>
              <a:rPr lang="en-US" sz="1100" dirty="0">
                <a:solidFill>
                  <a:srgbClr val="2D2D2D"/>
                </a:solidFill>
                <a:latin typeface="Calibri" pitchFamily="34" charset="0"/>
                <a:ea typeface="Calibri" pitchFamily="34" charset="-122"/>
                <a:cs typeface="Calibri" pitchFamily="34" charset="-120"/>
              </a:rPr>
              <a:t>ボーナス</a:t>
            </a:r>
            <a:endParaRPr lang="en-US" sz="1100" dirty="0"/>
          </a:p>
          <a:p>
            <a:pPr algn="ctr" indent="0" marL="0">
              <a:buNone/>
            </a:pPr>
            <a:r>
              <a:rPr lang="en-US" sz="1100" b="1" dirty="0">
                <a:solidFill>
                  <a:srgbClr val="2D2D2D"/>
                </a:solidFill>
                <a:latin typeface="Calibri" pitchFamily="34" charset="0"/>
                <a:ea typeface="Calibri" pitchFamily="34" charset="-122"/>
                <a:cs typeface="Calibri" pitchFamily="34" charset="-120"/>
              </a:rPr>
              <a:t>300pt</a:t>
            </a:r>
            <a:endParaRPr lang="en-US" sz="1100" dirty="0"/>
          </a:p>
        </p:txBody>
      </p:sp>
      <p:sp>
        <p:nvSpPr>
          <p:cNvPr id="20" name="Text 18"/>
          <p:cNvSpPr/>
          <p:nvPr/>
        </p:nvSpPr>
        <p:spPr>
          <a:xfrm>
            <a:off x="3794760" y="3017520"/>
            <a:ext cx="1554480" cy="365760"/>
          </a:xfrm>
          <a:prstGeom prst="rect">
            <a:avLst/>
          </a:prstGeom>
          <a:noFill/>
          <a:ln/>
        </p:spPr>
        <p:txBody>
          <a:bodyPr wrap="square" lIns="0" tIns="0" rIns="0" bIns="0" rtlCol="0" anchor="ctr"/>
          <a:lstStyle/>
          <a:p>
            <a:pPr algn="ctr" indent="0" marL="0">
              <a:buNone/>
            </a:pPr>
            <a:r>
              <a:rPr lang="en-US" sz="2200" b="1" dirty="0">
                <a:solidFill>
                  <a:srgbClr val="C41E3A"/>
                </a:solidFill>
                <a:latin typeface="Calibri" pitchFamily="34" charset="0"/>
                <a:ea typeface="Calibri" pitchFamily="34" charset="-122"/>
                <a:cs typeface="Calibri" pitchFamily="34" charset="-120"/>
              </a:rPr>
              <a:t>6.0%</a:t>
            </a:r>
            <a:endParaRPr lang="en-US" sz="2200" dirty="0"/>
          </a:p>
        </p:txBody>
      </p:sp>
      <p:sp>
        <p:nvSpPr>
          <p:cNvPr id="21" name="Text 19"/>
          <p:cNvSpPr/>
          <p:nvPr/>
        </p:nvSpPr>
        <p:spPr>
          <a:xfrm>
            <a:off x="3794760" y="3383280"/>
            <a:ext cx="1554480" cy="274320"/>
          </a:xfrm>
          <a:prstGeom prst="rect">
            <a:avLst/>
          </a:prstGeom>
          <a:noFill/>
          <a:ln/>
        </p:spPr>
        <p:txBody>
          <a:bodyPr wrap="square" lIns="0" tIns="0" rIns="0" bIns="0" rtlCol="0" anchor="ctr"/>
          <a:lstStyle/>
          <a:p>
            <a:pPr algn="ctr" indent="0" marL="0">
              <a:buNone/>
            </a:pPr>
            <a:r>
              <a:rPr lang="en-US" sz="900" dirty="0">
                <a:solidFill>
                  <a:srgbClr val="999999"/>
                </a:solidFill>
                <a:latin typeface="Calibri" pitchFamily="34" charset="0"/>
                <a:ea typeface="Calibri" pitchFamily="34" charset="-122"/>
                <a:cs typeface="Calibri" pitchFamily="34" charset="-120"/>
              </a:rPr>
              <a:t>ボーナス率</a:t>
            </a:r>
            <a:endParaRPr lang="en-US" sz="900" dirty="0"/>
          </a:p>
        </p:txBody>
      </p:sp>
      <p:sp>
        <p:nvSpPr>
          <p:cNvPr id="22" name="Shape 20"/>
          <p:cNvSpPr/>
          <p:nvPr/>
        </p:nvSpPr>
        <p:spPr>
          <a:xfrm>
            <a:off x="5486400" y="1005840"/>
            <a:ext cx="1554480" cy="2926080"/>
          </a:xfrm>
          <a:prstGeom prst="roundRect">
            <a:avLst>
              <a:gd name="adj" fmla="val 4706"/>
            </a:avLst>
          </a:prstGeom>
          <a:solidFill>
            <a:srgbClr val="C41E3A"/>
          </a:solidFill>
          <a:ln/>
          <a:effectLst>
            <a:outerShdw sx="100000" sy="100000" kx="0" ky="0" algn="bl" rotWithShape="0" blurRad="50800" dist="25400" dir="18900000">
              <a:srgbClr val="000000">
                <a:alpha val="12000"/>
              </a:srgbClr>
            </a:outerShdw>
          </a:effectLst>
        </p:spPr>
      </p:sp>
      <p:sp>
        <p:nvSpPr>
          <p:cNvPr id="23" name="Text 21"/>
          <p:cNvSpPr/>
          <p:nvPr/>
        </p:nvSpPr>
        <p:spPr>
          <a:xfrm>
            <a:off x="5486400" y="1234440"/>
            <a:ext cx="1554480" cy="3657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¥10,000</a:t>
            </a:r>
            <a:endParaRPr lang="en-US" sz="2000" dirty="0"/>
          </a:p>
        </p:txBody>
      </p:sp>
      <p:sp>
        <p:nvSpPr>
          <p:cNvPr id="24" name="Text 22"/>
          <p:cNvSpPr/>
          <p:nvPr/>
        </p:nvSpPr>
        <p:spPr>
          <a:xfrm>
            <a:off x="5486400" y="1737360"/>
            <a:ext cx="1554480" cy="320040"/>
          </a:xfrm>
          <a:prstGeom prst="rect">
            <a:avLst/>
          </a:prstGeom>
          <a:noFill/>
          <a:ln/>
        </p:spPr>
        <p:txBody>
          <a:bodyPr wrap="square" lIns="0" tIns="0" rIns="0" bIns="0" rtlCol="0" anchor="ctr"/>
          <a:lstStyle/>
          <a:p>
            <a:pPr algn="ctr" indent="0" marL="0">
              <a:buNone/>
            </a:pPr>
            <a:r>
              <a:rPr lang="en-US" sz="1600" b="1" dirty="0">
                <a:solidFill>
                  <a:srgbClr val="D4A017"/>
                </a:solidFill>
                <a:latin typeface="Calibri" pitchFamily="34" charset="0"/>
                <a:ea typeface="Calibri" pitchFamily="34" charset="-122"/>
                <a:cs typeface="Calibri" pitchFamily="34" charset="-120"/>
              </a:rPr>
              <a:t>11,000pt</a:t>
            </a:r>
            <a:endParaRPr lang="en-US" sz="1600" dirty="0"/>
          </a:p>
        </p:txBody>
      </p:sp>
      <p:sp>
        <p:nvSpPr>
          <p:cNvPr id="25" name="Text 23"/>
          <p:cNvSpPr/>
          <p:nvPr/>
        </p:nvSpPr>
        <p:spPr>
          <a:xfrm>
            <a:off x="5486400" y="2286000"/>
            <a:ext cx="1554480" cy="54864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ボーナス</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1,000pt</a:t>
            </a:r>
            <a:endParaRPr lang="en-US" sz="1100" dirty="0"/>
          </a:p>
        </p:txBody>
      </p:sp>
      <p:sp>
        <p:nvSpPr>
          <p:cNvPr id="26" name="Text 24"/>
          <p:cNvSpPr/>
          <p:nvPr/>
        </p:nvSpPr>
        <p:spPr>
          <a:xfrm>
            <a:off x="5486400" y="3017520"/>
            <a:ext cx="1554480" cy="36576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10.0%</a:t>
            </a:r>
            <a:endParaRPr lang="en-US" sz="2200" dirty="0"/>
          </a:p>
        </p:txBody>
      </p:sp>
      <p:sp>
        <p:nvSpPr>
          <p:cNvPr id="27" name="Text 25"/>
          <p:cNvSpPr/>
          <p:nvPr/>
        </p:nvSpPr>
        <p:spPr>
          <a:xfrm>
            <a:off x="5486400" y="3383280"/>
            <a:ext cx="1554480" cy="274320"/>
          </a:xfrm>
          <a:prstGeom prst="rect">
            <a:avLst/>
          </a:prstGeom>
          <a:noFill/>
          <a:ln/>
        </p:spPr>
        <p:txBody>
          <a:bodyPr wrap="square" lIns="0" tIns="0" rIns="0" bIns="0" rtlCol="0" anchor="ctr"/>
          <a:lstStyle/>
          <a:p>
            <a:pPr algn="ctr" indent="0" marL="0">
              <a:buNone/>
            </a:pPr>
            <a:r>
              <a:rPr lang="en-US" sz="900" dirty="0">
                <a:solidFill>
                  <a:srgbClr val="FFCCCC"/>
                </a:solidFill>
                <a:latin typeface="Calibri" pitchFamily="34" charset="0"/>
                <a:ea typeface="Calibri" pitchFamily="34" charset="-122"/>
                <a:cs typeface="Calibri" pitchFamily="34" charset="-120"/>
              </a:rPr>
              <a:t>ボーナス率</a:t>
            </a:r>
            <a:endParaRPr lang="en-US" sz="900" dirty="0"/>
          </a:p>
        </p:txBody>
      </p:sp>
      <p:sp>
        <p:nvSpPr>
          <p:cNvPr id="28" name="Shape 26"/>
          <p:cNvSpPr/>
          <p:nvPr/>
        </p:nvSpPr>
        <p:spPr>
          <a:xfrm>
            <a:off x="7178040" y="1005840"/>
            <a:ext cx="1554480" cy="2926080"/>
          </a:xfrm>
          <a:prstGeom prst="roundRect">
            <a:avLst>
              <a:gd name="adj" fmla="val 4706"/>
            </a:avLst>
          </a:prstGeom>
          <a:solidFill>
            <a:srgbClr val="C41E3A"/>
          </a:solidFill>
          <a:ln/>
          <a:effectLst>
            <a:outerShdw sx="100000" sy="100000" kx="0" ky="0" algn="bl" rotWithShape="0" blurRad="50800" dist="25400" dir="18900000">
              <a:srgbClr val="000000">
                <a:alpha val="12000"/>
              </a:srgbClr>
            </a:outerShdw>
          </a:effectLst>
        </p:spPr>
      </p:sp>
      <p:sp>
        <p:nvSpPr>
          <p:cNvPr id="29" name="Text 27"/>
          <p:cNvSpPr/>
          <p:nvPr/>
        </p:nvSpPr>
        <p:spPr>
          <a:xfrm>
            <a:off x="7178040" y="1234440"/>
            <a:ext cx="1554480" cy="3657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¥30,000</a:t>
            </a:r>
            <a:endParaRPr lang="en-US" sz="2000" dirty="0"/>
          </a:p>
        </p:txBody>
      </p:sp>
      <p:sp>
        <p:nvSpPr>
          <p:cNvPr id="30" name="Text 28"/>
          <p:cNvSpPr/>
          <p:nvPr/>
        </p:nvSpPr>
        <p:spPr>
          <a:xfrm>
            <a:off x="7178040" y="1737360"/>
            <a:ext cx="1554480" cy="320040"/>
          </a:xfrm>
          <a:prstGeom prst="rect">
            <a:avLst/>
          </a:prstGeom>
          <a:noFill/>
          <a:ln/>
        </p:spPr>
        <p:txBody>
          <a:bodyPr wrap="square" lIns="0" tIns="0" rIns="0" bIns="0" rtlCol="0" anchor="ctr"/>
          <a:lstStyle/>
          <a:p>
            <a:pPr algn="ctr" indent="0" marL="0">
              <a:buNone/>
            </a:pPr>
            <a:r>
              <a:rPr lang="en-US" sz="1600" b="1" dirty="0">
                <a:solidFill>
                  <a:srgbClr val="D4A017"/>
                </a:solidFill>
                <a:latin typeface="Calibri" pitchFamily="34" charset="0"/>
                <a:ea typeface="Calibri" pitchFamily="34" charset="-122"/>
                <a:cs typeface="Calibri" pitchFamily="34" charset="-120"/>
              </a:rPr>
              <a:t>34,000pt</a:t>
            </a:r>
            <a:endParaRPr lang="en-US" sz="1600" dirty="0"/>
          </a:p>
        </p:txBody>
      </p:sp>
      <p:sp>
        <p:nvSpPr>
          <p:cNvPr id="31" name="Text 29"/>
          <p:cNvSpPr/>
          <p:nvPr/>
        </p:nvSpPr>
        <p:spPr>
          <a:xfrm>
            <a:off x="7178040" y="2286000"/>
            <a:ext cx="1554480" cy="54864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ボーナス</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4,000pt</a:t>
            </a:r>
            <a:endParaRPr lang="en-US" sz="1100" dirty="0"/>
          </a:p>
        </p:txBody>
      </p:sp>
      <p:sp>
        <p:nvSpPr>
          <p:cNvPr id="32" name="Text 30"/>
          <p:cNvSpPr/>
          <p:nvPr/>
        </p:nvSpPr>
        <p:spPr>
          <a:xfrm>
            <a:off x="7178040" y="3017520"/>
            <a:ext cx="1554480" cy="36576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13.3%</a:t>
            </a:r>
            <a:endParaRPr lang="en-US" sz="2200" dirty="0"/>
          </a:p>
        </p:txBody>
      </p:sp>
      <p:sp>
        <p:nvSpPr>
          <p:cNvPr id="33" name="Text 31"/>
          <p:cNvSpPr/>
          <p:nvPr/>
        </p:nvSpPr>
        <p:spPr>
          <a:xfrm>
            <a:off x="7178040" y="3383280"/>
            <a:ext cx="1554480" cy="274320"/>
          </a:xfrm>
          <a:prstGeom prst="rect">
            <a:avLst/>
          </a:prstGeom>
          <a:noFill/>
          <a:ln/>
        </p:spPr>
        <p:txBody>
          <a:bodyPr wrap="square" lIns="0" tIns="0" rIns="0" bIns="0" rtlCol="0" anchor="ctr"/>
          <a:lstStyle/>
          <a:p>
            <a:pPr algn="ctr" indent="0" marL="0">
              <a:buNone/>
            </a:pPr>
            <a:r>
              <a:rPr lang="en-US" sz="900" dirty="0">
                <a:solidFill>
                  <a:srgbClr val="FFCCCC"/>
                </a:solidFill>
                <a:latin typeface="Calibri" pitchFamily="34" charset="0"/>
                <a:ea typeface="Calibri" pitchFamily="34" charset="-122"/>
                <a:cs typeface="Calibri" pitchFamily="34" charset="-120"/>
              </a:rPr>
              <a:t>ボーナス率</a:t>
            </a:r>
            <a:endParaRPr lang="en-US" sz="900" dirty="0"/>
          </a:p>
        </p:txBody>
      </p:sp>
      <p:sp>
        <p:nvSpPr>
          <p:cNvPr id="34" name="Text 32"/>
          <p:cNvSpPr/>
          <p:nvPr/>
        </p:nvSpPr>
        <p:spPr>
          <a:xfrm>
            <a:off x="731520" y="4206240"/>
            <a:ext cx="7680960" cy="274320"/>
          </a:xfrm>
          <a:prstGeom prst="rect">
            <a:avLst/>
          </a:prstGeom>
          <a:noFill/>
          <a:ln/>
        </p:spPr>
        <p:txBody>
          <a:bodyPr wrap="square" lIns="0" tIns="0" rIns="0" bIns="0" rtlCol="0" anchor="ctr"/>
          <a:lstStyle/>
          <a:p>
            <a:pPr algn="ctr" indent="0" marL="0">
              <a:buNone/>
            </a:pPr>
            <a:r>
              <a:rPr lang="en-US" sz="1000" dirty="0">
                <a:solidFill>
                  <a:srgbClr val="999999"/>
                </a:solidFill>
                <a:latin typeface="Calibri" pitchFamily="34" charset="0"/>
                <a:ea typeface="Calibri" pitchFamily="34" charset="-122"/>
                <a:cs typeface="Calibri" pitchFamily="34" charset="-120"/>
              </a:rPr>
              <a:t>1ポイント = 1円の固定レート。高額プランほどボーナス率が向上。</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algn="l" indent="0" marL="0">
              <a:buNone/>
            </a:pPr>
            <a:r>
              <a:rPr lang="en-US" sz="3200" b="1" dirty="0">
                <a:solidFill>
                  <a:srgbClr val="8B0000"/>
                </a:solidFill>
                <a:latin typeface="Calibri" pitchFamily="34" charset="0"/>
                <a:ea typeface="Calibri" pitchFamily="34" charset="-122"/>
                <a:cs typeface="Calibri" pitchFamily="34" charset="-120"/>
              </a:rPr>
              <a:t>技術アーキテクチャ</a:t>
            </a:r>
            <a:endParaRPr lang="en-US" sz="3200" dirty="0"/>
          </a:p>
        </p:txBody>
      </p:sp>
      <p:sp>
        <p:nvSpPr>
          <p:cNvPr id="3" name="Text 1"/>
          <p:cNvSpPr/>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5</a:t>
            </a:r>
            <a:endParaRPr lang="en-US" sz="900" dirty="0"/>
          </a:p>
        </p:txBody>
      </p:sp>
      <p:sp>
        <p:nvSpPr>
          <p:cNvPr id="4" name="Shape 2"/>
          <p:cNvSpPr/>
          <p:nvPr/>
        </p:nvSpPr>
        <p:spPr>
          <a:xfrm>
            <a:off x="548640" y="960120"/>
            <a:ext cx="1645920" cy="438912"/>
          </a:xfrm>
          <a:prstGeom prst="roundRect">
            <a:avLst>
              <a:gd name="adj" fmla="val 8333"/>
            </a:avLst>
          </a:prstGeom>
          <a:solidFill>
            <a:srgbClr val="C41E3A"/>
          </a:solidFill>
          <a:ln/>
        </p:spPr>
      </p:sp>
      <p:sp>
        <p:nvSpPr>
          <p:cNvPr id="5" name="Text 3"/>
          <p:cNvSpPr/>
          <p:nvPr/>
        </p:nvSpPr>
        <p:spPr>
          <a:xfrm>
            <a:off x="548640" y="960120"/>
            <a:ext cx="164592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フロントエンド</a:t>
            </a:r>
            <a:endParaRPr lang="en-US" sz="1000" dirty="0"/>
          </a:p>
        </p:txBody>
      </p:sp>
      <p:sp>
        <p:nvSpPr>
          <p:cNvPr id="6" name="Text 4"/>
          <p:cNvSpPr/>
          <p:nvPr/>
        </p:nvSpPr>
        <p:spPr>
          <a:xfrm>
            <a:off x="2377440" y="960120"/>
            <a:ext cx="4023360" cy="438912"/>
          </a:xfrm>
          <a:prstGeom prst="rect">
            <a:avLst/>
          </a:prstGeom>
          <a:noFill/>
          <a:ln/>
        </p:spPr>
        <p:txBody>
          <a:bodyPr wrap="square" lIns="0" tIns="0" rIns="0" bIns="0" rtlCol="0" anchor="ctr"/>
          <a:lstStyle/>
          <a:p>
            <a:pPr algn="l" indent="0" marL="0">
              <a:buNone/>
            </a:pPr>
            <a:r>
              <a:rPr lang="en-US" sz="1100" b="1" dirty="0">
                <a:solidFill>
                  <a:srgbClr val="2D2D2D"/>
                </a:solidFill>
                <a:latin typeface="Calibri" pitchFamily="34" charset="0"/>
                <a:ea typeface="Calibri" pitchFamily="34" charset="-122"/>
                <a:cs typeface="Calibri" pitchFamily="34" charset="-120"/>
              </a:rPr>
              <a:t>Next.js 16 (App Router) + React 19 + Tailwind CSS v4</a:t>
            </a:r>
            <a:endParaRPr lang="en-US" sz="1100" dirty="0"/>
          </a:p>
        </p:txBody>
      </p:sp>
      <p:sp>
        <p:nvSpPr>
          <p:cNvPr id="7" name="Text 5"/>
          <p:cNvSpPr/>
          <p:nvPr/>
        </p:nvSpPr>
        <p:spPr>
          <a:xfrm>
            <a:off x="6492240" y="960120"/>
            <a:ext cx="2286000" cy="438912"/>
          </a:xfrm>
          <a:prstGeom prst="rect">
            <a:avLst/>
          </a:prstGeom>
          <a:noFill/>
          <a:ln/>
        </p:spPr>
        <p:txBody>
          <a:bodyPr wrap="square" lIns="0" tIns="0" rIns="0" bIns="0" rtlCol="0" anchor="ctr"/>
          <a:lstStyle/>
          <a:p>
            <a:pPr algn="l" indent="0" marL="0">
              <a:buNone/>
            </a:pPr>
            <a:r>
              <a:rPr lang="en-US" sz="1000" dirty="0">
                <a:solidFill>
                  <a:srgbClr val="999999"/>
                </a:solidFill>
                <a:latin typeface="Calibri" pitchFamily="34" charset="0"/>
                <a:ea typeface="Calibri" pitchFamily="34" charset="-122"/>
                <a:cs typeface="Calibri" pitchFamily="34" charset="-120"/>
              </a:rPr>
              <a:t>SSR/RSC対応</a:t>
            </a:r>
            <a:endParaRPr lang="en-US" sz="1000" dirty="0"/>
          </a:p>
        </p:txBody>
      </p:sp>
      <p:sp>
        <p:nvSpPr>
          <p:cNvPr id="8" name="Shape 6"/>
          <p:cNvSpPr/>
          <p:nvPr/>
        </p:nvSpPr>
        <p:spPr>
          <a:xfrm>
            <a:off x="548640" y="1453896"/>
            <a:ext cx="1645920" cy="438912"/>
          </a:xfrm>
          <a:prstGeom prst="roundRect">
            <a:avLst>
              <a:gd name="adj" fmla="val 8333"/>
            </a:avLst>
          </a:prstGeom>
          <a:solidFill>
            <a:srgbClr val="A0252D"/>
          </a:solidFill>
          <a:ln/>
        </p:spPr>
      </p:sp>
      <p:sp>
        <p:nvSpPr>
          <p:cNvPr id="9" name="Text 7"/>
          <p:cNvSpPr/>
          <p:nvPr/>
        </p:nvSpPr>
        <p:spPr>
          <a:xfrm>
            <a:off x="548640" y="1453896"/>
            <a:ext cx="164592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バックエンド</a:t>
            </a:r>
            <a:endParaRPr lang="en-US" sz="1000" dirty="0"/>
          </a:p>
        </p:txBody>
      </p:sp>
      <p:sp>
        <p:nvSpPr>
          <p:cNvPr id="10" name="Text 8"/>
          <p:cNvSpPr/>
          <p:nvPr/>
        </p:nvSpPr>
        <p:spPr>
          <a:xfrm>
            <a:off x="2377440" y="1453896"/>
            <a:ext cx="4023360" cy="438912"/>
          </a:xfrm>
          <a:prstGeom prst="rect">
            <a:avLst/>
          </a:prstGeom>
          <a:noFill/>
          <a:ln/>
        </p:spPr>
        <p:txBody>
          <a:bodyPr wrap="square" lIns="0" tIns="0" rIns="0" bIns="0" rtlCol="0" anchor="ctr"/>
          <a:lstStyle/>
          <a:p>
            <a:pPr algn="l" indent="0" marL="0">
              <a:buNone/>
            </a:pPr>
            <a:r>
              <a:rPr lang="en-US" sz="1100" b="1" dirty="0">
                <a:solidFill>
                  <a:srgbClr val="2D2D2D"/>
                </a:solidFill>
                <a:latin typeface="Calibri" pitchFamily="34" charset="0"/>
                <a:ea typeface="Calibri" pitchFamily="34" charset="-122"/>
                <a:cs typeface="Calibri" pitchFamily="34" charset="-120"/>
              </a:rPr>
              <a:t>Next.js API Routes + Supabase RPC</a:t>
            </a:r>
            <a:endParaRPr lang="en-US" sz="1100" dirty="0"/>
          </a:p>
        </p:txBody>
      </p:sp>
      <p:sp>
        <p:nvSpPr>
          <p:cNvPr id="11" name="Text 9"/>
          <p:cNvSpPr/>
          <p:nvPr/>
        </p:nvSpPr>
        <p:spPr>
          <a:xfrm>
            <a:off x="6492240" y="1453896"/>
            <a:ext cx="2286000" cy="438912"/>
          </a:xfrm>
          <a:prstGeom prst="rect">
            <a:avLst/>
          </a:prstGeom>
          <a:noFill/>
          <a:ln/>
        </p:spPr>
        <p:txBody>
          <a:bodyPr wrap="square" lIns="0" tIns="0" rIns="0" bIns="0" rtlCol="0" anchor="ctr"/>
          <a:lstStyle/>
          <a:p>
            <a:pPr algn="l" indent="0" marL="0">
              <a:buNone/>
            </a:pPr>
            <a:r>
              <a:rPr lang="en-US" sz="1000" dirty="0">
                <a:solidFill>
                  <a:srgbClr val="999999"/>
                </a:solidFill>
                <a:latin typeface="Calibri" pitchFamily="34" charset="0"/>
                <a:ea typeface="Calibri" pitchFamily="34" charset="-122"/>
                <a:cs typeface="Calibri" pitchFamily="34" charset="-120"/>
              </a:rPr>
              <a:t>サーバーレス</a:t>
            </a:r>
            <a:endParaRPr lang="en-US" sz="1000" dirty="0"/>
          </a:p>
        </p:txBody>
      </p:sp>
      <p:sp>
        <p:nvSpPr>
          <p:cNvPr id="12" name="Shape 10"/>
          <p:cNvSpPr/>
          <p:nvPr/>
        </p:nvSpPr>
        <p:spPr>
          <a:xfrm>
            <a:off x="548640" y="1947672"/>
            <a:ext cx="1645920" cy="438912"/>
          </a:xfrm>
          <a:prstGeom prst="roundRect">
            <a:avLst>
              <a:gd name="adj" fmla="val 8333"/>
            </a:avLst>
          </a:prstGeom>
          <a:solidFill>
            <a:srgbClr val="D4A017"/>
          </a:solidFill>
          <a:ln/>
        </p:spPr>
      </p:sp>
      <p:sp>
        <p:nvSpPr>
          <p:cNvPr id="13" name="Text 11"/>
          <p:cNvSpPr/>
          <p:nvPr/>
        </p:nvSpPr>
        <p:spPr>
          <a:xfrm>
            <a:off x="548640" y="1947672"/>
            <a:ext cx="164592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データベース</a:t>
            </a:r>
            <a:endParaRPr lang="en-US" sz="1000" dirty="0"/>
          </a:p>
        </p:txBody>
      </p:sp>
      <p:sp>
        <p:nvSpPr>
          <p:cNvPr id="14" name="Text 12"/>
          <p:cNvSpPr/>
          <p:nvPr/>
        </p:nvSpPr>
        <p:spPr>
          <a:xfrm>
            <a:off x="2377440" y="1947672"/>
            <a:ext cx="4023360" cy="438912"/>
          </a:xfrm>
          <a:prstGeom prst="rect">
            <a:avLst/>
          </a:prstGeom>
          <a:noFill/>
          <a:ln/>
        </p:spPr>
        <p:txBody>
          <a:bodyPr wrap="square" lIns="0" tIns="0" rIns="0" bIns="0" rtlCol="0" anchor="ctr"/>
          <a:lstStyle/>
          <a:p>
            <a:pPr algn="l" indent="0" marL="0">
              <a:buNone/>
            </a:pPr>
            <a:r>
              <a:rPr lang="en-US" sz="1100" b="1" dirty="0">
                <a:solidFill>
                  <a:srgbClr val="2D2D2D"/>
                </a:solidFill>
                <a:latin typeface="Calibri" pitchFamily="34" charset="0"/>
                <a:ea typeface="Calibri" pitchFamily="34" charset="-122"/>
                <a:cs typeface="Calibri" pitchFamily="34" charset="-120"/>
              </a:rPr>
              <a:t>Supabase (PostgreSQL + RLS)</a:t>
            </a:r>
            <a:endParaRPr lang="en-US" sz="1100" dirty="0"/>
          </a:p>
        </p:txBody>
      </p:sp>
      <p:sp>
        <p:nvSpPr>
          <p:cNvPr id="15" name="Text 13"/>
          <p:cNvSpPr/>
          <p:nvPr/>
        </p:nvSpPr>
        <p:spPr>
          <a:xfrm>
            <a:off x="6492240" y="1947672"/>
            <a:ext cx="2286000" cy="438912"/>
          </a:xfrm>
          <a:prstGeom prst="rect">
            <a:avLst/>
          </a:prstGeom>
          <a:noFill/>
          <a:ln/>
        </p:spPr>
        <p:txBody>
          <a:bodyPr wrap="square" lIns="0" tIns="0" rIns="0" bIns="0" rtlCol="0" anchor="ctr"/>
          <a:lstStyle/>
          <a:p>
            <a:pPr algn="l" indent="0" marL="0">
              <a:buNone/>
            </a:pPr>
            <a:r>
              <a:rPr lang="en-US" sz="1000" dirty="0">
                <a:solidFill>
                  <a:srgbClr val="999999"/>
                </a:solidFill>
                <a:latin typeface="Calibri" pitchFamily="34" charset="0"/>
                <a:ea typeface="Calibri" pitchFamily="34" charset="-122"/>
                <a:cs typeface="Calibri" pitchFamily="34" charset="-120"/>
              </a:rPr>
              <a:t>行レベルセキュリティ</a:t>
            </a:r>
            <a:endParaRPr lang="en-US" sz="1000" dirty="0"/>
          </a:p>
        </p:txBody>
      </p:sp>
      <p:sp>
        <p:nvSpPr>
          <p:cNvPr id="16" name="Shape 14"/>
          <p:cNvSpPr/>
          <p:nvPr/>
        </p:nvSpPr>
        <p:spPr>
          <a:xfrm>
            <a:off x="548640" y="2441448"/>
            <a:ext cx="1645920" cy="438912"/>
          </a:xfrm>
          <a:prstGeom prst="roundRect">
            <a:avLst>
              <a:gd name="adj" fmla="val 8333"/>
            </a:avLst>
          </a:prstGeom>
          <a:solidFill>
            <a:srgbClr val="B8860B"/>
          </a:solidFill>
          <a:ln/>
        </p:spPr>
      </p:sp>
      <p:sp>
        <p:nvSpPr>
          <p:cNvPr id="17" name="Text 15"/>
          <p:cNvSpPr/>
          <p:nvPr/>
        </p:nvSpPr>
        <p:spPr>
          <a:xfrm>
            <a:off x="548640" y="2441448"/>
            <a:ext cx="164592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認証</a:t>
            </a:r>
            <a:endParaRPr lang="en-US" sz="1000" dirty="0"/>
          </a:p>
        </p:txBody>
      </p:sp>
      <p:sp>
        <p:nvSpPr>
          <p:cNvPr id="18" name="Text 16"/>
          <p:cNvSpPr/>
          <p:nvPr/>
        </p:nvSpPr>
        <p:spPr>
          <a:xfrm>
            <a:off x="2377440" y="2441448"/>
            <a:ext cx="4023360" cy="438912"/>
          </a:xfrm>
          <a:prstGeom prst="rect">
            <a:avLst/>
          </a:prstGeom>
          <a:noFill/>
          <a:ln/>
        </p:spPr>
        <p:txBody>
          <a:bodyPr wrap="square" lIns="0" tIns="0" rIns="0" bIns="0" rtlCol="0" anchor="ctr"/>
          <a:lstStyle/>
          <a:p>
            <a:pPr algn="l" indent="0" marL="0">
              <a:buNone/>
            </a:pPr>
            <a:r>
              <a:rPr lang="en-US" sz="1100" b="1" dirty="0">
                <a:solidFill>
                  <a:srgbClr val="2D2D2D"/>
                </a:solidFill>
                <a:latin typeface="Calibri" pitchFamily="34" charset="0"/>
                <a:ea typeface="Calibri" pitchFamily="34" charset="-122"/>
                <a:cs typeface="Calibri" pitchFamily="34" charset="-120"/>
              </a:rPr>
              <a:t>Supabase Auth (マジックリンク)</a:t>
            </a:r>
            <a:endParaRPr lang="en-US" sz="1100" dirty="0"/>
          </a:p>
        </p:txBody>
      </p:sp>
      <p:sp>
        <p:nvSpPr>
          <p:cNvPr id="19" name="Text 17"/>
          <p:cNvSpPr/>
          <p:nvPr/>
        </p:nvSpPr>
        <p:spPr>
          <a:xfrm>
            <a:off x="6492240" y="2441448"/>
            <a:ext cx="2286000" cy="438912"/>
          </a:xfrm>
          <a:prstGeom prst="rect">
            <a:avLst/>
          </a:prstGeom>
          <a:noFill/>
          <a:ln/>
        </p:spPr>
        <p:txBody>
          <a:bodyPr wrap="square" lIns="0" tIns="0" rIns="0" bIns="0" rtlCol="0" anchor="ctr"/>
          <a:lstStyle/>
          <a:p>
            <a:pPr algn="l" indent="0" marL="0">
              <a:buNone/>
            </a:pPr>
            <a:r>
              <a:rPr lang="en-US" sz="1000" dirty="0">
                <a:solidFill>
                  <a:srgbClr val="999999"/>
                </a:solidFill>
                <a:latin typeface="Calibri" pitchFamily="34" charset="0"/>
                <a:ea typeface="Calibri" pitchFamily="34" charset="-122"/>
                <a:cs typeface="Calibri" pitchFamily="34" charset="-120"/>
              </a:rPr>
              <a:t>パスワードレス</a:t>
            </a:r>
            <a:endParaRPr lang="en-US" sz="1000" dirty="0"/>
          </a:p>
        </p:txBody>
      </p:sp>
      <p:sp>
        <p:nvSpPr>
          <p:cNvPr id="20" name="Shape 18"/>
          <p:cNvSpPr/>
          <p:nvPr/>
        </p:nvSpPr>
        <p:spPr>
          <a:xfrm>
            <a:off x="548640" y="2935224"/>
            <a:ext cx="1645920" cy="438912"/>
          </a:xfrm>
          <a:prstGeom prst="roundRect">
            <a:avLst>
              <a:gd name="adj" fmla="val 8333"/>
            </a:avLst>
          </a:prstGeom>
          <a:solidFill>
            <a:srgbClr val="8B0000"/>
          </a:solidFill>
          <a:ln/>
        </p:spPr>
      </p:sp>
      <p:sp>
        <p:nvSpPr>
          <p:cNvPr id="21" name="Text 19"/>
          <p:cNvSpPr/>
          <p:nvPr/>
        </p:nvSpPr>
        <p:spPr>
          <a:xfrm>
            <a:off x="548640" y="2935224"/>
            <a:ext cx="164592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決済</a:t>
            </a:r>
            <a:endParaRPr lang="en-US" sz="1000" dirty="0"/>
          </a:p>
        </p:txBody>
      </p:sp>
      <p:sp>
        <p:nvSpPr>
          <p:cNvPr id="22" name="Text 20"/>
          <p:cNvSpPr/>
          <p:nvPr/>
        </p:nvSpPr>
        <p:spPr>
          <a:xfrm>
            <a:off x="2377440" y="2935224"/>
            <a:ext cx="4023360" cy="438912"/>
          </a:xfrm>
          <a:prstGeom prst="rect">
            <a:avLst/>
          </a:prstGeom>
          <a:noFill/>
          <a:ln/>
        </p:spPr>
        <p:txBody>
          <a:bodyPr wrap="square" lIns="0" tIns="0" rIns="0" bIns="0" rtlCol="0" anchor="ctr"/>
          <a:lstStyle/>
          <a:p>
            <a:pPr algn="l" indent="0" marL="0">
              <a:buNone/>
            </a:pPr>
            <a:r>
              <a:rPr lang="en-US" sz="1100" b="1" dirty="0">
                <a:solidFill>
                  <a:srgbClr val="2D2D2D"/>
                </a:solidFill>
                <a:latin typeface="Calibri" pitchFamily="34" charset="0"/>
                <a:ea typeface="Calibri" pitchFamily="34" charset="-122"/>
                <a:cs typeface="Calibri" pitchFamily="34" charset="-120"/>
              </a:rPr>
              <a:t>Stripe Checkout + Webhook</a:t>
            </a:r>
            <a:endParaRPr lang="en-US" sz="1100" dirty="0"/>
          </a:p>
        </p:txBody>
      </p:sp>
      <p:sp>
        <p:nvSpPr>
          <p:cNvPr id="23" name="Text 21"/>
          <p:cNvSpPr/>
          <p:nvPr/>
        </p:nvSpPr>
        <p:spPr>
          <a:xfrm>
            <a:off x="6492240" y="2935224"/>
            <a:ext cx="2286000" cy="438912"/>
          </a:xfrm>
          <a:prstGeom prst="rect">
            <a:avLst/>
          </a:prstGeom>
          <a:noFill/>
          <a:ln/>
        </p:spPr>
        <p:txBody>
          <a:bodyPr wrap="square" lIns="0" tIns="0" rIns="0" bIns="0" rtlCol="0" anchor="ctr"/>
          <a:lstStyle/>
          <a:p>
            <a:pPr algn="l" indent="0" marL="0">
              <a:buNone/>
            </a:pPr>
            <a:r>
              <a:rPr lang="en-US" sz="1000" dirty="0">
                <a:solidFill>
                  <a:srgbClr val="999999"/>
                </a:solidFill>
                <a:latin typeface="Calibri" pitchFamily="34" charset="0"/>
                <a:ea typeface="Calibri" pitchFamily="34" charset="-122"/>
                <a:cs typeface="Calibri" pitchFamily="34" charset="-120"/>
              </a:rPr>
              <a:t>PCI DSS準拠・冪等処理</a:t>
            </a:r>
            <a:endParaRPr lang="en-US" sz="1000" dirty="0"/>
          </a:p>
        </p:txBody>
      </p:sp>
      <p:sp>
        <p:nvSpPr>
          <p:cNvPr id="24" name="Shape 22"/>
          <p:cNvSpPr/>
          <p:nvPr/>
        </p:nvSpPr>
        <p:spPr>
          <a:xfrm>
            <a:off x="548640" y="3429000"/>
            <a:ext cx="1645920" cy="438912"/>
          </a:xfrm>
          <a:prstGeom prst="roundRect">
            <a:avLst>
              <a:gd name="adj" fmla="val 8333"/>
            </a:avLst>
          </a:prstGeom>
          <a:solidFill>
            <a:srgbClr val="D4A017"/>
          </a:solidFill>
          <a:ln/>
        </p:spPr>
      </p:sp>
      <p:sp>
        <p:nvSpPr>
          <p:cNvPr id="25" name="Text 23"/>
          <p:cNvSpPr/>
          <p:nvPr/>
        </p:nvSpPr>
        <p:spPr>
          <a:xfrm>
            <a:off x="548640" y="3429000"/>
            <a:ext cx="164592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乱数生成</a:t>
            </a:r>
            <a:endParaRPr lang="en-US" sz="1000" dirty="0"/>
          </a:p>
        </p:txBody>
      </p:sp>
      <p:sp>
        <p:nvSpPr>
          <p:cNvPr id="26" name="Text 24"/>
          <p:cNvSpPr/>
          <p:nvPr/>
        </p:nvSpPr>
        <p:spPr>
          <a:xfrm>
            <a:off x="2377440" y="3429000"/>
            <a:ext cx="4023360" cy="438912"/>
          </a:xfrm>
          <a:prstGeom prst="rect">
            <a:avLst/>
          </a:prstGeom>
          <a:noFill/>
          <a:ln/>
        </p:spPr>
        <p:txBody>
          <a:bodyPr wrap="square" lIns="0" tIns="0" rIns="0" bIns="0" rtlCol="0" anchor="ctr"/>
          <a:lstStyle/>
          <a:p>
            <a:pPr algn="l" indent="0" marL="0">
              <a:buNone/>
            </a:pPr>
            <a:r>
              <a:rPr lang="en-US" sz="1100" b="1" dirty="0">
                <a:solidFill>
                  <a:srgbClr val="2D2D2D"/>
                </a:solidFill>
                <a:latin typeface="Calibri" pitchFamily="34" charset="0"/>
                <a:ea typeface="Calibri" pitchFamily="34" charset="-122"/>
                <a:cs typeface="Calibri" pitchFamily="34" charset="-120"/>
              </a:rPr>
              <a:t>pgcrypto (gen_random_bytes)</a:t>
            </a:r>
            <a:endParaRPr lang="en-US" sz="1100" dirty="0"/>
          </a:p>
        </p:txBody>
      </p:sp>
      <p:sp>
        <p:nvSpPr>
          <p:cNvPr id="27" name="Text 25"/>
          <p:cNvSpPr/>
          <p:nvPr/>
        </p:nvSpPr>
        <p:spPr>
          <a:xfrm>
            <a:off x="6492240" y="3429000"/>
            <a:ext cx="2286000" cy="438912"/>
          </a:xfrm>
          <a:prstGeom prst="rect">
            <a:avLst/>
          </a:prstGeom>
          <a:noFill/>
          <a:ln/>
        </p:spPr>
        <p:txBody>
          <a:bodyPr wrap="square" lIns="0" tIns="0" rIns="0" bIns="0" rtlCol="0" anchor="ctr"/>
          <a:lstStyle/>
          <a:p>
            <a:pPr algn="l" indent="0" marL="0">
              <a:buNone/>
            </a:pPr>
            <a:r>
              <a:rPr lang="en-US" sz="1000" dirty="0">
                <a:solidFill>
                  <a:srgbClr val="999999"/>
                </a:solidFill>
                <a:latin typeface="Calibri" pitchFamily="34" charset="0"/>
                <a:ea typeface="Calibri" pitchFamily="34" charset="-122"/>
                <a:cs typeface="Calibri" pitchFamily="34" charset="-120"/>
              </a:rPr>
              <a:t>暗号学的安全性</a:t>
            </a:r>
            <a:endParaRPr lang="en-US" sz="1000" dirty="0"/>
          </a:p>
        </p:txBody>
      </p:sp>
      <p:sp>
        <p:nvSpPr>
          <p:cNvPr id="28" name="Shape 26"/>
          <p:cNvSpPr/>
          <p:nvPr/>
        </p:nvSpPr>
        <p:spPr>
          <a:xfrm>
            <a:off x="548640" y="3922776"/>
            <a:ext cx="1645920" cy="438912"/>
          </a:xfrm>
          <a:prstGeom prst="roundRect">
            <a:avLst>
              <a:gd name="adj" fmla="val 8333"/>
            </a:avLst>
          </a:prstGeom>
          <a:solidFill>
            <a:srgbClr val="C41E3A"/>
          </a:solidFill>
          <a:ln/>
        </p:spPr>
      </p:sp>
      <p:sp>
        <p:nvSpPr>
          <p:cNvPr id="29" name="Text 27"/>
          <p:cNvSpPr/>
          <p:nvPr/>
        </p:nvSpPr>
        <p:spPr>
          <a:xfrm>
            <a:off x="548640" y="3922776"/>
            <a:ext cx="164592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演出</a:t>
            </a:r>
            <a:endParaRPr lang="en-US" sz="1000" dirty="0"/>
          </a:p>
        </p:txBody>
      </p:sp>
      <p:sp>
        <p:nvSpPr>
          <p:cNvPr id="30" name="Text 28"/>
          <p:cNvSpPr/>
          <p:nvPr/>
        </p:nvSpPr>
        <p:spPr>
          <a:xfrm>
            <a:off x="2377440" y="3922776"/>
            <a:ext cx="4023360" cy="438912"/>
          </a:xfrm>
          <a:prstGeom prst="rect">
            <a:avLst/>
          </a:prstGeom>
          <a:noFill/>
          <a:ln/>
        </p:spPr>
        <p:txBody>
          <a:bodyPr wrap="square" lIns="0" tIns="0" rIns="0" bIns="0" rtlCol="0" anchor="ctr"/>
          <a:lstStyle/>
          <a:p>
            <a:pPr algn="l" indent="0" marL="0">
              <a:buNone/>
            </a:pPr>
            <a:r>
              <a:rPr lang="en-US" sz="1100" b="1" dirty="0">
                <a:solidFill>
                  <a:srgbClr val="2D2D2D"/>
                </a:solidFill>
                <a:latin typeface="Calibri" pitchFamily="34" charset="0"/>
                <a:ea typeface="Calibri" pitchFamily="34" charset="-122"/>
                <a:cs typeface="Calibri" pitchFamily="34" charset="-120"/>
              </a:rPr>
              <a:t>Framer Motion + WebAudio + canvas-confetti</a:t>
            </a:r>
            <a:endParaRPr lang="en-US" sz="1100" dirty="0"/>
          </a:p>
        </p:txBody>
      </p:sp>
      <p:sp>
        <p:nvSpPr>
          <p:cNvPr id="31" name="Text 29"/>
          <p:cNvSpPr/>
          <p:nvPr/>
        </p:nvSpPr>
        <p:spPr>
          <a:xfrm>
            <a:off x="6492240" y="3922776"/>
            <a:ext cx="2286000" cy="438912"/>
          </a:xfrm>
          <a:prstGeom prst="rect">
            <a:avLst/>
          </a:prstGeom>
          <a:noFill/>
          <a:ln/>
        </p:spPr>
        <p:txBody>
          <a:bodyPr wrap="square" lIns="0" tIns="0" rIns="0" bIns="0" rtlCol="0" anchor="ctr"/>
          <a:lstStyle/>
          <a:p>
            <a:pPr algn="l" indent="0" marL="0">
              <a:buNone/>
            </a:pPr>
            <a:r>
              <a:rPr lang="en-US" sz="1000" dirty="0">
                <a:solidFill>
                  <a:srgbClr val="999999"/>
                </a:solidFill>
                <a:latin typeface="Calibri" pitchFamily="34" charset="0"/>
                <a:ea typeface="Calibri" pitchFamily="34" charset="-122"/>
                <a:cs typeface="Calibri" pitchFamily="34" charset="-120"/>
              </a:rPr>
              <a:t>低レイテンシ</a:t>
            </a:r>
            <a:endParaRPr lang="en-US" sz="1000" dirty="0"/>
          </a:p>
        </p:txBody>
      </p:sp>
      <p:sp>
        <p:nvSpPr>
          <p:cNvPr id="32" name="Shape 30"/>
          <p:cNvSpPr/>
          <p:nvPr/>
        </p:nvSpPr>
        <p:spPr>
          <a:xfrm>
            <a:off x="548640" y="4416552"/>
            <a:ext cx="1645920" cy="438912"/>
          </a:xfrm>
          <a:prstGeom prst="roundRect">
            <a:avLst>
              <a:gd name="adj" fmla="val 8333"/>
            </a:avLst>
          </a:prstGeom>
          <a:solidFill>
            <a:srgbClr val="A0252D"/>
          </a:solidFill>
          <a:ln/>
        </p:spPr>
      </p:sp>
      <p:sp>
        <p:nvSpPr>
          <p:cNvPr id="33" name="Text 31"/>
          <p:cNvSpPr/>
          <p:nvPr/>
        </p:nvSpPr>
        <p:spPr>
          <a:xfrm>
            <a:off x="548640" y="4416552"/>
            <a:ext cx="164592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ホスティング</a:t>
            </a:r>
            <a:endParaRPr lang="en-US" sz="1000" dirty="0"/>
          </a:p>
        </p:txBody>
      </p:sp>
      <p:sp>
        <p:nvSpPr>
          <p:cNvPr id="34" name="Text 32"/>
          <p:cNvSpPr/>
          <p:nvPr/>
        </p:nvSpPr>
        <p:spPr>
          <a:xfrm>
            <a:off x="2377440" y="4416552"/>
            <a:ext cx="4023360" cy="438912"/>
          </a:xfrm>
          <a:prstGeom prst="rect">
            <a:avLst/>
          </a:prstGeom>
          <a:noFill/>
          <a:ln/>
        </p:spPr>
        <p:txBody>
          <a:bodyPr wrap="square" lIns="0" tIns="0" rIns="0" bIns="0" rtlCol="0" anchor="ctr"/>
          <a:lstStyle/>
          <a:p>
            <a:pPr algn="l" indent="0" marL="0">
              <a:buNone/>
            </a:pPr>
            <a:r>
              <a:rPr lang="en-US" sz="1100" b="1" dirty="0">
                <a:solidFill>
                  <a:srgbClr val="2D2D2D"/>
                </a:solidFill>
                <a:latin typeface="Calibri" pitchFamily="34" charset="0"/>
                <a:ea typeface="Calibri" pitchFamily="34" charset="-122"/>
                <a:cs typeface="Calibri" pitchFamily="34" charset="-120"/>
              </a:rPr>
              <a:t>Vercel</a:t>
            </a:r>
            <a:endParaRPr lang="en-US" sz="1100" dirty="0"/>
          </a:p>
        </p:txBody>
      </p:sp>
      <p:sp>
        <p:nvSpPr>
          <p:cNvPr id="35" name="Text 33"/>
          <p:cNvSpPr/>
          <p:nvPr/>
        </p:nvSpPr>
        <p:spPr>
          <a:xfrm>
            <a:off x="6492240" y="4416552"/>
            <a:ext cx="2286000" cy="438912"/>
          </a:xfrm>
          <a:prstGeom prst="rect">
            <a:avLst/>
          </a:prstGeom>
          <a:noFill/>
          <a:ln/>
        </p:spPr>
        <p:txBody>
          <a:bodyPr wrap="square" lIns="0" tIns="0" rIns="0" bIns="0" rtlCol="0" anchor="ctr"/>
          <a:lstStyle/>
          <a:p>
            <a:pPr algn="l" indent="0" marL="0">
              <a:buNone/>
            </a:pPr>
            <a:r>
              <a:rPr lang="en-US" sz="1000" dirty="0">
                <a:solidFill>
                  <a:srgbClr val="999999"/>
                </a:solidFill>
                <a:latin typeface="Calibri" pitchFamily="34" charset="0"/>
                <a:ea typeface="Calibri" pitchFamily="34" charset="-122"/>
                <a:cs typeface="Calibri" pitchFamily="34" charset="-120"/>
              </a:rPr>
              <a:t>自動スケーリング・CDN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algn="l" indent="0" marL="0">
              <a:buNone/>
            </a:pPr>
            <a:r>
              <a:rPr lang="en-US" sz="3200" b="1" dirty="0">
                <a:solidFill>
                  <a:srgbClr val="8B0000"/>
                </a:solidFill>
                <a:latin typeface="Calibri" pitchFamily="34" charset="0"/>
                <a:ea typeface="Calibri" pitchFamily="34" charset="-122"/>
                <a:cs typeface="Calibri" pitchFamily="34" charset="-120"/>
              </a:rPr>
              <a:t>市場分析</a:t>
            </a:r>
            <a:endParaRPr lang="en-US" sz="3200" dirty="0"/>
          </a:p>
        </p:txBody>
      </p:sp>
      <p:sp>
        <p:nvSpPr>
          <p:cNvPr id="3" name="Text 1"/>
          <p:cNvSpPr/>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6</a:t>
            </a:r>
            <a:endParaRPr lang="en-US" sz="900" dirty="0"/>
          </a:p>
        </p:txBody>
      </p:sp>
      <p:graphicFrame>
        <p:nvGraphicFramePr>
          <p:cNvPr id="4" name="Chart 0" descr=""/>
          <p:cNvGraphicFramePr/>
          <p:nvPr/>
        </p:nvGraphicFramePr>
        <p:xfrm>
          <a:off x="365760" y="91440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760720" y="1005840"/>
            <a:ext cx="2926080" cy="1097280"/>
          </a:xfrm>
          <a:prstGeom prst="roundRect">
            <a:avLst>
              <a:gd name="adj" fmla="val 6667"/>
            </a:avLst>
          </a:prstGeom>
          <a:solidFill>
            <a:srgbClr val="FDF5E6"/>
          </a:solidFill>
          <a:ln/>
          <a:effectLst>
            <a:outerShdw sx="100000" sy="100000" kx="0" ky="0" algn="bl" rotWithShape="0" blurRad="50800" dist="25400" dir="18900000">
              <a:srgbClr val="000000">
                <a:alpha val="12000"/>
              </a:srgbClr>
            </a:outerShdw>
          </a:effectLst>
        </p:spPr>
      </p:sp>
      <p:sp>
        <p:nvSpPr>
          <p:cNvPr id="6" name="Text 3"/>
          <p:cNvSpPr/>
          <p:nvPr/>
        </p:nvSpPr>
        <p:spPr>
          <a:xfrm>
            <a:off x="5760720" y="1051560"/>
            <a:ext cx="2926080" cy="548640"/>
          </a:xfrm>
          <a:prstGeom prst="rect">
            <a:avLst/>
          </a:prstGeom>
          <a:noFill/>
          <a:ln/>
        </p:spPr>
        <p:txBody>
          <a:bodyPr wrap="square" lIns="0" tIns="0" rIns="0" bIns="0" rtlCol="0" anchor="ctr"/>
          <a:lstStyle/>
          <a:p>
            <a:pPr algn="ctr" indent="0" marL="0">
              <a:buNone/>
            </a:pPr>
            <a:r>
              <a:rPr lang="en-US" sz="2800" b="1" dirty="0">
                <a:solidFill>
                  <a:srgbClr val="C41E3A"/>
                </a:solidFill>
                <a:latin typeface="Calibri" pitchFamily="34" charset="0"/>
                <a:ea typeface="Calibri" pitchFamily="34" charset="-122"/>
                <a:cs typeface="Calibri" pitchFamily="34" charset="-120"/>
              </a:rPr>
              <a:t>3,000億円+</a:t>
            </a:r>
            <a:endParaRPr lang="en-US" sz="2800" dirty="0"/>
          </a:p>
        </p:txBody>
      </p:sp>
      <p:sp>
        <p:nvSpPr>
          <p:cNvPr id="7" name="Text 4"/>
          <p:cNvSpPr/>
          <p:nvPr/>
        </p:nvSpPr>
        <p:spPr>
          <a:xfrm>
            <a:off x="5760720" y="1600200"/>
            <a:ext cx="2926080" cy="274320"/>
          </a:xfrm>
          <a:prstGeom prst="rect">
            <a:avLst/>
          </a:prstGeom>
          <a:noFill/>
          <a:ln/>
        </p:spPr>
        <p:txBody>
          <a:bodyPr wrap="square" lIns="0" tIns="0" rIns="0" bIns="0" rtlCol="0" anchor="ctr"/>
          <a:lstStyle/>
          <a:p>
            <a:pPr algn="ctr" indent="0" marL="0">
              <a:buNone/>
            </a:pPr>
            <a:r>
              <a:rPr lang="en-US" sz="1100" dirty="0">
                <a:solidFill>
                  <a:srgbClr val="999999"/>
                </a:solidFill>
                <a:latin typeface="Calibri" pitchFamily="34" charset="0"/>
                <a:ea typeface="Calibri" pitchFamily="34" charset="-122"/>
                <a:cs typeface="Calibri" pitchFamily="34" charset="-120"/>
              </a:rPr>
              <a:t>2024年 国内トレカ市場</a:t>
            </a:r>
            <a:endParaRPr lang="en-US" sz="1100" dirty="0"/>
          </a:p>
        </p:txBody>
      </p:sp>
      <p:sp>
        <p:nvSpPr>
          <p:cNvPr id="8" name="Shape 5"/>
          <p:cNvSpPr/>
          <p:nvPr/>
        </p:nvSpPr>
        <p:spPr>
          <a:xfrm>
            <a:off x="5760720" y="2377440"/>
            <a:ext cx="2926080" cy="1097280"/>
          </a:xfrm>
          <a:prstGeom prst="roundRect">
            <a:avLst>
              <a:gd name="adj" fmla="val 6667"/>
            </a:avLst>
          </a:prstGeom>
          <a:solidFill>
            <a:srgbClr val="FDF5E6"/>
          </a:solidFill>
          <a:ln/>
          <a:effectLst>
            <a:outerShdw sx="100000" sy="100000" kx="0" ky="0" algn="bl" rotWithShape="0" blurRad="50800" dist="25400" dir="18900000">
              <a:srgbClr val="000000">
                <a:alpha val="12000"/>
              </a:srgbClr>
            </a:outerShdw>
          </a:effectLst>
        </p:spPr>
      </p:sp>
      <p:sp>
        <p:nvSpPr>
          <p:cNvPr id="9" name="Text 6"/>
          <p:cNvSpPr/>
          <p:nvPr/>
        </p:nvSpPr>
        <p:spPr>
          <a:xfrm>
            <a:off x="5760720" y="2423160"/>
            <a:ext cx="2926080" cy="548640"/>
          </a:xfrm>
          <a:prstGeom prst="rect">
            <a:avLst/>
          </a:prstGeom>
          <a:noFill/>
          <a:ln/>
        </p:spPr>
        <p:txBody>
          <a:bodyPr wrap="square" lIns="0" tIns="0" rIns="0" bIns="0" rtlCol="0" anchor="ctr"/>
          <a:lstStyle/>
          <a:p>
            <a:pPr algn="ctr" indent="0" marL="0">
              <a:buNone/>
            </a:pPr>
            <a:r>
              <a:rPr lang="en-US" sz="2800" b="1" dirty="0">
                <a:solidFill>
                  <a:srgbClr val="D4A017"/>
                </a:solidFill>
                <a:latin typeface="Calibri" pitchFamily="34" charset="0"/>
                <a:ea typeface="Calibri" pitchFamily="34" charset="-122"/>
                <a:cs typeface="Calibri" pitchFamily="34" charset="-120"/>
              </a:rPr>
              <a:t>2.7倍</a:t>
            </a:r>
            <a:endParaRPr lang="en-US" sz="2800" dirty="0"/>
          </a:p>
        </p:txBody>
      </p:sp>
      <p:sp>
        <p:nvSpPr>
          <p:cNvPr id="10" name="Text 7"/>
          <p:cNvSpPr/>
          <p:nvPr/>
        </p:nvSpPr>
        <p:spPr>
          <a:xfrm>
            <a:off x="5760720" y="2971800"/>
            <a:ext cx="2926080" cy="274320"/>
          </a:xfrm>
          <a:prstGeom prst="rect">
            <a:avLst/>
          </a:prstGeom>
          <a:noFill/>
          <a:ln/>
        </p:spPr>
        <p:txBody>
          <a:bodyPr wrap="square" lIns="0" tIns="0" rIns="0" bIns="0" rtlCol="0" anchor="ctr"/>
          <a:lstStyle/>
          <a:p>
            <a:pPr algn="ctr" indent="0" marL="0">
              <a:buNone/>
            </a:pPr>
            <a:r>
              <a:rPr lang="en-US" sz="1000" dirty="0">
                <a:solidFill>
                  <a:srgbClr val="999999"/>
                </a:solidFill>
                <a:latin typeface="Calibri" pitchFamily="34" charset="0"/>
                <a:ea typeface="Calibri" pitchFamily="34" charset="-122"/>
                <a:cs typeface="Calibri" pitchFamily="34" charset="-120"/>
              </a:rPr>
              <a:t>4年間の市場成長 (2020→2024)</a:t>
            </a:r>
            <a:endParaRPr lang="en-US" sz="1000" dirty="0"/>
          </a:p>
        </p:txBody>
      </p:sp>
      <p:sp>
        <p:nvSpPr>
          <p:cNvPr id="11" name="Shape 8"/>
          <p:cNvSpPr/>
          <p:nvPr/>
        </p:nvSpPr>
        <p:spPr>
          <a:xfrm>
            <a:off x="5760720" y="3749040"/>
            <a:ext cx="2926080" cy="731520"/>
          </a:xfrm>
          <a:prstGeom prst="roundRect">
            <a:avLst>
              <a:gd name="adj" fmla="val 10000"/>
            </a:avLst>
          </a:prstGeom>
          <a:solidFill>
            <a:srgbClr val="FDF5E6"/>
          </a:solidFill>
          <a:ln/>
          <a:effectLst>
            <a:outerShdw sx="100000" sy="100000" kx="0" ky="0" algn="bl" rotWithShape="0" blurRad="50800" dist="25400" dir="18900000">
              <a:srgbClr val="000000">
                <a:alpha val="12000"/>
              </a:srgbClr>
            </a:outerShdw>
          </a:effectLst>
        </p:spPr>
      </p:sp>
      <p:sp>
        <p:nvSpPr>
          <p:cNvPr id="12" name="Text 9"/>
          <p:cNvSpPr/>
          <p:nvPr/>
        </p:nvSpPr>
        <p:spPr>
          <a:xfrm>
            <a:off x="5760720" y="3840480"/>
            <a:ext cx="2926080" cy="320040"/>
          </a:xfrm>
          <a:prstGeom prst="rect">
            <a:avLst/>
          </a:prstGeom>
          <a:noFill/>
          <a:ln/>
        </p:spPr>
        <p:txBody>
          <a:bodyPr wrap="square" lIns="0" tIns="0" rIns="0" bIns="0" rtlCol="0" anchor="ctr"/>
          <a:lstStyle/>
          <a:p>
            <a:pPr algn="ctr" indent="0" marL="0">
              <a:buNone/>
            </a:pPr>
            <a:r>
              <a:rPr lang="en-US" sz="1400" b="1" dirty="0">
                <a:solidFill>
                  <a:srgbClr val="8B0000"/>
                </a:solidFill>
                <a:latin typeface="Calibri" pitchFamily="34" charset="0"/>
                <a:ea typeface="Calibri" pitchFamily="34" charset="-122"/>
                <a:cs typeface="Calibri" pitchFamily="34" charset="-120"/>
              </a:rPr>
              <a:t>年率10%+ 成長継続中</a:t>
            </a:r>
            <a:endParaRPr lang="en-US" sz="1400" dirty="0"/>
          </a:p>
        </p:txBody>
      </p:sp>
      <p:sp>
        <p:nvSpPr>
          <p:cNvPr id="13" name="Text 10"/>
          <p:cNvSpPr/>
          <p:nvPr/>
        </p:nvSpPr>
        <p:spPr>
          <a:xfrm>
            <a:off x="5760720" y="4160520"/>
            <a:ext cx="2926080" cy="182880"/>
          </a:xfrm>
          <a:prstGeom prst="rect">
            <a:avLst/>
          </a:prstGeom>
          <a:noFill/>
          <a:ln/>
        </p:spPr>
        <p:txBody>
          <a:bodyPr wrap="square" lIns="0" tIns="0" rIns="0" bIns="0" rtlCol="0" anchor="ctr"/>
          <a:lstStyle/>
          <a:p>
            <a:pPr algn="ctr" indent="0" marL="0">
              <a:buNone/>
            </a:pPr>
            <a:r>
              <a:rPr lang="en-US" sz="1000" dirty="0">
                <a:solidFill>
                  <a:srgbClr val="999999"/>
                </a:solidFill>
                <a:latin typeface="Calibri" pitchFamily="34" charset="0"/>
                <a:ea typeface="Calibri" pitchFamily="34" charset="-122"/>
                <a:cs typeface="Calibri" pitchFamily="34" charset="-120"/>
              </a:rPr>
              <a:t>世界市場でも同等の成長</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algn="l" indent="0" marL="0">
              <a:buNone/>
            </a:pPr>
            <a:r>
              <a:rPr lang="en-US" sz="3200" b="1" dirty="0">
                <a:solidFill>
                  <a:srgbClr val="8B0000"/>
                </a:solidFill>
                <a:latin typeface="Calibri" pitchFamily="34" charset="0"/>
                <a:ea typeface="Calibri" pitchFamily="34" charset="-122"/>
                <a:cs typeface="Calibri" pitchFamily="34" charset="-120"/>
              </a:rPr>
              <a:t>競合分析</a:t>
            </a:r>
            <a:endParaRPr lang="en-US" sz="3200" dirty="0"/>
          </a:p>
        </p:txBody>
      </p:sp>
      <p:sp>
        <p:nvSpPr>
          <p:cNvPr id="3" name="Text 1"/>
          <p:cNvSpPr/>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7</a:t>
            </a:r>
            <a:endParaRPr lang="en-US" sz="900" dirty="0"/>
          </a:p>
        </p:txBody>
      </p:sp>
      <p:sp>
        <p:nvSpPr>
          <p:cNvPr id="4" name="Shape 2"/>
          <p:cNvSpPr/>
          <p:nvPr/>
        </p:nvSpPr>
        <p:spPr>
          <a:xfrm>
            <a:off x="553212" y="1005840"/>
            <a:ext cx="1920240" cy="2011680"/>
          </a:xfrm>
          <a:prstGeom prst="roundRect">
            <a:avLst>
              <a:gd name="adj" fmla="val 3810"/>
            </a:avLst>
          </a:prstGeom>
          <a:solidFill>
            <a:srgbClr val="FDF5E6"/>
          </a:solidFill>
          <a:ln/>
          <a:effectLst>
            <a:outerShdw sx="100000" sy="100000" kx="0" ky="0" algn="bl" rotWithShape="0" blurRad="50800" dist="25400" dir="18900000">
              <a:srgbClr val="000000">
                <a:alpha val="12000"/>
              </a:srgbClr>
            </a:outerShdw>
          </a:effectLst>
        </p:spPr>
      </p:sp>
      <p:sp>
        <p:nvSpPr>
          <p:cNvPr id="5" name="Text 3"/>
          <p:cNvSpPr/>
          <p:nvPr/>
        </p:nvSpPr>
        <p:spPr>
          <a:xfrm>
            <a:off x="553212" y="1143000"/>
            <a:ext cx="1920240" cy="320040"/>
          </a:xfrm>
          <a:prstGeom prst="rect">
            <a:avLst/>
          </a:prstGeom>
          <a:noFill/>
          <a:ln/>
        </p:spPr>
        <p:txBody>
          <a:bodyPr wrap="square" lIns="0" tIns="0" rIns="0" bIns="0" rtlCol="0" anchor="ctr"/>
          <a:lstStyle/>
          <a:p>
            <a:pPr algn="ctr" indent="0" marL="0">
              <a:buNone/>
            </a:pPr>
            <a:r>
              <a:rPr lang="en-US" sz="1200" b="1" dirty="0">
                <a:solidFill>
                  <a:srgbClr val="8B0000"/>
                </a:solidFill>
                <a:latin typeface="Calibri" pitchFamily="34" charset="0"/>
                <a:ea typeface="Calibri" pitchFamily="34" charset="-122"/>
                <a:cs typeface="Calibri" pitchFamily="34" charset="-120"/>
              </a:rPr>
              <a:t>日本トレカセンター</a:t>
            </a:r>
            <a:endParaRPr lang="en-US" sz="1200" dirty="0"/>
          </a:p>
        </p:txBody>
      </p:sp>
      <p:sp>
        <p:nvSpPr>
          <p:cNvPr id="6" name="Text 4"/>
          <p:cNvSpPr/>
          <p:nvPr/>
        </p:nvSpPr>
        <p:spPr>
          <a:xfrm>
            <a:off x="644652" y="1463040"/>
            <a:ext cx="1737360" cy="274320"/>
          </a:xfrm>
          <a:prstGeom prst="rect">
            <a:avLst/>
          </a:prstGeom>
          <a:noFill/>
          <a:ln/>
        </p:spPr>
        <p:txBody>
          <a:bodyPr wrap="square" lIns="0" tIns="0" rIns="0" bIns="0" rtlCol="0" anchor="ctr"/>
          <a:lstStyle/>
          <a:p>
            <a:pPr algn="ctr" indent="0" marL="0">
              <a:buNone/>
            </a:pPr>
            <a:r>
              <a:rPr lang="en-US" sz="1000" dirty="0">
                <a:solidFill>
                  <a:srgbClr val="2D2D2D"/>
                </a:solidFill>
                <a:latin typeface="Calibri" pitchFamily="34" charset="0"/>
                <a:ea typeface="Calibri" pitchFamily="34" charset="-122"/>
                <a:cs typeface="Calibri" pitchFamily="34" charset="-120"/>
              </a:rPr>
              <a:t>ネットオリパ売上No.1</a:t>
            </a:r>
            <a:endParaRPr lang="en-US" sz="1000" dirty="0"/>
          </a:p>
        </p:txBody>
      </p:sp>
      <p:sp>
        <p:nvSpPr>
          <p:cNvPr id="7" name="Shape 5"/>
          <p:cNvSpPr/>
          <p:nvPr/>
        </p:nvSpPr>
        <p:spPr>
          <a:xfrm>
            <a:off x="827532" y="1783080"/>
            <a:ext cx="1371600" cy="9144"/>
          </a:xfrm>
          <a:prstGeom prst="rect">
            <a:avLst/>
          </a:prstGeom>
          <a:solidFill>
            <a:srgbClr val="E0D5C5"/>
          </a:solidFill>
          <a:ln/>
        </p:spPr>
      </p:sp>
      <p:sp>
        <p:nvSpPr>
          <p:cNvPr id="8" name="Text 6"/>
          <p:cNvSpPr/>
          <p:nvPr/>
        </p:nvSpPr>
        <p:spPr>
          <a:xfrm>
            <a:off x="644652" y="1874520"/>
            <a:ext cx="1737360" cy="457200"/>
          </a:xfrm>
          <a:prstGeom prst="rect">
            <a:avLst/>
          </a:prstGeom>
          <a:noFill/>
          <a:ln/>
        </p:spPr>
        <p:txBody>
          <a:bodyPr wrap="square" lIns="0" tIns="0" rIns="0" bIns="0" rtlCol="0" anchor="ctr"/>
          <a:lstStyle/>
          <a:p>
            <a:pPr algn="ctr" indent="0" marL="0">
              <a:buNone/>
            </a:pPr>
            <a:r>
              <a:rPr lang="en-US" sz="1000" dirty="0">
                <a:solidFill>
                  <a:srgbClr val="2D2D2D"/>
                </a:solidFill>
                <a:latin typeface="Calibri" pitchFamily="34" charset="0"/>
                <a:ea typeface="Calibri" pitchFamily="34" charset="-122"/>
                <a:cs typeface="Calibri" pitchFamily="34" charset="-120"/>
              </a:rPr>
              <a:t>圧倒的知名度・資本力</a:t>
            </a:r>
            <a:endParaRPr lang="en-US" sz="1000" dirty="0"/>
          </a:p>
        </p:txBody>
      </p:sp>
      <p:sp>
        <p:nvSpPr>
          <p:cNvPr id="9" name="Text 7"/>
          <p:cNvSpPr/>
          <p:nvPr/>
        </p:nvSpPr>
        <p:spPr>
          <a:xfrm>
            <a:off x="553212" y="2423160"/>
            <a:ext cx="1920240" cy="274320"/>
          </a:xfrm>
          <a:prstGeom prst="rect">
            <a:avLst/>
          </a:prstGeom>
          <a:noFill/>
          <a:ln/>
        </p:spPr>
        <p:txBody>
          <a:bodyPr wrap="square" lIns="0" tIns="0" rIns="0" bIns="0" rtlCol="0" anchor="ctr"/>
          <a:lstStyle/>
          <a:p>
            <a:pPr algn="ctr" indent="0" marL="0">
              <a:buNone/>
            </a:pPr>
            <a:r>
              <a:rPr lang="en-US" sz="1000" dirty="0">
                <a:solidFill>
                  <a:srgbClr val="999999"/>
                </a:solidFill>
                <a:latin typeface="Calibri" pitchFamily="34" charset="0"/>
                <a:ea typeface="Calibri" pitchFamily="34" charset="-122"/>
                <a:cs typeface="Calibri" pitchFamily="34" charset="-120"/>
              </a:rPr>
              <a:t>推定数百万人</a:t>
            </a:r>
            <a:endParaRPr lang="en-US" sz="1000" dirty="0"/>
          </a:p>
        </p:txBody>
      </p:sp>
      <p:sp>
        <p:nvSpPr>
          <p:cNvPr id="10" name="Shape 8"/>
          <p:cNvSpPr/>
          <p:nvPr/>
        </p:nvSpPr>
        <p:spPr>
          <a:xfrm>
            <a:off x="2592324" y="1005840"/>
            <a:ext cx="1920240" cy="2011680"/>
          </a:xfrm>
          <a:prstGeom prst="roundRect">
            <a:avLst>
              <a:gd name="adj" fmla="val 3810"/>
            </a:avLst>
          </a:prstGeom>
          <a:solidFill>
            <a:srgbClr val="FDF5E6"/>
          </a:solidFill>
          <a:ln/>
          <a:effectLst>
            <a:outerShdw sx="100000" sy="100000" kx="0" ky="0" algn="bl" rotWithShape="0" blurRad="50800" dist="25400" dir="18900000">
              <a:srgbClr val="000000">
                <a:alpha val="12000"/>
              </a:srgbClr>
            </a:outerShdw>
          </a:effectLst>
        </p:spPr>
      </p:sp>
      <p:sp>
        <p:nvSpPr>
          <p:cNvPr id="11" name="Text 9"/>
          <p:cNvSpPr/>
          <p:nvPr/>
        </p:nvSpPr>
        <p:spPr>
          <a:xfrm>
            <a:off x="2592324" y="1143000"/>
            <a:ext cx="1920240" cy="320040"/>
          </a:xfrm>
          <a:prstGeom prst="rect">
            <a:avLst/>
          </a:prstGeom>
          <a:noFill/>
          <a:ln/>
        </p:spPr>
        <p:txBody>
          <a:bodyPr wrap="square" lIns="0" tIns="0" rIns="0" bIns="0" rtlCol="0" anchor="ctr"/>
          <a:lstStyle/>
          <a:p>
            <a:pPr algn="ctr" indent="0" marL="0">
              <a:buNone/>
            </a:pPr>
            <a:r>
              <a:rPr lang="en-US" sz="1200" b="1" dirty="0">
                <a:solidFill>
                  <a:srgbClr val="8B0000"/>
                </a:solidFill>
                <a:latin typeface="Calibri" pitchFamily="34" charset="0"/>
                <a:ea typeface="Calibri" pitchFamily="34" charset="-122"/>
                <a:cs typeface="Calibri" pitchFamily="34" charset="-120"/>
              </a:rPr>
              <a:t>DOPA（ドーパ）</a:t>
            </a:r>
            <a:endParaRPr lang="en-US" sz="1200" dirty="0"/>
          </a:p>
        </p:txBody>
      </p:sp>
      <p:sp>
        <p:nvSpPr>
          <p:cNvPr id="12" name="Text 10"/>
          <p:cNvSpPr/>
          <p:nvPr/>
        </p:nvSpPr>
        <p:spPr>
          <a:xfrm>
            <a:off x="2683764" y="1463040"/>
            <a:ext cx="1737360" cy="274320"/>
          </a:xfrm>
          <a:prstGeom prst="rect">
            <a:avLst/>
          </a:prstGeom>
          <a:noFill/>
          <a:ln/>
        </p:spPr>
        <p:txBody>
          <a:bodyPr wrap="square" lIns="0" tIns="0" rIns="0" bIns="0" rtlCol="0" anchor="ctr"/>
          <a:lstStyle/>
          <a:p>
            <a:pPr algn="ctr" indent="0" marL="0">
              <a:buNone/>
            </a:pPr>
            <a:r>
              <a:rPr lang="en-US" sz="1000" dirty="0">
                <a:solidFill>
                  <a:srgbClr val="2D2D2D"/>
                </a:solidFill>
                <a:latin typeface="Calibri" pitchFamily="34" charset="0"/>
                <a:ea typeface="Calibri" pitchFamily="34" charset="-122"/>
                <a:cs typeface="Calibri" pitchFamily="34" charset="-120"/>
              </a:rPr>
              <a:t>アプリ利用者No.1</a:t>
            </a:r>
            <a:endParaRPr lang="en-US" sz="1000" dirty="0"/>
          </a:p>
        </p:txBody>
      </p:sp>
      <p:sp>
        <p:nvSpPr>
          <p:cNvPr id="13" name="Shape 11"/>
          <p:cNvSpPr/>
          <p:nvPr/>
        </p:nvSpPr>
        <p:spPr>
          <a:xfrm>
            <a:off x="2866644" y="1783080"/>
            <a:ext cx="1371600" cy="9144"/>
          </a:xfrm>
          <a:prstGeom prst="rect">
            <a:avLst/>
          </a:prstGeom>
          <a:solidFill>
            <a:srgbClr val="E0D5C5"/>
          </a:solidFill>
          <a:ln/>
        </p:spPr>
      </p:sp>
      <p:sp>
        <p:nvSpPr>
          <p:cNvPr id="14" name="Text 12"/>
          <p:cNvSpPr/>
          <p:nvPr/>
        </p:nvSpPr>
        <p:spPr>
          <a:xfrm>
            <a:off x="2683764" y="1874520"/>
            <a:ext cx="1737360" cy="457200"/>
          </a:xfrm>
          <a:prstGeom prst="rect">
            <a:avLst/>
          </a:prstGeom>
          <a:noFill/>
          <a:ln/>
        </p:spPr>
        <p:txBody>
          <a:bodyPr wrap="square" lIns="0" tIns="0" rIns="0" bIns="0" rtlCol="0" anchor="ctr"/>
          <a:lstStyle/>
          <a:p>
            <a:pPr algn="ctr" indent="0" marL="0">
              <a:buNone/>
            </a:pPr>
            <a:r>
              <a:rPr lang="en-US" sz="1000" dirty="0">
                <a:solidFill>
                  <a:srgbClr val="2D2D2D"/>
                </a:solidFill>
                <a:latin typeface="Calibri" pitchFamily="34" charset="0"/>
                <a:ea typeface="Calibri" pitchFamily="34" charset="-122"/>
                <a:cs typeface="Calibri" pitchFamily="34" charset="-120"/>
              </a:rPr>
              <a:t>演出の多様性（25種+）</a:t>
            </a:r>
            <a:endParaRPr lang="en-US" sz="1000" dirty="0"/>
          </a:p>
        </p:txBody>
      </p:sp>
      <p:sp>
        <p:nvSpPr>
          <p:cNvPr id="15" name="Text 13"/>
          <p:cNvSpPr/>
          <p:nvPr/>
        </p:nvSpPr>
        <p:spPr>
          <a:xfrm>
            <a:off x="2592324" y="2423160"/>
            <a:ext cx="1920240" cy="274320"/>
          </a:xfrm>
          <a:prstGeom prst="rect">
            <a:avLst/>
          </a:prstGeom>
          <a:noFill/>
          <a:ln/>
        </p:spPr>
        <p:txBody>
          <a:bodyPr wrap="square" lIns="0" tIns="0" rIns="0" bIns="0" rtlCol="0" anchor="ctr"/>
          <a:lstStyle/>
          <a:p>
            <a:pPr algn="ctr" indent="0" marL="0">
              <a:buNone/>
            </a:pPr>
            <a:r>
              <a:rPr lang="en-US" sz="1000" dirty="0">
                <a:solidFill>
                  <a:srgbClr val="999999"/>
                </a:solidFill>
                <a:latin typeface="Calibri" pitchFamily="34" charset="0"/>
                <a:ea typeface="Calibri" pitchFamily="34" charset="-122"/>
                <a:cs typeface="Calibri" pitchFamily="34" charset="-120"/>
              </a:rPr>
              <a:t>150万人+</a:t>
            </a:r>
            <a:endParaRPr lang="en-US" sz="1000" dirty="0"/>
          </a:p>
        </p:txBody>
      </p:sp>
      <p:sp>
        <p:nvSpPr>
          <p:cNvPr id="16" name="Shape 14"/>
          <p:cNvSpPr/>
          <p:nvPr/>
        </p:nvSpPr>
        <p:spPr>
          <a:xfrm>
            <a:off x="4631436" y="1005840"/>
            <a:ext cx="1920240" cy="2011680"/>
          </a:xfrm>
          <a:prstGeom prst="roundRect">
            <a:avLst>
              <a:gd name="adj" fmla="val 3810"/>
            </a:avLst>
          </a:prstGeom>
          <a:solidFill>
            <a:srgbClr val="FDF5E6"/>
          </a:solidFill>
          <a:ln/>
          <a:effectLst>
            <a:outerShdw sx="100000" sy="100000" kx="0" ky="0" algn="bl" rotWithShape="0" blurRad="50800" dist="25400" dir="18900000">
              <a:srgbClr val="000000">
                <a:alpha val="12000"/>
              </a:srgbClr>
            </a:outerShdw>
          </a:effectLst>
        </p:spPr>
      </p:sp>
      <p:sp>
        <p:nvSpPr>
          <p:cNvPr id="17" name="Text 15"/>
          <p:cNvSpPr/>
          <p:nvPr/>
        </p:nvSpPr>
        <p:spPr>
          <a:xfrm>
            <a:off x="4631436" y="1143000"/>
            <a:ext cx="1920240" cy="320040"/>
          </a:xfrm>
          <a:prstGeom prst="rect">
            <a:avLst/>
          </a:prstGeom>
          <a:noFill/>
          <a:ln/>
        </p:spPr>
        <p:txBody>
          <a:bodyPr wrap="square" lIns="0" tIns="0" rIns="0" bIns="0" rtlCol="0" anchor="ctr"/>
          <a:lstStyle/>
          <a:p>
            <a:pPr algn="ctr" indent="0" marL="0">
              <a:buNone/>
            </a:pPr>
            <a:r>
              <a:rPr lang="en-US" sz="1200" b="1" dirty="0">
                <a:solidFill>
                  <a:srgbClr val="8B0000"/>
                </a:solidFill>
                <a:latin typeface="Calibri" pitchFamily="34" charset="0"/>
                <a:ea typeface="Calibri" pitchFamily="34" charset="-122"/>
                <a:cs typeface="Calibri" pitchFamily="34" charset="-120"/>
              </a:rPr>
              <a:t>Clove（クローブ）</a:t>
            </a:r>
            <a:endParaRPr lang="en-US" sz="1200" dirty="0"/>
          </a:p>
        </p:txBody>
      </p:sp>
      <p:sp>
        <p:nvSpPr>
          <p:cNvPr id="18" name="Text 16"/>
          <p:cNvSpPr/>
          <p:nvPr/>
        </p:nvSpPr>
        <p:spPr>
          <a:xfrm>
            <a:off x="4722876" y="1463040"/>
            <a:ext cx="1737360" cy="274320"/>
          </a:xfrm>
          <a:prstGeom prst="rect">
            <a:avLst/>
          </a:prstGeom>
          <a:noFill/>
          <a:ln/>
        </p:spPr>
        <p:txBody>
          <a:bodyPr wrap="square" lIns="0" tIns="0" rIns="0" bIns="0" rtlCol="0" anchor="ctr"/>
          <a:lstStyle/>
          <a:p>
            <a:pPr algn="ctr" indent="0" marL="0">
              <a:buNone/>
            </a:pPr>
            <a:r>
              <a:rPr lang="en-US" sz="1000" dirty="0">
                <a:solidFill>
                  <a:srgbClr val="2D2D2D"/>
                </a:solidFill>
                <a:latin typeface="Calibri" pitchFamily="34" charset="0"/>
                <a:ea typeface="Calibri" pitchFamily="34" charset="-122"/>
                <a:cs typeface="Calibri" pitchFamily="34" charset="-120"/>
              </a:rPr>
              <a:t>実店舗あり</a:t>
            </a:r>
            <a:endParaRPr lang="en-US" sz="1000" dirty="0"/>
          </a:p>
        </p:txBody>
      </p:sp>
      <p:sp>
        <p:nvSpPr>
          <p:cNvPr id="19" name="Shape 17"/>
          <p:cNvSpPr/>
          <p:nvPr/>
        </p:nvSpPr>
        <p:spPr>
          <a:xfrm>
            <a:off x="4905756" y="1783080"/>
            <a:ext cx="1371600" cy="9144"/>
          </a:xfrm>
          <a:prstGeom prst="rect">
            <a:avLst/>
          </a:prstGeom>
          <a:solidFill>
            <a:srgbClr val="E0D5C5"/>
          </a:solidFill>
          <a:ln/>
        </p:spPr>
      </p:sp>
      <p:sp>
        <p:nvSpPr>
          <p:cNvPr id="20" name="Text 18"/>
          <p:cNvSpPr/>
          <p:nvPr/>
        </p:nvSpPr>
        <p:spPr>
          <a:xfrm>
            <a:off x="4722876" y="1874520"/>
            <a:ext cx="1737360" cy="457200"/>
          </a:xfrm>
          <a:prstGeom prst="rect">
            <a:avLst/>
          </a:prstGeom>
          <a:noFill/>
          <a:ln/>
        </p:spPr>
        <p:txBody>
          <a:bodyPr wrap="square" lIns="0" tIns="0" rIns="0" bIns="0" rtlCol="0" anchor="ctr"/>
          <a:lstStyle/>
          <a:p>
            <a:pPr algn="ctr" indent="0" marL="0">
              <a:buNone/>
            </a:pPr>
            <a:r>
              <a:rPr lang="en-US" sz="1000" dirty="0">
                <a:solidFill>
                  <a:srgbClr val="2D2D2D"/>
                </a:solidFill>
                <a:latin typeface="Calibri" pitchFamily="34" charset="0"/>
                <a:ea typeface="Calibri" pitchFamily="34" charset="-122"/>
                <a:cs typeface="Calibri" pitchFamily="34" charset="-120"/>
              </a:rPr>
              <a:t>信頼性・カード管理</a:t>
            </a:r>
            <a:endParaRPr lang="en-US" sz="1000" dirty="0"/>
          </a:p>
        </p:txBody>
      </p:sp>
      <p:sp>
        <p:nvSpPr>
          <p:cNvPr id="21" name="Text 19"/>
          <p:cNvSpPr/>
          <p:nvPr/>
        </p:nvSpPr>
        <p:spPr>
          <a:xfrm>
            <a:off x="4631436" y="2423160"/>
            <a:ext cx="1920240" cy="274320"/>
          </a:xfrm>
          <a:prstGeom prst="rect">
            <a:avLst/>
          </a:prstGeom>
          <a:noFill/>
          <a:ln/>
        </p:spPr>
        <p:txBody>
          <a:bodyPr wrap="square" lIns="0" tIns="0" rIns="0" bIns="0" rtlCol="0" anchor="ctr"/>
          <a:lstStyle/>
          <a:p>
            <a:pPr algn="ctr" indent="0" marL="0">
              <a:buNone/>
            </a:pPr>
            <a:r>
              <a:rPr lang="en-US" sz="1000" dirty="0">
                <a:solidFill>
                  <a:srgbClr val="999999"/>
                </a:solidFill>
                <a:latin typeface="Calibri" pitchFamily="34" charset="0"/>
                <a:ea typeface="Calibri" pitchFamily="34" charset="-122"/>
                <a:cs typeface="Calibri" pitchFamily="34" charset="-120"/>
              </a:rPr>
              <a:t>非公開</a:t>
            </a:r>
            <a:endParaRPr lang="en-US" sz="1000" dirty="0"/>
          </a:p>
        </p:txBody>
      </p:sp>
      <p:sp>
        <p:nvSpPr>
          <p:cNvPr id="22" name="Shape 20"/>
          <p:cNvSpPr/>
          <p:nvPr/>
        </p:nvSpPr>
        <p:spPr>
          <a:xfrm>
            <a:off x="6670548" y="1005840"/>
            <a:ext cx="1920240" cy="2011680"/>
          </a:xfrm>
          <a:prstGeom prst="roundRect">
            <a:avLst>
              <a:gd name="adj" fmla="val 3810"/>
            </a:avLst>
          </a:prstGeom>
          <a:solidFill>
            <a:srgbClr val="FDF5E6"/>
          </a:solidFill>
          <a:ln/>
          <a:effectLst>
            <a:outerShdw sx="100000" sy="100000" kx="0" ky="0" algn="bl" rotWithShape="0" blurRad="50800" dist="25400" dir="18900000">
              <a:srgbClr val="000000">
                <a:alpha val="12000"/>
              </a:srgbClr>
            </a:outerShdw>
          </a:effectLst>
        </p:spPr>
      </p:sp>
      <p:sp>
        <p:nvSpPr>
          <p:cNvPr id="23" name="Text 21"/>
          <p:cNvSpPr/>
          <p:nvPr/>
        </p:nvSpPr>
        <p:spPr>
          <a:xfrm>
            <a:off x="6670548" y="1143000"/>
            <a:ext cx="1920240" cy="320040"/>
          </a:xfrm>
          <a:prstGeom prst="rect">
            <a:avLst/>
          </a:prstGeom>
          <a:noFill/>
          <a:ln/>
        </p:spPr>
        <p:txBody>
          <a:bodyPr wrap="square" lIns="0" tIns="0" rIns="0" bIns="0" rtlCol="0" anchor="ctr"/>
          <a:lstStyle/>
          <a:p>
            <a:pPr algn="ctr" indent="0" marL="0">
              <a:buNone/>
            </a:pPr>
            <a:r>
              <a:rPr lang="en-US" sz="1200" b="1" dirty="0">
                <a:solidFill>
                  <a:srgbClr val="8B0000"/>
                </a:solidFill>
                <a:latin typeface="Calibri" pitchFamily="34" charset="0"/>
                <a:ea typeface="Calibri" pitchFamily="34" charset="-122"/>
                <a:cs typeface="Calibri" pitchFamily="34" charset="-120"/>
              </a:rPr>
              <a:t>IRIS / magi</a:t>
            </a:r>
            <a:endParaRPr lang="en-US" sz="1200" dirty="0"/>
          </a:p>
        </p:txBody>
      </p:sp>
      <p:sp>
        <p:nvSpPr>
          <p:cNvPr id="24" name="Text 22"/>
          <p:cNvSpPr/>
          <p:nvPr/>
        </p:nvSpPr>
        <p:spPr>
          <a:xfrm>
            <a:off x="6761988" y="1463040"/>
            <a:ext cx="1737360" cy="274320"/>
          </a:xfrm>
          <a:prstGeom prst="rect">
            <a:avLst/>
          </a:prstGeom>
          <a:noFill/>
          <a:ln/>
        </p:spPr>
        <p:txBody>
          <a:bodyPr wrap="square" lIns="0" tIns="0" rIns="0" bIns="0" rtlCol="0" anchor="ctr"/>
          <a:lstStyle/>
          <a:p>
            <a:pPr algn="ctr" indent="0" marL="0">
              <a:buNone/>
            </a:pPr>
            <a:r>
              <a:rPr lang="en-US" sz="1000" dirty="0">
                <a:solidFill>
                  <a:srgbClr val="2D2D2D"/>
                </a:solidFill>
                <a:latin typeface="Calibri" pitchFamily="34" charset="0"/>
                <a:ea typeface="Calibri" pitchFamily="34" charset="-122"/>
                <a:cs typeface="Calibri" pitchFamily="34" charset="-120"/>
              </a:rPr>
              <a:t>低価格帯充実</a:t>
            </a:r>
            <a:endParaRPr lang="en-US" sz="1000" dirty="0"/>
          </a:p>
        </p:txBody>
      </p:sp>
      <p:sp>
        <p:nvSpPr>
          <p:cNvPr id="25" name="Shape 23"/>
          <p:cNvSpPr/>
          <p:nvPr/>
        </p:nvSpPr>
        <p:spPr>
          <a:xfrm>
            <a:off x="6944868" y="1783080"/>
            <a:ext cx="1371600" cy="9144"/>
          </a:xfrm>
          <a:prstGeom prst="rect">
            <a:avLst/>
          </a:prstGeom>
          <a:solidFill>
            <a:srgbClr val="E0D5C5"/>
          </a:solidFill>
          <a:ln/>
        </p:spPr>
      </p:sp>
      <p:sp>
        <p:nvSpPr>
          <p:cNvPr id="26" name="Text 24"/>
          <p:cNvSpPr/>
          <p:nvPr/>
        </p:nvSpPr>
        <p:spPr>
          <a:xfrm>
            <a:off x="6761988" y="1874520"/>
            <a:ext cx="1737360" cy="457200"/>
          </a:xfrm>
          <a:prstGeom prst="rect">
            <a:avLst/>
          </a:prstGeom>
          <a:noFill/>
          <a:ln/>
        </p:spPr>
        <p:txBody>
          <a:bodyPr wrap="square" lIns="0" tIns="0" rIns="0" bIns="0" rtlCol="0" anchor="ctr"/>
          <a:lstStyle/>
          <a:p>
            <a:pPr algn="ctr" indent="0" marL="0">
              <a:buNone/>
            </a:pPr>
            <a:r>
              <a:rPr lang="en-US" sz="1000" dirty="0">
                <a:solidFill>
                  <a:srgbClr val="2D2D2D"/>
                </a:solidFill>
                <a:latin typeface="Calibri" pitchFamily="34" charset="0"/>
                <a:ea typeface="Calibri" pitchFamily="34" charset="-122"/>
                <a:cs typeface="Calibri" pitchFamily="34" charset="-120"/>
              </a:rPr>
              <a:t>初心者アクセス</a:t>
            </a:r>
            <a:endParaRPr lang="en-US" sz="1000" dirty="0"/>
          </a:p>
        </p:txBody>
      </p:sp>
      <p:sp>
        <p:nvSpPr>
          <p:cNvPr id="27" name="Text 25"/>
          <p:cNvSpPr/>
          <p:nvPr/>
        </p:nvSpPr>
        <p:spPr>
          <a:xfrm>
            <a:off x="6670548" y="2423160"/>
            <a:ext cx="1920240" cy="274320"/>
          </a:xfrm>
          <a:prstGeom prst="rect">
            <a:avLst/>
          </a:prstGeom>
          <a:noFill/>
          <a:ln/>
        </p:spPr>
        <p:txBody>
          <a:bodyPr wrap="square" lIns="0" tIns="0" rIns="0" bIns="0" rtlCol="0" anchor="ctr"/>
          <a:lstStyle/>
          <a:p>
            <a:pPr algn="ctr" indent="0" marL="0">
              <a:buNone/>
            </a:pPr>
            <a:r>
              <a:rPr lang="en-US" sz="1000" dirty="0">
                <a:solidFill>
                  <a:srgbClr val="999999"/>
                </a:solidFill>
                <a:latin typeface="Calibri" pitchFamily="34" charset="0"/>
                <a:ea typeface="Calibri" pitchFamily="34" charset="-122"/>
                <a:cs typeface="Calibri" pitchFamily="34" charset="-120"/>
              </a:rPr>
              <a:t>非公開</a:t>
            </a:r>
            <a:endParaRPr lang="en-US" sz="1000" dirty="0"/>
          </a:p>
        </p:txBody>
      </p:sp>
      <p:sp>
        <p:nvSpPr>
          <p:cNvPr id="28" name="Shape 26"/>
          <p:cNvSpPr/>
          <p:nvPr/>
        </p:nvSpPr>
        <p:spPr>
          <a:xfrm>
            <a:off x="548640" y="3291840"/>
            <a:ext cx="8046720" cy="1188720"/>
          </a:xfrm>
          <a:prstGeom prst="roundRect">
            <a:avLst>
              <a:gd name="adj" fmla="val 6154"/>
            </a:avLst>
          </a:prstGeom>
          <a:solidFill>
            <a:srgbClr val="C41E3A"/>
          </a:solidFill>
          <a:ln/>
          <a:effectLst>
            <a:outerShdw sx="100000" sy="100000" kx="0" ky="0" algn="bl" rotWithShape="0" blurRad="50800" dist="25400" dir="18900000">
              <a:srgbClr val="000000">
                <a:alpha val="12000"/>
              </a:srgbClr>
            </a:outerShdw>
          </a:effectLst>
        </p:spPr>
      </p:sp>
      <p:sp>
        <p:nvSpPr>
          <p:cNvPr id="29" name="Text 27"/>
          <p:cNvSpPr/>
          <p:nvPr/>
        </p:nvSpPr>
        <p:spPr>
          <a:xfrm>
            <a:off x="731520" y="3383280"/>
            <a:ext cx="2286000" cy="32004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ORIPA（当社）</a:t>
            </a:r>
            <a:endParaRPr lang="en-US" sz="1600" dirty="0"/>
          </a:p>
        </p:txBody>
      </p:sp>
      <p:sp>
        <p:nvSpPr>
          <p:cNvPr id="30" name="Text 28"/>
          <p:cNvSpPr/>
          <p:nvPr/>
        </p:nvSpPr>
        <p:spPr>
          <a:xfrm>
            <a:off x="731520" y="3749040"/>
            <a:ext cx="7680960" cy="274320"/>
          </a:xfrm>
          <a:prstGeom prst="rect">
            <a:avLst/>
          </a:prstGeom>
          <a:noFill/>
          <a:ln/>
        </p:spPr>
        <p:txBody>
          <a:bodyPr wrap="square" lIns="0" tIns="0" rIns="0" bIns="0" rtlCol="0" anchor="ctr"/>
          <a:lstStyle/>
          <a:p>
            <a:pPr algn="l" indent="0" marL="0">
              <a:buNone/>
            </a:pPr>
            <a:r>
              <a:rPr lang="en-US" sz="1200" dirty="0">
                <a:solidFill>
                  <a:srgbClr val="D4A017"/>
                </a:solidFill>
                <a:latin typeface="Calibri" pitchFamily="34" charset="0"/>
                <a:ea typeface="Calibri" pitchFamily="34" charset="-122"/>
                <a:cs typeface="Calibri" pitchFamily="34" charset="-120"/>
              </a:rPr>
              <a:t>在庫消化型の透明性  |  冪等Stripe決済  |  バーチャル在庫  |  低初期投資</a:t>
            </a:r>
            <a:endParaRPr lang="en-US" sz="1200" dirty="0"/>
          </a:p>
        </p:txBody>
      </p:sp>
      <p:sp>
        <p:nvSpPr>
          <p:cNvPr id="31" name="Text 29"/>
          <p:cNvSpPr/>
          <p:nvPr/>
        </p:nvSpPr>
        <p:spPr>
          <a:xfrm>
            <a:off x="731520" y="4069080"/>
            <a:ext cx="7680960" cy="228600"/>
          </a:xfrm>
          <a:prstGeom prst="rect">
            <a:avLst/>
          </a:prstGeom>
          <a:noFill/>
          <a:ln/>
        </p:spPr>
        <p:txBody>
          <a:bodyPr wrap="square" lIns="0" tIns="0" rIns="0" bIns="0" rtlCol="0" anchor="ctr"/>
          <a:lstStyle/>
          <a:p>
            <a:pPr algn="l" indent="0" marL="0">
              <a:buNone/>
            </a:pPr>
            <a:r>
              <a:rPr lang="en-US" sz="1100" dirty="0">
                <a:solidFill>
                  <a:srgbClr val="FFCCCC"/>
                </a:solidFill>
                <a:latin typeface="Calibri" pitchFamily="34" charset="0"/>
                <a:ea typeface="Calibri" pitchFamily="34" charset="-122"/>
                <a:cs typeface="Calibri" pitchFamily="34" charset="-120"/>
              </a:rPr>
              <a:t>技術的優位性を武器に、透明性とセキュリティで信頼を獲得</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algn="l" indent="0" marL="0">
              <a:buNone/>
            </a:pPr>
            <a:r>
              <a:rPr lang="en-US" sz="3200" b="1" dirty="0">
                <a:solidFill>
                  <a:srgbClr val="8B0000"/>
                </a:solidFill>
                <a:latin typeface="Calibri" pitchFamily="34" charset="0"/>
                <a:ea typeface="Calibri" pitchFamily="34" charset="-122"/>
                <a:cs typeface="Calibri" pitchFamily="34" charset="-120"/>
              </a:rPr>
              <a:t>ORIPAの競争優位性</a:t>
            </a:r>
            <a:endParaRPr lang="en-US" sz="3200" dirty="0"/>
          </a:p>
        </p:txBody>
      </p:sp>
      <p:sp>
        <p:nvSpPr>
          <p:cNvPr id="3" name="Text 1"/>
          <p:cNvSpPr/>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8</a:t>
            </a:r>
            <a:endParaRPr lang="en-US" sz="900" dirty="0"/>
          </a:p>
        </p:txBody>
      </p:sp>
      <p:sp>
        <p:nvSpPr>
          <p:cNvPr id="4" name="Shape 2"/>
          <p:cNvSpPr/>
          <p:nvPr/>
        </p:nvSpPr>
        <p:spPr>
          <a:xfrm>
            <a:off x="754380" y="1005840"/>
            <a:ext cx="3749040" cy="1645920"/>
          </a:xfrm>
          <a:prstGeom prst="roundRect">
            <a:avLst>
              <a:gd name="adj" fmla="val 4444"/>
            </a:avLst>
          </a:prstGeom>
          <a:solidFill>
            <a:srgbClr val="FDF5E6"/>
          </a:solidFill>
          <a:ln/>
          <a:effectLst>
            <a:outerShdw sx="100000" sy="100000" kx="0" ky="0" algn="bl" rotWithShape="0" blurRad="50800" dist="25400" dir="18900000">
              <a:srgbClr val="000000">
                <a:alpha val="12000"/>
              </a:srgbClr>
            </a:outerShdw>
          </a:effectLst>
        </p:spPr>
      </p:sp>
      <p:sp>
        <p:nvSpPr>
          <p:cNvPr id="5" name="Shape 3"/>
          <p:cNvSpPr/>
          <p:nvPr/>
        </p:nvSpPr>
        <p:spPr>
          <a:xfrm>
            <a:off x="937260" y="1188720"/>
            <a:ext cx="457200" cy="457200"/>
          </a:xfrm>
          <a:prstGeom prst="ellipse">
            <a:avLst/>
          </a:prstGeom>
          <a:solidFill>
            <a:srgbClr val="C41E3A"/>
          </a:solidFill>
          <a:ln/>
        </p:spPr>
      </p:sp>
      <p:sp>
        <p:nvSpPr>
          <p:cNvPr id="6" name="Text 4"/>
          <p:cNvSpPr/>
          <p:nvPr/>
        </p:nvSpPr>
        <p:spPr>
          <a:xfrm>
            <a:off x="1531620" y="1207008"/>
            <a:ext cx="2743200" cy="320040"/>
          </a:xfrm>
          <a:prstGeom prst="rect">
            <a:avLst/>
          </a:prstGeom>
          <a:noFill/>
          <a:ln/>
        </p:spPr>
        <p:txBody>
          <a:bodyPr wrap="square" lIns="0" tIns="0" rIns="0" bIns="0" rtlCol="0" anchor="ctr"/>
          <a:lstStyle/>
          <a:p>
            <a:pPr algn="l" indent="0" marL="0">
              <a:buNone/>
            </a:pPr>
            <a:r>
              <a:rPr lang="en-US" sz="1800" b="1" dirty="0">
                <a:solidFill>
                  <a:srgbClr val="8B0000"/>
                </a:solidFill>
                <a:latin typeface="Calibri" pitchFamily="34" charset="0"/>
                <a:ea typeface="Calibri" pitchFamily="34" charset="-122"/>
                <a:cs typeface="Calibri" pitchFamily="34" charset="-120"/>
              </a:rPr>
              <a:t>透明性</a:t>
            </a:r>
            <a:endParaRPr lang="en-US" sz="1800" dirty="0"/>
          </a:p>
        </p:txBody>
      </p:sp>
      <p:sp>
        <p:nvSpPr>
          <p:cNvPr id="7" name="Text 5"/>
          <p:cNvSpPr/>
          <p:nvPr/>
        </p:nvSpPr>
        <p:spPr>
          <a:xfrm>
            <a:off x="937260" y="1691640"/>
            <a:ext cx="3383280" cy="777240"/>
          </a:xfrm>
          <a:prstGeom prst="rect">
            <a:avLst/>
          </a:prstGeom>
          <a:noFill/>
          <a:ln/>
        </p:spPr>
        <p:txBody>
          <a:bodyPr wrap="square" lIns="0" tIns="0" rIns="0" bIns="0" rtlCol="0" anchor="ctr"/>
          <a:lstStyle/>
          <a:p>
            <a:pPr algn="l" indent="0" marL="0">
              <a:lnSpc>
                <a:spcPct val="140000"/>
              </a:lnSpc>
              <a:buNone/>
            </a:pPr>
            <a:r>
              <a:rPr lang="en-US" sz="1100" dirty="0">
                <a:solidFill>
                  <a:srgbClr val="2D2D2D"/>
                </a:solidFill>
                <a:latin typeface="Calibri" pitchFamily="34" charset="0"/>
                <a:ea typeface="Calibri" pitchFamily="34" charset="-122"/>
                <a:cs typeface="Calibri" pitchFamily="34" charset="-120"/>
              </a:rPr>
              <a:t>在庫消化型モデルにより、表示確率と実際の当選確率が常に一致。改正景品表示法への完全準拠。</a:t>
            </a:r>
            <a:endParaRPr lang="en-US" sz="1100" dirty="0"/>
          </a:p>
        </p:txBody>
      </p:sp>
      <p:sp>
        <p:nvSpPr>
          <p:cNvPr id="8" name="Shape 6"/>
          <p:cNvSpPr/>
          <p:nvPr/>
        </p:nvSpPr>
        <p:spPr>
          <a:xfrm>
            <a:off x="4640580" y="1005840"/>
            <a:ext cx="3749040" cy="1645920"/>
          </a:xfrm>
          <a:prstGeom prst="roundRect">
            <a:avLst>
              <a:gd name="adj" fmla="val 4444"/>
            </a:avLst>
          </a:prstGeom>
          <a:solidFill>
            <a:srgbClr val="FDF5E6"/>
          </a:solidFill>
          <a:ln/>
          <a:effectLst>
            <a:outerShdw sx="100000" sy="100000" kx="0" ky="0" algn="bl" rotWithShape="0" blurRad="50800" dist="25400" dir="18900000">
              <a:srgbClr val="000000">
                <a:alpha val="12000"/>
              </a:srgbClr>
            </a:outerShdw>
          </a:effectLst>
        </p:spPr>
      </p:sp>
      <p:sp>
        <p:nvSpPr>
          <p:cNvPr id="9" name="Shape 7"/>
          <p:cNvSpPr/>
          <p:nvPr/>
        </p:nvSpPr>
        <p:spPr>
          <a:xfrm>
            <a:off x="4823460" y="1188720"/>
            <a:ext cx="457200" cy="457200"/>
          </a:xfrm>
          <a:prstGeom prst="ellipse">
            <a:avLst/>
          </a:prstGeom>
          <a:solidFill>
            <a:srgbClr val="8B0000"/>
          </a:solidFill>
          <a:ln/>
        </p:spPr>
      </p:sp>
      <p:sp>
        <p:nvSpPr>
          <p:cNvPr id="10" name="Text 8"/>
          <p:cNvSpPr/>
          <p:nvPr/>
        </p:nvSpPr>
        <p:spPr>
          <a:xfrm>
            <a:off x="5417820" y="1207008"/>
            <a:ext cx="2743200" cy="320040"/>
          </a:xfrm>
          <a:prstGeom prst="rect">
            <a:avLst/>
          </a:prstGeom>
          <a:noFill/>
          <a:ln/>
        </p:spPr>
        <p:txBody>
          <a:bodyPr wrap="square" lIns="0" tIns="0" rIns="0" bIns="0" rtlCol="0" anchor="ctr"/>
          <a:lstStyle/>
          <a:p>
            <a:pPr algn="l" indent="0" marL="0">
              <a:buNone/>
            </a:pPr>
            <a:r>
              <a:rPr lang="en-US" sz="1800" b="1" dirty="0">
                <a:solidFill>
                  <a:srgbClr val="8B0000"/>
                </a:solidFill>
                <a:latin typeface="Calibri" pitchFamily="34" charset="0"/>
                <a:ea typeface="Calibri" pitchFamily="34" charset="-122"/>
                <a:cs typeface="Calibri" pitchFamily="34" charset="-120"/>
              </a:rPr>
              <a:t>技術基盤</a:t>
            </a:r>
            <a:endParaRPr lang="en-US" sz="1800" dirty="0"/>
          </a:p>
        </p:txBody>
      </p:sp>
      <p:sp>
        <p:nvSpPr>
          <p:cNvPr id="11" name="Text 9"/>
          <p:cNvSpPr/>
          <p:nvPr/>
        </p:nvSpPr>
        <p:spPr>
          <a:xfrm>
            <a:off x="4823460" y="1691640"/>
            <a:ext cx="3383280" cy="777240"/>
          </a:xfrm>
          <a:prstGeom prst="rect">
            <a:avLst/>
          </a:prstGeom>
          <a:noFill/>
          <a:ln/>
        </p:spPr>
        <p:txBody>
          <a:bodyPr wrap="square" lIns="0" tIns="0" rIns="0" bIns="0" rtlCol="0" anchor="ctr"/>
          <a:lstStyle/>
          <a:p>
            <a:pPr algn="l" indent="0" marL="0">
              <a:lnSpc>
                <a:spcPct val="140000"/>
              </a:lnSpc>
              <a:buNone/>
            </a:pPr>
            <a:r>
              <a:rPr lang="en-US" sz="1100" dirty="0">
                <a:solidFill>
                  <a:srgbClr val="2D2D2D"/>
                </a:solidFill>
                <a:latin typeface="Calibri" pitchFamily="34" charset="0"/>
                <a:ea typeface="Calibri" pitchFamily="34" charset="-122"/>
                <a:cs typeface="Calibri" pitchFamily="34" charset="-120"/>
              </a:rPr>
              <a:t>pgcrypto暗号学的乱数、RLS（行レベルセキュリティ）、冪等Webhook処理でセキュリティを技術的に担保。</a:t>
            </a:r>
            <a:endParaRPr lang="en-US" sz="1100" dirty="0"/>
          </a:p>
        </p:txBody>
      </p:sp>
      <p:sp>
        <p:nvSpPr>
          <p:cNvPr id="12" name="Shape 10"/>
          <p:cNvSpPr/>
          <p:nvPr/>
        </p:nvSpPr>
        <p:spPr>
          <a:xfrm>
            <a:off x="754380" y="2788920"/>
            <a:ext cx="3749040" cy="1645920"/>
          </a:xfrm>
          <a:prstGeom prst="roundRect">
            <a:avLst>
              <a:gd name="adj" fmla="val 4444"/>
            </a:avLst>
          </a:prstGeom>
          <a:solidFill>
            <a:srgbClr val="FDF5E6"/>
          </a:solidFill>
          <a:ln/>
          <a:effectLst>
            <a:outerShdw sx="100000" sy="100000" kx="0" ky="0" algn="bl" rotWithShape="0" blurRad="50800" dist="25400" dir="18900000">
              <a:srgbClr val="000000">
                <a:alpha val="12000"/>
              </a:srgbClr>
            </a:outerShdw>
          </a:effectLst>
        </p:spPr>
      </p:sp>
      <p:sp>
        <p:nvSpPr>
          <p:cNvPr id="13" name="Shape 11"/>
          <p:cNvSpPr/>
          <p:nvPr/>
        </p:nvSpPr>
        <p:spPr>
          <a:xfrm>
            <a:off x="937260" y="2971800"/>
            <a:ext cx="457200" cy="457200"/>
          </a:xfrm>
          <a:prstGeom prst="ellipse">
            <a:avLst/>
          </a:prstGeom>
          <a:solidFill>
            <a:srgbClr val="D4A017"/>
          </a:solidFill>
          <a:ln/>
        </p:spPr>
      </p:sp>
      <p:sp>
        <p:nvSpPr>
          <p:cNvPr id="14" name="Text 12"/>
          <p:cNvSpPr/>
          <p:nvPr/>
        </p:nvSpPr>
        <p:spPr>
          <a:xfrm>
            <a:off x="1531620" y="2990088"/>
            <a:ext cx="2743200" cy="320040"/>
          </a:xfrm>
          <a:prstGeom prst="rect">
            <a:avLst/>
          </a:prstGeom>
          <a:noFill/>
          <a:ln/>
        </p:spPr>
        <p:txBody>
          <a:bodyPr wrap="square" lIns="0" tIns="0" rIns="0" bIns="0" rtlCol="0" anchor="ctr"/>
          <a:lstStyle/>
          <a:p>
            <a:pPr algn="l" indent="0" marL="0">
              <a:buNone/>
            </a:pPr>
            <a:r>
              <a:rPr lang="en-US" sz="1800" b="1" dirty="0">
                <a:solidFill>
                  <a:srgbClr val="8B0000"/>
                </a:solidFill>
                <a:latin typeface="Calibri" pitchFamily="34" charset="0"/>
                <a:ea typeface="Calibri" pitchFamily="34" charset="-122"/>
                <a:cs typeface="Calibri" pitchFamily="34" charset="-120"/>
              </a:rPr>
              <a:t>資金効率</a:t>
            </a:r>
            <a:endParaRPr lang="en-US" sz="1800" dirty="0"/>
          </a:p>
        </p:txBody>
      </p:sp>
      <p:sp>
        <p:nvSpPr>
          <p:cNvPr id="15" name="Text 13"/>
          <p:cNvSpPr/>
          <p:nvPr/>
        </p:nvSpPr>
        <p:spPr>
          <a:xfrm>
            <a:off x="937260" y="3474720"/>
            <a:ext cx="3383280" cy="777240"/>
          </a:xfrm>
          <a:prstGeom prst="rect">
            <a:avLst/>
          </a:prstGeom>
          <a:noFill/>
          <a:ln/>
        </p:spPr>
        <p:txBody>
          <a:bodyPr wrap="square" lIns="0" tIns="0" rIns="0" bIns="0" rtlCol="0" anchor="ctr"/>
          <a:lstStyle/>
          <a:p>
            <a:pPr algn="l" indent="0" marL="0">
              <a:lnSpc>
                <a:spcPct val="140000"/>
              </a:lnSpc>
              <a:buNone/>
            </a:pPr>
            <a:r>
              <a:rPr lang="en-US" sz="1100" dirty="0">
                <a:solidFill>
                  <a:srgbClr val="2D2D2D"/>
                </a:solidFill>
                <a:latin typeface="Calibri" pitchFamily="34" charset="0"/>
                <a:ea typeface="Calibri" pitchFamily="34" charset="-122"/>
                <a:cs typeface="Calibri" pitchFamily="34" charset="-120"/>
              </a:rPr>
              <a:t>バーチャル在庫モデルで受注後に調達。初期在庫投資リスクを大幅に低減し、キャッシュフローを改善。</a:t>
            </a:r>
            <a:endParaRPr lang="en-US" sz="1100" dirty="0"/>
          </a:p>
        </p:txBody>
      </p:sp>
      <p:sp>
        <p:nvSpPr>
          <p:cNvPr id="16" name="Shape 14"/>
          <p:cNvSpPr/>
          <p:nvPr/>
        </p:nvSpPr>
        <p:spPr>
          <a:xfrm>
            <a:off x="4640580" y="2788920"/>
            <a:ext cx="3749040" cy="1645920"/>
          </a:xfrm>
          <a:prstGeom prst="roundRect">
            <a:avLst>
              <a:gd name="adj" fmla="val 4444"/>
            </a:avLst>
          </a:prstGeom>
          <a:solidFill>
            <a:srgbClr val="FDF5E6"/>
          </a:solidFill>
          <a:ln/>
          <a:effectLst>
            <a:outerShdw sx="100000" sy="100000" kx="0" ky="0" algn="bl" rotWithShape="0" blurRad="50800" dist="25400" dir="18900000">
              <a:srgbClr val="000000">
                <a:alpha val="12000"/>
              </a:srgbClr>
            </a:outerShdw>
          </a:effectLst>
        </p:spPr>
      </p:sp>
      <p:sp>
        <p:nvSpPr>
          <p:cNvPr id="17" name="Shape 15"/>
          <p:cNvSpPr/>
          <p:nvPr/>
        </p:nvSpPr>
        <p:spPr>
          <a:xfrm>
            <a:off x="4823460" y="2971800"/>
            <a:ext cx="457200" cy="457200"/>
          </a:xfrm>
          <a:prstGeom prst="ellipse">
            <a:avLst/>
          </a:prstGeom>
          <a:solidFill>
            <a:srgbClr val="B8860B"/>
          </a:solidFill>
          <a:ln/>
        </p:spPr>
      </p:sp>
      <p:sp>
        <p:nvSpPr>
          <p:cNvPr id="18" name="Text 16"/>
          <p:cNvSpPr/>
          <p:nvPr/>
        </p:nvSpPr>
        <p:spPr>
          <a:xfrm>
            <a:off x="5417820" y="2990088"/>
            <a:ext cx="2743200" cy="320040"/>
          </a:xfrm>
          <a:prstGeom prst="rect">
            <a:avLst/>
          </a:prstGeom>
          <a:noFill/>
          <a:ln/>
        </p:spPr>
        <p:txBody>
          <a:bodyPr wrap="square" lIns="0" tIns="0" rIns="0" bIns="0" rtlCol="0" anchor="ctr"/>
          <a:lstStyle/>
          <a:p>
            <a:pPr algn="l" indent="0" marL="0">
              <a:buNone/>
            </a:pPr>
            <a:r>
              <a:rPr lang="en-US" sz="1800" b="1" dirty="0">
                <a:solidFill>
                  <a:srgbClr val="8B0000"/>
                </a:solidFill>
                <a:latin typeface="Calibri" pitchFamily="34" charset="0"/>
                <a:ea typeface="Calibri" pitchFamily="34" charset="-122"/>
                <a:cs typeface="Calibri" pitchFamily="34" charset="-120"/>
              </a:rPr>
              <a:t>スケーラビリティ</a:t>
            </a:r>
            <a:endParaRPr lang="en-US" sz="1800" dirty="0"/>
          </a:p>
        </p:txBody>
      </p:sp>
      <p:sp>
        <p:nvSpPr>
          <p:cNvPr id="19" name="Text 17"/>
          <p:cNvSpPr/>
          <p:nvPr/>
        </p:nvSpPr>
        <p:spPr>
          <a:xfrm>
            <a:off x="4823460" y="3474720"/>
            <a:ext cx="3383280" cy="777240"/>
          </a:xfrm>
          <a:prstGeom prst="rect">
            <a:avLst/>
          </a:prstGeom>
          <a:noFill/>
          <a:ln/>
        </p:spPr>
        <p:txBody>
          <a:bodyPr wrap="square" lIns="0" tIns="0" rIns="0" bIns="0" rtlCol="0" anchor="ctr"/>
          <a:lstStyle/>
          <a:p>
            <a:pPr algn="l" indent="0" marL="0">
              <a:lnSpc>
                <a:spcPct val="140000"/>
              </a:lnSpc>
              <a:buNone/>
            </a:pPr>
            <a:r>
              <a:rPr lang="en-US" sz="1100" dirty="0">
                <a:solidFill>
                  <a:srgbClr val="2D2D2D"/>
                </a:solidFill>
                <a:latin typeface="Calibri" pitchFamily="34" charset="0"/>
                <a:ea typeface="Calibri" pitchFamily="34" charset="-122"/>
                <a:cs typeface="Calibri" pitchFamily="34" charset="-120"/>
              </a:rPr>
              <a:t>Vercel + Supabase のサーバーレス構成で、トラフィック増加に自動対応。グローバルCDNで低レイテンシ。</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algn="l" indent="0" marL="0">
              <a:buNone/>
            </a:pPr>
            <a:r>
              <a:rPr lang="en-US" sz="3200" b="1" dirty="0">
                <a:solidFill>
                  <a:srgbClr val="8B0000"/>
                </a:solidFill>
                <a:latin typeface="Calibri" pitchFamily="34" charset="0"/>
                <a:ea typeface="Calibri" pitchFamily="34" charset="-122"/>
                <a:cs typeface="Calibri" pitchFamily="34" charset="-120"/>
              </a:rPr>
              <a:t>ビジネスモデル</a:t>
            </a:r>
            <a:endParaRPr lang="en-US" sz="3200" dirty="0"/>
          </a:p>
        </p:txBody>
      </p:sp>
      <p:sp>
        <p:nvSpPr>
          <p:cNvPr id="3" name="Text 1"/>
          <p:cNvSpPr/>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9</a:t>
            </a:r>
            <a:endParaRPr lang="en-US" sz="900" dirty="0"/>
          </a:p>
        </p:txBody>
      </p:sp>
      <p:sp>
        <p:nvSpPr>
          <p:cNvPr id="4" name="Shape 2"/>
          <p:cNvSpPr/>
          <p:nvPr/>
        </p:nvSpPr>
        <p:spPr>
          <a:xfrm>
            <a:off x="548640" y="1005840"/>
            <a:ext cx="2560320" cy="2377440"/>
          </a:xfrm>
          <a:prstGeom prst="roundRect">
            <a:avLst>
              <a:gd name="adj" fmla="val 3077"/>
            </a:avLst>
          </a:prstGeom>
          <a:solidFill>
            <a:srgbClr val="FDF5E6"/>
          </a:solidFill>
          <a:ln/>
          <a:effectLst>
            <a:outerShdw sx="100000" sy="100000" kx="0" ky="0" algn="bl" rotWithShape="0" blurRad="50800" dist="25400" dir="18900000">
              <a:srgbClr val="000000">
                <a:alpha val="12000"/>
              </a:srgbClr>
            </a:outerShdw>
          </a:effectLst>
        </p:spPr>
      </p:sp>
      <p:sp>
        <p:nvSpPr>
          <p:cNvPr id="5" name="Shape 3"/>
          <p:cNvSpPr/>
          <p:nvPr/>
        </p:nvSpPr>
        <p:spPr>
          <a:xfrm>
            <a:off x="1463040" y="1188720"/>
            <a:ext cx="731520" cy="731520"/>
          </a:xfrm>
          <a:prstGeom prst="ellipse">
            <a:avLst/>
          </a:prstGeom>
          <a:solidFill>
            <a:srgbClr val="C41E3A"/>
          </a:solidFill>
          <a:ln/>
        </p:spPr>
      </p:sp>
      <p:sp>
        <p:nvSpPr>
          <p:cNvPr id="6" name="Text 4"/>
          <p:cNvSpPr/>
          <p:nvPr/>
        </p:nvSpPr>
        <p:spPr>
          <a:xfrm>
            <a:off x="1463040" y="1234440"/>
            <a:ext cx="73152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30〜50%</a:t>
            </a:r>
            <a:endParaRPr lang="en-US" sz="1200" dirty="0"/>
          </a:p>
        </p:txBody>
      </p:sp>
      <p:sp>
        <p:nvSpPr>
          <p:cNvPr id="7" name="Text 5"/>
          <p:cNvSpPr/>
          <p:nvPr/>
        </p:nvSpPr>
        <p:spPr>
          <a:xfrm>
            <a:off x="1463040" y="1536192"/>
            <a:ext cx="731520" cy="182880"/>
          </a:xfrm>
          <a:prstGeom prst="rect">
            <a:avLst/>
          </a:prstGeom>
          <a:noFill/>
          <a:ln/>
        </p:spPr>
        <p:txBody>
          <a:bodyPr wrap="square" lIns="0" tIns="0" rIns="0" bIns="0" rtlCol="0" anchor="ctr"/>
          <a:lstStyle/>
          <a:p>
            <a:pPr algn="ctr" indent="0" marL="0">
              <a:buNone/>
            </a:pPr>
            <a:r>
              <a:rPr lang="en-US" sz="600" dirty="0">
                <a:solidFill>
                  <a:srgbClr val="FFCCCC"/>
                </a:solidFill>
                <a:latin typeface="Calibri" pitchFamily="34" charset="0"/>
                <a:ea typeface="Calibri" pitchFamily="34" charset="-122"/>
                <a:cs typeface="Calibri" pitchFamily="34" charset="-120"/>
              </a:rPr>
              <a:t>想定粗利率</a:t>
            </a:r>
            <a:endParaRPr lang="en-US" sz="600" dirty="0"/>
          </a:p>
        </p:txBody>
      </p:sp>
      <p:sp>
        <p:nvSpPr>
          <p:cNvPr id="8" name="Text 6"/>
          <p:cNvSpPr/>
          <p:nvPr/>
        </p:nvSpPr>
        <p:spPr>
          <a:xfrm>
            <a:off x="685800" y="2011680"/>
            <a:ext cx="2286000" cy="320040"/>
          </a:xfrm>
          <a:prstGeom prst="rect">
            <a:avLst/>
          </a:prstGeom>
          <a:noFill/>
          <a:ln/>
        </p:spPr>
        <p:txBody>
          <a:bodyPr wrap="square" lIns="0" tIns="0" rIns="0" bIns="0" rtlCol="0" anchor="ctr"/>
          <a:lstStyle/>
          <a:p>
            <a:pPr algn="ctr" indent="0" marL="0">
              <a:buNone/>
            </a:pPr>
            <a:r>
              <a:rPr lang="en-US" sz="1400" b="1" dirty="0">
                <a:solidFill>
                  <a:srgbClr val="8B0000"/>
                </a:solidFill>
                <a:latin typeface="Calibri" pitchFamily="34" charset="0"/>
                <a:ea typeface="Calibri" pitchFamily="34" charset="-122"/>
                <a:cs typeface="Calibri" pitchFamily="34" charset="-120"/>
              </a:rPr>
              <a:t>オリパ販売マージン</a:t>
            </a:r>
            <a:endParaRPr lang="en-US" sz="1400" dirty="0"/>
          </a:p>
        </p:txBody>
      </p:sp>
      <p:sp>
        <p:nvSpPr>
          <p:cNvPr id="9" name="Text 7"/>
          <p:cNvSpPr/>
          <p:nvPr/>
        </p:nvSpPr>
        <p:spPr>
          <a:xfrm>
            <a:off x="685800" y="2377440"/>
            <a:ext cx="2286000" cy="822960"/>
          </a:xfrm>
          <a:prstGeom prst="rect">
            <a:avLst/>
          </a:prstGeom>
          <a:noFill/>
          <a:ln/>
        </p:spPr>
        <p:txBody>
          <a:bodyPr wrap="square" lIns="0" tIns="0" rIns="0" bIns="0" rtlCol="0" anchor="ctr"/>
          <a:lstStyle/>
          <a:p>
            <a:pPr algn="l" indent="0" marL="0">
              <a:lnSpc>
                <a:spcPct val="140000"/>
              </a:lnSpc>
              <a:buNone/>
            </a:pPr>
            <a:r>
              <a:rPr lang="en-US" sz="1100" dirty="0">
                <a:solidFill>
                  <a:srgbClr val="2D2D2D"/>
                </a:solidFill>
                <a:latin typeface="Calibri" pitchFamily="34" charset="0"/>
                <a:ea typeface="Calibri" pitchFamily="34" charset="-122"/>
                <a:cs typeface="Calibri" pitchFamily="34" charset="-120"/>
              </a:rPr>
              <a:t>カード仕入原価と販売ポイント価格の差額。パック設計時に粗利を確保。</a:t>
            </a:r>
            <a:endParaRPr lang="en-US" sz="1100" dirty="0"/>
          </a:p>
        </p:txBody>
      </p:sp>
      <p:sp>
        <p:nvSpPr>
          <p:cNvPr id="10" name="Shape 8"/>
          <p:cNvSpPr/>
          <p:nvPr/>
        </p:nvSpPr>
        <p:spPr>
          <a:xfrm>
            <a:off x="3291840" y="1005840"/>
            <a:ext cx="2560320" cy="2377440"/>
          </a:xfrm>
          <a:prstGeom prst="roundRect">
            <a:avLst>
              <a:gd name="adj" fmla="val 3077"/>
            </a:avLst>
          </a:prstGeom>
          <a:solidFill>
            <a:srgbClr val="FDF5E6"/>
          </a:solidFill>
          <a:ln/>
          <a:effectLst>
            <a:outerShdw sx="100000" sy="100000" kx="0" ky="0" algn="bl" rotWithShape="0" blurRad="50800" dist="25400" dir="18900000">
              <a:srgbClr val="000000">
                <a:alpha val="12000"/>
              </a:srgbClr>
            </a:outerShdw>
          </a:effectLst>
        </p:spPr>
      </p:sp>
      <p:sp>
        <p:nvSpPr>
          <p:cNvPr id="11" name="Shape 9"/>
          <p:cNvSpPr/>
          <p:nvPr/>
        </p:nvSpPr>
        <p:spPr>
          <a:xfrm>
            <a:off x="4206240" y="1188720"/>
            <a:ext cx="731520" cy="731520"/>
          </a:xfrm>
          <a:prstGeom prst="ellipse">
            <a:avLst/>
          </a:prstGeom>
          <a:solidFill>
            <a:srgbClr val="C41E3A"/>
          </a:solidFill>
          <a:ln/>
        </p:spPr>
      </p:sp>
      <p:sp>
        <p:nvSpPr>
          <p:cNvPr id="12" name="Text 10"/>
          <p:cNvSpPr/>
          <p:nvPr/>
        </p:nvSpPr>
        <p:spPr>
          <a:xfrm>
            <a:off x="4206240" y="1234440"/>
            <a:ext cx="73152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100%</a:t>
            </a:r>
            <a:endParaRPr lang="en-US" sz="1600" dirty="0"/>
          </a:p>
        </p:txBody>
      </p:sp>
      <p:sp>
        <p:nvSpPr>
          <p:cNvPr id="13" name="Text 11"/>
          <p:cNvSpPr/>
          <p:nvPr/>
        </p:nvSpPr>
        <p:spPr>
          <a:xfrm>
            <a:off x="4206240" y="1536192"/>
            <a:ext cx="731520" cy="182880"/>
          </a:xfrm>
          <a:prstGeom prst="rect">
            <a:avLst/>
          </a:prstGeom>
          <a:noFill/>
          <a:ln/>
        </p:spPr>
        <p:txBody>
          <a:bodyPr wrap="square" lIns="0" tIns="0" rIns="0" bIns="0" rtlCol="0" anchor="ctr"/>
          <a:lstStyle/>
          <a:p>
            <a:pPr algn="ctr" indent="0" marL="0">
              <a:buNone/>
            </a:pPr>
            <a:r>
              <a:rPr lang="en-US" sz="600" dirty="0">
                <a:solidFill>
                  <a:srgbClr val="FFCCCC"/>
                </a:solidFill>
                <a:latin typeface="Calibri" pitchFamily="34" charset="0"/>
                <a:ea typeface="Calibri" pitchFamily="34" charset="-122"/>
                <a:cs typeface="Calibri" pitchFamily="34" charset="-120"/>
              </a:rPr>
              <a:t>原価ゼロ</a:t>
            </a:r>
            <a:endParaRPr lang="en-US" sz="600" dirty="0"/>
          </a:p>
        </p:txBody>
      </p:sp>
      <p:sp>
        <p:nvSpPr>
          <p:cNvPr id="14" name="Text 12"/>
          <p:cNvSpPr/>
          <p:nvPr/>
        </p:nvSpPr>
        <p:spPr>
          <a:xfrm>
            <a:off x="3429000" y="2011680"/>
            <a:ext cx="2286000" cy="320040"/>
          </a:xfrm>
          <a:prstGeom prst="rect">
            <a:avLst/>
          </a:prstGeom>
          <a:noFill/>
          <a:ln/>
        </p:spPr>
        <p:txBody>
          <a:bodyPr wrap="square" lIns="0" tIns="0" rIns="0" bIns="0" rtlCol="0" anchor="ctr"/>
          <a:lstStyle/>
          <a:p>
            <a:pPr algn="ctr" indent="0" marL="0">
              <a:buNone/>
            </a:pPr>
            <a:r>
              <a:rPr lang="en-US" sz="1400" b="1" dirty="0">
                <a:solidFill>
                  <a:srgbClr val="8B0000"/>
                </a:solidFill>
                <a:latin typeface="Calibri" pitchFamily="34" charset="0"/>
                <a:ea typeface="Calibri" pitchFamily="34" charset="-122"/>
                <a:cs typeface="Calibri" pitchFamily="34" charset="-120"/>
              </a:rPr>
              <a:t>ポイント失効益</a:t>
            </a:r>
            <a:endParaRPr lang="en-US" sz="1400" dirty="0"/>
          </a:p>
        </p:txBody>
      </p:sp>
      <p:sp>
        <p:nvSpPr>
          <p:cNvPr id="15" name="Text 13"/>
          <p:cNvSpPr/>
          <p:nvPr/>
        </p:nvSpPr>
        <p:spPr>
          <a:xfrm>
            <a:off x="3429000" y="2377440"/>
            <a:ext cx="2286000" cy="822960"/>
          </a:xfrm>
          <a:prstGeom prst="rect">
            <a:avLst/>
          </a:prstGeom>
          <a:noFill/>
          <a:ln/>
        </p:spPr>
        <p:txBody>
          <a:bodyPr wrap="square" lIns="0" tIns="0" rIns="0" bIns="0" rtlCol="0" anchor="ctr"/>
          <a:lstStyle/>
          <a:p>
            <a:pPr algn="l" indent="0" marL="0">
              <a:lnSpc>
                <a:spcPct val="140000"/>
              </a:lnSpc>
              <a:buNone/>
            </a:pPr>
            <a:r>
              <a:rPr lang="en-US" sz="1100" dirty="0">
                <a:solidFill>
                  <a:srgbClr val="2D2D2D"/>
                </a:solidFill>
                <a:latin typeface="Calibri" pitchFamily="34" charset="0"/>
                <a:ea typeface="Calibri" pitchFamily="34" charset="-122"/>
                <a:cs typeface="Calibri" pitchFamily="34" charset="-120"/>
              </a:rPr>
              <a:t>180日以内に未使用のポイントは失効。購入の5〜10%が失効と推定。</a:t>
            </a:r>
            <a:endParaRPr lang="en-US" sz="1100" dirty="0"/>
          </a:p>
        </p:txBody>
      </p:sp>
      <p:sp>
        <p:nvSpPr>
          <p:cNvPr id="16" name="Shape 14"/>
          <p:cNvSpPr/>
          <p:nvPr/>
        </p:nvSpPr>
        <p:spPr>
          <a:xfrm>
            <a:off x="6035040" y="1005840"/>
            <a:ext cx="2560320" cy="2377440"/>
          </a:xfrm>
          <a:prstGeom prst="roundRect">
            <a:avLst>
              <a:gd name="adj" fmla="val 3077"/>
            </a:avLst>
          </a:prstGeom>
          <a:solidFill>
            <a:srgbClr val="FDF5E6"/>
          </a:solidFill>
          <a:ln/>
          <a:effectLst>
            <a:outerShdw sx="100000" sy="100000" kx="0" ky="0" algn="bl" rotWithShape="0" blurRad="50800" dist="25400" dir="18900000">
              <a:srgbClr val="000000">
                <a:alpha val="12000"/>
              </a:srgbClr>
            </a:outerShdw>
          </a:effectLst>
        </p:spPr>
      </p:sp>
      <p:sp>
        <p:nvSpPr>
          <p:cNvPr id="17" name="Shape 15"/>
          <p:cNvSpPr/>
          <p:nvPr/>
        </p:nvSpPr>
        <p:spPr>
          <a:xfrm>
            <a:off x="6949440" y="1188720"/>
            <a:ext cx="731520" cy="731520"/>
          </a:xfrm>
          <a:prstGeom prst="ellipse">
            <a:avLst/>
          </a:prstGeom>
          <a:solidFill>
            <a:srgbClr val="C41E3A"/>
          </a:solidFill>
          <a:ln/>
        </p:spPr>
      </p:sp>
      <p:sp>
        <p:nvSpPr>
          <p:cNvPr id="18" name="Text 16"/>
          <p:cNvSpPr/>
          <p:nvPr/>
        </p:nvSpPr>
        <p:spPr>
          <a:xfrm>
            <a:off x="6949440" y="1234440"/>
            <a:ext cx="73152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最大13.3%</a:t>
            </a:r>
            <a:endParaRPr lang="en-US" sz="1200" dirty="0"/>
          </a:p>
        </p:txBody>
      </p:sp>
      <p:sp>
        <p:nvSpPr>
          <p:cNvPr id="19" name="Text 17"/>
          <p:cNvSpPr/>
          <p:nvPr/>
        </p:nvSpPr>
        <p:spPr>
          <a:xfrm>
            <a:off x="6949440" y="1536192"/>
            <a:ext cx="731520" cy="182880"/>
          </a:xfrm>
          <a:prstGeom prst="rect">
            <a:avLst/>
          </a:prstGeom>
          <a:noFill/>
          <a:ln/>
        </p:spPr>
        <p:txBody>
          <a:bodyPr wrap="square" lIns="0" tIns="0" rIns="0" bIns="0" rtlCol="0" anchor="ctr"/>
          <a:lstStyle/>
          <a:p>
            <a:pPr algn="ctr" indent="0" marL="0">
              <a:buNone/>
            </a:pPr>
            <a:r>
              <a:rPr lang="en-US" sz="600" dirty="0">
                <a:solidFill>
                  <a:srgbClr val="FFCCCC"/>
                </a:solidFill>
                <a:latin typeface="Calibri" pitchFamily="34" charset="0"/>
                <a:ea typeface="Calibri" pitchFamily="34" charset="-122"/>
                <a:cs typeface="Calibri" pitchFamily="34" charset="-120"/>
              </a:rPr>
              <a:t>ボーナス率</a:t>
            </a:r>
            <a:endParaRPr lang="en-US" sz="600" dirty="0"/>
          </a:p>
        </p:txBody>
      </p:sp>
      <p:sp>
        <p:nvSpPr>
          <p:cNvPr id="20" name="Text 18"/>
          <p:cNvSpPr/>
          <p:nvPr/>
        </p:nvSpPr>
        <p:spPr>
          <a:xfrm>
            <a:off x="6172200" y="2011680"/>
            <a:ext cx="2286000" cy="320040"/>
          </a:xfrm>
          <a:prstGeom prst="rect">
            <a:avLst/>
          </a:prstGeom>
          <a:noFill/>
          <a:ln/>
        </p:spPr>
        <p:txBody>
          <a:bodyPr wrap="square" lIns="0" tIns="0" rIns="0" bIns="0" rtlCol="0" anchor="ctr"/>
          <a:lstStyle/>
          <a:p>
            <a:pPr algn="ctr" indent="0" marL="0">
              <a:buNone/>
            </a:pPr>
            <a:r>
              <a:rPr lang="en-US" sz="1400" b="1" dirty="0">
                <a:solidFill>
                  <a:srgbClr val="8B0000"/>
                </a:solidFill>
                <a:latin typeface="Calibri" pitchFamily="34" charset="0"/>
                <a:ea typeface="Calibri" pitchFamily="34" charset="-122"/>
                <a:cs typeface="Calibri" pitchFamily="34" charset="-120"/>
              </a:rPr>
              <a:t>ボーナスポイント設計</a:t>
            </a:r>
            <a:endParaRPr lang="en-US" sz="1400" dirty="0"/>
          </a:p>
        </p:txBody>
      </p:sp>
      <p:sp>
        <p:nvSpPr>
          <p:cNvPr id="21" name="Text 19"/>
          <p:cNvSpPr/>
          <p:nvPr/>
        </p:nvSpPr>
        <p:spPr>
          <a:xfrm>
            <a:off x="6172200" y="2377440"/>
            <a:ext cx="2286000" cy="822960"/>
          </a:xfrm>
          <a:prstGeom prst="rect">
            <a:avLst/>
          </a:prstGeom>
          <a:noFill/>
          <a:ln/>
        </p:spPr>
        <p:txBody>
          <a:bodyPr wrap="square" lIns="0" tIns="0" rIns="0" bIns="0" rtlCol="0" anchor="ctr"/>
          <a:lstStyle/>
          <a:p>
            <a:pPr algn="l" indent="0" marL="0">
              <a:lnSpc>
                <a:spcPct val="140000"/>
              </a:lnSpc>
              <a:buNone/>
            </a:pPr>
            <a:r>
              <a:rPr lang="en-US" sz="1100" dirty="0">
                <a:solidFill>
                  <a:srgbClr val="2D2D2D"/>
                </a:solidFill>
                <a:latin typeface="Calibri" pitchFamily="34" charset="0"/>
                <a:ea typeface="Calibri" pitchFamily="34" charset="-122"/>
                <a:cs typeface="Calibri" pitchFamily="34" charset="-120"/>
              </a:rPr>
              <a:t>無償付与で前払式支払手段に非該当。高額プラン誘導で平均単価向上。</a:t>
            </a:r>
            <a:endParaRPr lang="en-US" sz="1100" dirty="0"/>
          </a:p>
        </p:txBody>
      </p:sp>
      <p:sp>
        <p:nvSpPr>
          <p:cNvPr id="22" name="Shape 20"/>
          <p:cNvSpPr/>
          <p:nvPr/>
        </p:nvSpPr>
        <p:spPr>
          <a:xfrm>
            <a:off x="548640" y="3657600"/>
            <a:ext cx="8046720" cy="914400"/>
          </a:xfrm>
          <a:prstGeom prst="roundRect">
            <a:avLst>
              <a:gd name="adj" fmla="val 8000"/>
            </a:avLst>
          </a:prstGeom>
          <a:solidFill>
            <a:srgbClr val="FFF8EE"/>
          </a:solidFill>
          <a:ln/>
          <a:effectLst>
            <a:outerShdw sx="100000" sy="100000" kx="0" ky="0" algn="bl" rotWithShape="0" blurRad="50800" dist="25400" dir="18900000">
              <a:srgbClr val="000000">
                <a:alpha val="12000"/>
              </a:srgbClr>
            </a:outerShdw>
          </a:effectLst>
        </p:spPr>
      </p:sp>
      <p:sp>
        <p:nvSpPr>
          <p:cNvPr id="23" name="Text 21"/>
          <p:cNvSpPr/>
          <p:nvPr/>
        </p:nvSpPr>
        <p:spPr>
          <a:xfrm>
            <a:off x="731520" y="3749040"/>
            <a:ext cx="2743200" cy="274320"/>
          </a:xfrm>
          <a:prstGeom prst="rect">
            <a:avLst/>
          </a:prstGeom>
          <a:noFill/>
          <a:ln/>
        </p:spPr>
        <p:txBody>
          <a:bodyPr wrap="square" lIns="0" tIns="0" rIns="0" bIns="0" rtlCol="0" anchor="ctr"/>
          <a:lstStyle/>
          <a:p>
            <a:pPr algn="l" indent="0" marL="0">
              <a:buNone/>
            </a:pPr>
            <a:r>
              <a:rPr lang="en-US" sz="1300" b="1" dirty="0">
                <a:solidFill>
                  <a:srgbClr val="8B0000"/>
                </a:solidFill>
                <a:latin typeface="Calibri" pitchFamily="34" charset="0"/>
                <a:ea typeface="Calibri" pitchFamily="34" charset="-122"/>
                <a:cs typeface="Calibri" pitchFamily="34" charset="-120"/>
              </a:rPr>
              <a:t>バーチャル在庫モデル</a:t>
            </a:r>
            <a:endParaRPr lang="en-US" sz="1300" dirty="0"/>
          </a:p>
        </p:txBody>
      </p:sp>
      <p:sp>
        <p:nvSpPr>
          <p:cNvPr id="24" name="Text 22"/>
          <p:cNvSpPr/>
          <p:nvPr/>
        </p:nvSpPr>
        <p:spPr>
          <a:xfrm>
            <a:off x="731520" y="4069080"/>
            <a:ext cx="7680960" cy="365760"/>
          </a:xfrm>
          <a:prstGeom prst="rect">
            <a:avLst/>
          </a:prstGeom>
          <a:noFill/>
          <a:ln/>
        </p:spPr>
        <p:txBody>
          <a:bodyPr wrap="square" lIns="0" tIns="0" rIns="0" bIns="0" rtlCol="0" anchor="ctr"/>
          <a:lstStyle/>
          <a:p>
            <a:pPr algn="l" indent="0" marL="0">
              <a:buNone/>
            </a:pPr>
            <a:r>
              <a:rPr lang="en-US" sz="1100" dirty="0">
                <a:solidFill>
                  <a:srgbClr val="2D2D2D"/>
                </a:solidFill>
                <a:latin typeface="Calibri" pitchFamily="34" charset="0"/>
                <a:ea typeface="Calibri" pitchFamily="34" charset="-122"/>
                <a:cs typeface="Calibri" pitchFamily="34" charset="-120"/>
              </a:rPr>
              <a:t>パック設計 → 抽選 → 発送申請時に初めて調達。初期在庫投資ゼロでキャッシュフロー大幅改善。調達失敗時は自動返金。</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algn="l" indent="0" marL="0">
              <a:buNone/>
            </a:pPr>
            <a:r>
              <a:rPr lang="en-US" sz="3200" b="1" dirty="0">
                <a:solidFill>
                  <a:srgbClr val="8B0000"/>
                </a:solidFill>
                <a:latin typeface="Calibri" pitchFamily="34" charset="0"/>
                <a:ea typeface="Calibri" pitchFamily="34" charset="-122"/>
                <a:cs typeface="Calibri" pitchFamily="34" charset="-120"/>
              </a:rPr>
              <a:t>単位経済性（Unit Economics）</a:t>
            </a:r>
            <a:endParaRPr lang="en-US" sz="3200" dirty="0"/>
          </a:p>
        </p:txBody>
      </p:sp>
      <p:sp>
        <p:nvSpPr>
          <p:cNvPr id="3" name="Text 1"/>
          <p:cNvSpPr/>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10</a:t>
            </a:r>
            <a:endParaRPr lang="en-US" sz="900" dirty="0"/>
          </a:p>
        </p:txBody>
      </p:sp>
      <p:sp>
        <p:nvSpPr>
          <p:cNvPr id="4" name="Text 2"/>
          <p:cNvSpPr/>
          <p:nvPr/>
        </p:nvSpPr>
        <p:spPr>
          <a:xfrm>
            <a:off x="548640" y="731520"/>
            <a:ext cx="8046720" cy="274320"/>
          </a:xfrm>
          <a:prstGeom prst="rect">
            <a:avLst/>
          </a:prstGeom>
          <a:noFill/>
          <a:ln/>
        </p:spPr>
        <p:txBody>
          <a:bodyPr wrap="square" lIns="0" tIns="0" rIns="0" bIns="0" rtlCol="0" anchor="ctr"/>
          <a:lstStyle/>
          <a:p>
            <a:pPr algn="l" indent="0" marL="0">
              <a:buNone/>
            </a:pPr>
            <a:r>
              <a:rPr lang="en-US" sz="1200" dirty="0">
                <a:solidFill>
                  <a:srgbClr val="999999"/>
                </a:solidFill>
                <a:latin typeface="Calibri" pitchFamily="34" charset="0"/>
                <a:ea typeface="Calibri" pitchFamily="34" charset="-122"/>
                <a:cs typeface="Calibri" pitchFamily="34" charset="-120"/>
              </a:rPr>
              <a:t>1パック（100口 × 500pt）のシミュレーション</a:t>
            </a:r>
            <a:endParaRPr lang="en-US" sz="1200" dirty="0"/>
          </a:p>
        </p:txBody>
      </p:sp>
      <p:sp>
        <p:nvSpPr>
          <p:cNvPr id="5" name="Shape 3"/>
          <p:cNvSpPr/>
          <p:nvPr/>
        </p:nvSpPr>
        <p:spPr>
          <a:xfrm>
            <a:off x="548640" y="1188720"/>
            <a:ext cx="2743200" cy="2286000"/>
          </a:xfrm>
          <a:prstGeom prst="roundRect">
            <a:avLst>
              <a:gd name="adj" fmla="val 3200"/>
            </a:avLst>
          </a:prstGeom>
          <a:solidFill>
            <a:srgbClr val="C41E3A"/>
          </a:solidFill>
          <a:ln/>
          <a:effectLst>
            <a:outerShdw sx="100000" sy="100000" kx="0" ky="0" algn="bl" rotWithShape="0" blurRad="50800" dist="25400" dir="18900000">
              <a:srgbClr val="000000">
                <a:alpha val="12000"/>
              </a:srgbClr>
            </a:outerShdw>
          </a:effectLst>
        </p:spPr>
      </p:sp>
      <p:sp>
        <p:nvSpPr>
          <p:cNvPr id="6" name="Text 4"/>
          <p:cNvSpPr/>
          <p:nvPr/>
        </p:nvSpPr>
        <p:spPr>
          <a:xfrm>
            <a:off x="548640" y="1371600"/>
            <a:ext cx="2743200" cy="822960"/>
          </a:xfrm>
          <a:prstGeom prst="rect">
            <a:avLst/>
          </a:prstGeom>
          <a:noFill/>
          <a:ln/>
        </p:spPr>
        <p:txBody>
          <a:bodyPr wrap="square" lIns="0" tIns="0" rIns="0" bIns="0" rtlCol="0" anchor="ctr"/>
          <a:lstStyle/>
          <a:p>
            <a:pPr algn="ctr" indent="0" marL="0">
              <a:buNone/>
            </a:pPr>
            <a:r>
              <a:rPr lang="en-US" sz="5200" b="1" dirty="0">
                <a:solidFill>
                  <a:srgbClr val="FFFFFF"/>
                </a:solidFill>
                <a:latin typeface="Calibri" pitchFamily="34" charset="0"/>
                <a:ea typeface="Calibri" pitchFamily="34" charset="-122"/>
                <a:cs typeface="Calibri" pitchFamily="34" charset="-120"/>
              </a:rPr>
              <a:t>52.8%</a:t>
            </a:r>
            <a:endParaRPr lang="en-US" sz="5200" dirty="0"/>
          </a:p>
        </p:txBody>
      </p:sp>
      <p:sp>
        <p:nvSpPr>
          <p:cNvPr id="7" name="Text 5"/>
          <p:cNvSpPr/>
          <p:nvPr/>
        </p:nvSpPr>
        <p:spPr>
          <a:xfrm>
            <a:off x="548640" y="2103120"/>
            <a:ext cx="2743200" cy="320040"/>
          </a:xfrm>
          <a:prstGeom prst="rect">
            <a:avLst/>
          </a:prstGeom>
          <a:noFill/>
          <a:ln/>
        </p:spPr>
        <p:txBody>
          <a:bodyPr wrap="square" lIns="0" tIns="0" rIns="0" bIns="0" rtlCol="0" anchor="ctr"/>
          <a:lstStyle/>
          <a:p>
            <a:pPr algn="ctr" indent="0" marL="0">
              <a:buNone/>
            </a:pPr>
            <a:r>
              <a:rPr lang="en-US" sz="1600" dirty="0">
                <a:solidFill>
                  <a:srgbClr val="D4A017"/>
                </a:solidFill>
                <a:latin typeface="Calibri" pitchFamily="34" charset="0"/>
                <a:ea typeface="Calibri" pitchFamily="34" charset="-122"/>
                <a:cs typeface="Calibri" pitchFamily="34" charset="-120"/>
              </a:rPr>
              <a:t>粗利率</a:t>
            </a:r>
            <a:endParaRPr lang="en-US" sz="1600" dirty="0"/>
          </a:p>
        </p:txBody>
      </p:sp>
      <p:sp>
        <p:nvSpPr>
          <p:cNvPr id="8" name="Text 6"/>
          <p:cNvSpPr/>
          <p:nvPr/>
        </p:nvSpPr>
        <p:spPr>
          <a:xfrm>
            <a:off x="548640" y="2560320"/>
            <a:ext cx="2743200" cy="365760"/>
          </a:xfrm>
          <a:prstGeom prst="rect">
            <a:avLst/>
          </a:prstGeom>
          <a:noFill/>
          <a:ln/>
        </p:spPr>
        <p:txBody>
          <a:bodyPr wrap="square" lIns="0" tIns="0" rIns="0" bIns="0" rtlCol="0" anchor="ctr"/>
          <a:lstStyle/>
          <a:p>
            <a:pPr algn="ctr" indent="0" marL="0">
              <a:buNone/>
            </a:pPr>
            <a:r>
              <a:rPr lang="en-US" sz="1100" dirty="0">
                <a:solidFill>
                  <a:srgbClr val="FFCCCC"/>
                </a:solidFill>
                <a:latin typeface="Calibri" pitchFamily="34" charset="0"/>
                <a:ea typeface="Calibri" pitchFamily="34" charset="-122"/>
                <a:cs typeface="Calibri" pitchFamily="34" charset="-120"/>
              </a:rPr>
              <a:t>営業利益 約¥21,000〜24,000/パック</a:t>
            </a:r>
            <a:endParaRPr lang="en-US" sz="1100" dirty="0"/>
          </a:p>
        </p:txBody>
      </p:sp>
      <p:sp>
        <p:nvSpPr>
          <p:cNvPr id="9" name="Shape 7"/>
          <p:cNvSpPr/>
          <p:nvPr/>
        </p:nvSpPr>
        <p:spPr>
          <a:xfrm>
            <a:off x="3566160" y="1188720"/>
            <a:ext cx="5120640" cy="2286000"/>
          </a:xfrm>
          <a:prstGeom prst="roundRect">
            <a:avLst>
              <a:gd name="adj" fmla="val 3200"/>
            </a:avLst>
          </a:prstGeom>
          <a:solidFill>
            <a:srgbClr val="FDF5E6"/>
          </a:solidFill>
          <a:ln/>
          <a:effectLst>
            <a:outerShdw sx="100000" sy="100000" kx="0" ky="0" algn="bl" rotWithShape="0" blurRad="50800" dist="25400" dir="18900000">
              <a:srgbClr val="000000">
                <a:alpha val="12000"/>
              </a:srgbClr>
            </a:outerShdw>
          </a:effectLst>
        </p:spPr>
      </p:sp>
      <p:sp>
        <p:nvSpPr>
          <p:cNvPr id="10" name="Text 8"/>
          <p:cNvSpPr/>
          <p:nvPr/>
        </p:nvSpPr>
        <p:spPr>
          <a:xfrm>
            <a:off x="3749040" y="1325880"/>
            <a:ext cx="2926080" cy="274320"/>
          </a:xfrm>
          <a:prstGeom prst="rect">
            <a:avLst/>
          </a:prstGeom>
          <a:noFill/>
          <a:ln/>
        </p:spPr>
        <p:txBody>
          <a:bodyPr wrap="square" lIns="0" tIns="0" rIns="0" bIns="0" rtlCol="0" anchor="ctr"/>
          <a:lstStyle/>
          <a:p>
            <a:pPr algn="l" indent="0" marL="0">
              <a:buNone/>
            </a:pPr>
            <a:r>
              <a:rPr lang="en-US" sz="1100" dirty="0">
                <a:solidFill>
                  <a:srgbClr val="2D2D2D"/>
                </a:solidFill>
                <a:latin typeface="Calibri" pitchFamily="34" charset="0"/>
                <a:ea typeface="Calibri" pitchFamily="34" charset="-122"/>
                <a:cs typeface="Calibri" pitchFamily="34" charset="-120"/>
              </a:rPr>
              <a:t>売上（100口 × 500pt）</a:t>
            </a:r>
            <a:endParaRPr lang="en-US" sz="1100" dirty="0"/>
          </a:p>
        </p:txBody>
      </p:sp>
      <p:sp>
        <p:nvSpPr>
          <p:cNvPr id="11" name="Text 9"/>
          <p:cNvSpPr/>
          <p:nvPr/>
        </p:nvSpPr>
        <p:spPr>
          <a:xfrm>
            <a:off x="6858000" y="1325880"/>
            <a:ext cx="1645920" cy="274320"/>
          </a:xfrm>
          <a:prstGeom prst="rect">
            <a:avLst/>
          </a:prstGeom>
          <a:noFill/>
          <a:ln/>
        </p:spPr>
        <p:txBody>
          <a:bodyPr wrap="square" lIns="0" tIns="0" rIns="0" bIns="0" rtlCol="0" anchor="ctr"/>
          <a:lstStyle/>
          <a:p>
            <a:pPr algn="r" indent="0" marL="0">
              <a:buNone/>
            </a:pPr>
            <a:r>
              <a:rPr lang="en-US" sz="1200" dirty="0">
                <a:solidFill>
                  <a:srgbClr val="2D2D2D"/>
                </a:solidFill>
                <a:latin typeface="Calibri" pitchFamily="34" charset="0"/>
                <a:ea typeface="Calibri" pitchFamily="34" charset="-122"/>
                <a:cs typeface="Calibri" pitchFamily="34" charset="-120"/>
              </a:rPr>
              <a:t>¥50,000</a:t>
            </a:r>
            <a:endParaRPr lang="en-US" sz="1200" dirty="0"/>
          </a:p>
        </p:txBody>
      </p:sp>
      <p:sp>
        <p:nvSpPr>
          <p:cNvPr id="12" name="Text 10"/>
          <p:cNvSpPr/>
          <p:nvPr/>
        </p:nvSpPr>
        <p:spPr>
          <a:xfrm>
            <a:off x="3749040" y="1645920"/>
            <a:ext cx="2926080" cy="274320"/>
          </a:xfrm>
          <a:prstGeom prst="rect">
            <a:avLst/>
          </a:prstGeom>
          <a:noFill/>
          <a:ln/>
        </p:spPr>
        <p:txBody>
          <a:bodyPr wrap="square" lIns="0" tIns="0" rIns="0" bIns="0" rtlCol="0" anchor="ctr"/>
          <a:lstStyle/>
          <a:p>
            <a:pPr algn="l" indent="0" marL="0">
              <a:buNone/>
            </a:pPr>
            <a:r>
              <a:rPr lang="en-US" sz="1100" dirty="0">
                <a:solidFill>
                  <a:srgbClr val="2D2D2D"/>
                </a:solidFill>
                <a:latin typeface="Calibri" pitchFamily="34" charset="0"/>
                <a:ea typeface="Calibri" pitchFamily="34" charset="-122"/>
                <a:cs typeface="Calibri" pitchFamily="34" charset="-120"/>
              </a:rPr>
              <a:t>S賞カード原価（1枚）</a:t>
            </a:r>
            <a:endParaRPr lang="en-US" sz="1100" dirty="0"/>
          </a:p>
        </p:txBody>
      </p:sp>
      <p:sp>
        <p:nvSpPr>
          <p:cNvPr id="13" name="Text 11"/>
          <p:cNvSpPr/>
          <p:nvPr/>
        </p:nvSpPr>
        <p:spPr>
          <a:xfrm>
            <a:off x="6858000" y="1645920"/>
            <a:ext cx="1645920" cy="274320"/>
          </a:xfrm>
          <a:prstGeom prst="rect">
            <a:avLst/>
          </a:prstGeom>
          <a:noFill/>
          <a:ln/>
        </p:spPr>
        <p:txBody>
          <a:bodyPr wrap="square" lIns="0" tIns="0" rIns="0" bIns="0" rtlCol="0" anchor="ctr"/>
          <a:lstStyle/>
          <a:p>
            <a:pPr algn="r" indent="0" marL="0">
              <a:buNone/>
            </a:pPr>
            <a:r>
              <a:rPr lang="en-US" sz="1200" dirty="0">
                <a:solidFill>
                  <a:srgbClr val="C41E3A"/>
                </a:solidFill>
                <a:latin typeface="Calibri" pitchFamily="34" charset="0"/>
                <a:ea typeface="Calibri" pitchFamily="34" charset="-122"/>
                <a:cs typeface="Calibri" pitchFamily="34" charset="-120"/>
              </a:rPr>
              <a:t>▲¥8,000</a:t>
            </a:r>
            <a:endParaRPr lang="en-US" sz="1200" dirty="0"/>
          </a:p>
        </p:txBody>
      </p:sp>
      <p:sp>
        <p:nvSpPr>
          <p:cNvPr id="14" name="Text 12"/>
          <p:cNvSpPr/>
          <p:nvPr/>
        </p:nvSpPr>
        <p:spPr>
          <a:xfrm>
            <a:off x="3749040" y="1965960"/>
            <a:ext cx="2926080" cy="274320"/>
          </a:xfrm>
          <a:prstGeom prst="rect">
            <a:avLst/>
          </a:prstGeom>
          <a:noFill/>
          <a:ln/>
        </p:spPr>
        <p:txBody>
          <a:bodyPr wrap="square" lIns="0" tIns="0" rIns="0" bIns="0" rtlCol="0" anchor="ctr"/>
          <a:lstStyle/>
          <a:p>
            <a:pPr algn="l" indent="0" marL="0">
              <a:buNone/>
            </a:pPr>
            <a:r>
              <a:rPr lang="en-US" sz="1100" dirty="0">
                <a:solidFill>
                  <a:srgbClr val="2D2D2D"/>
                </a:solidFill>
                <a:latin typeface="Calibri" pitchFamily="34" charset="0"/>
                <a:ea typeface="Calibri" pitchFamily="34" charset="-122"/>
                <a:cs typeface="Calibri" pitchFamily="34" charset="-120"/>
              </a:rPr>
              <a:t>A賞カード原価（3枚）</a:t>
            </a:r>
            <a:endParaRPr lang="en-US" sz="1100" dirty="0"/>
          </a:p>
        </p:txBody>
      </p:sp>
      <p:sp>
        <p:nvSpPr>
          <p:cNvPr id="15" name="Text 13"/>
          <p:cNvSpPr/>
          <p:nvPr/>
        </p:nvSpPr>
        <p:spPr>
          <a:xfrm>
            <a:off x="6858000" y="1965960"/>
            <a:ext cx="1645920" cy="274320"/>
          </a:xfrm>
          <a:prstGeom prst="rect">
            <a:avLst/>
          </a:prstGeom>
          <a:noFill/>
          <a:ln/>
        </p:spPr>
        <p:txBody>
          <a:bodyPr wrap="square" lIns="0" tIns="0" rIns="0" bIns="0" rtlCol="0" anchor="ctr"/>
          <a:lstStyle/>
          <a:p>
            <a:pPr algn="r" indent="0" marL="0">
              <a:buNone/>
            </a:pPr>
            <a:r>
              <a:rPr lang="en-US" sz="1200" dirty="0">
                <a:solidFill>
                  <a:srgbClr val="C41E3A"/>
                </a:solidFill>
                <a:latin typeface="Calibri" pitchFamily="34" charset="0"/>
                <a:ea typeface="Calibri" pitchFamily="34" charset="-122"/>
                <a:cs typeface="Calibri" pitchFamily="34" charset="-120"/>
              </a:rPr>
              <a:t>▲¥6,000</a:t>
            </a:r>
            <a:endParaRPr lang="en-US" sz="1200" dirty="0"/>
          </a:p>
        </p:txBody>
      </p:sp>
      <p:sp>
        <p:nvSpPr>
          <p:cNvPr id="16" name="Text 14"/>
          <p:cNvSpPr/>
          <p:nvPr/>
        </p:nvSpPr>
        <p:spPr>
          <a:xfrm>
            <a:off x="3749040" y="2286000"/>
            <a:ext cx="2926080" cy="274320"/>
          </a:xfrm>
          <a:prstGeom prst="rect">
            <a:avLst/>
          </a:prstGeom>
          <a:noFill/>
          <a:ln/>
        </p:spPr>
        <p:txBody>
          <a:bodyPr wrap="square" lIns="0" tIns="0" rIns="0" bIns="0" rtlCol="0" anchor="ctr"/>
          <a:lstStyle/>
          <a:p>
            <a:pPr algn="l" indent="0" marL="0">
              <a:buNone/>
            </a:pPr>
            <a:r>
              <a:rPr lang="en-US" sz="1100" dirty="0">
                <a:solidFill>
                  <a:srgbClr val="2D2D2D"/>
                </a:solidFill>
                <a:latin typeface="Calibri" pitchFamily="34" charset="0"/>
                <a:ea typeface="Calibri" pitchFamily="34" charset="-122"/>
                <a:cs typeface="Calibri" pitchFamily="34" charset="-120"/>
              </a:rPr>
              <a:t>B〜D賞カード原価（96枚）</a:t>
            </a:r>
            <a:endParaRPr lang="en-US" sz="1100" dirty="0"/>
          </a:p>
        </p:txBody>
      </p:sp>
      <p:sp>
        <p:nvSpPr>
          <p:cNvPr id="17" name="Text 15"/>
          <p:cNvSpPr/>
          <p:nvPr/>
        </p:nvSpPr>
        <p:spPr>
          <a:xfrm>
            <a:off x="6858000" y="2286000"/>
            <a:ext cx="1645920" cy="274320"/>
          </a:xfrm>
          <a:prstGeom prst="rect">
            <a:avLst/>
          </a:prstGeom>
          <a:noFill/>
          <a:ln/>
        </p:spPr>
        <p:txBody>
          <a:bodyPr wrap="square" lIns="0" tIns="0" rIns="0" bIns="0" rtlCol="0" anchor="ctr"/>
          <a:lstStyle/>
          <a:p>
            <a:pPr algn="r" indent="0" marL="0">
              <a:buNone/>
            </a:pPr>
            <a:r>
              <a:rPr lang="en-US" sz="1200" dirty="0">
                <a:solidFill>
                  <a:srgbClr val="C41E3A"/>
                </a:solidFill>
                <a:latin typeface="Calibri" pitchFamily="34" charset="0"/>
                <a:ea typeface="Calibri" pitchFamily="34" charset="-122"/>
                <a:cs typeface="Calibri" pitchFamily="34" charset="-120"/>
              </a:rPr>
              <a:t>▲¥9,600</a:t>
            </a:r>
            <a:endParaRPr lang="en-US" sz="1200" dirty="0"/>
          </a:p>
        </p:txBody>
      </p:sp>
      <p:sp>
        <p:nvSpPr>
          <p:cNvPr id="18" name="Text 16"/>
          <p:cNvSpPr/>
          <p:nvPr/>
        </p:nvSpPr>
        <p:spPr>
          <a:xfrm>
            <a:off x="3749040" y="2606040"/>
            <a:ext cx="2926080" cy="274320"/>
          </a:xfrm>
          <a:prstGeom prst="rect">
            <a:avLst/>
          </a:prstGeom>
          <a:noFill/>
          <a:ln/>
        </p:spPr>
        <p:txBody>
          <a:bodyPr wrap="square" lIns="0" tIns="0" rIns="0" bIns="0" rtlCol="0" anchor="ctr"/>
          <a:lstStyle/>
          <a:p>
            <a:pPr algn="l" indent="0" marL="0">
              <a:buNone/>
            </a:pPr>
            <a:r>
              <a:rPr lang="en-US" sz="1100" b="1" dirty="0">
                <a:solidFill>
                  <a:srgbClr val="2D2D2D"/>
                </a:solidFill>
                <a:latin typeface="Calibri" pitchFamily="34" charset="0"/>
                <a:ea typeface="Calibri" pitchFamily="34" charset="-122"/>
                <a:cs typeface="Calibri" pitchFamily="34" charset="-120"/>
              </a:rPr>
              <a:t>仕入原価合計</a:t>
            </a:r>
            <a:endParaRPr lang="en-US" sz="1100" dirty="0"/>
          </a:p>
        </p:txBody>
      </p:sp>
      <p:sp>
        <p:nvSpPr>
          <p:cNvPr id="19" name="Text 17"/>
          <p:cNvSpPr/>
          <p:nvPr/>
        </p:nvSpPr>
        <p:spPr>
          <a:xfrm>
            <a:off x="6858000" y="2606040"/>
            <a:ext cx="1645920" cy="274320"/>
          </a:xfrm>
          <a:prstGeom prst="rect">
            <a:avLst/>
          </a:prstGeom>
          <a:noFill/>
          <a:ln/>
        </p:spPr>
        <p:txBody>
          <a:bodyPr wrap="square" lIns="0" tIns="0" rIns="0" bIns="0" rtlCol="0" anchor="ctr"/>
          <a:lstStyle/>
          <a:p>
            <a:pPr algn="r" indent="0" marL="0">
              <a:buNone/>
            </a:pPr>
            <a:r>
              <a:rPr lang="en-US" sz="1200" b="1" dirty="0">
                <a:solidFill>
                  <a:srgbClr val="8B0000"/>
                </a:solidFill>
                <a:latin typeface="Calibri" pitchFamily="34" charset="0"/>
                <a:ea typeface="Calibri" pitchFamily="34" charset="-122"/>
                <a:cs typeface="Calibri" pitchFamily="34" charset="-120"/>
              </a:rPr>
              <a:t>▲¥23,600</a:t>
            </a:r>
            <a:endParaRPr lang="en-US" sz="1200" dirty="0"/>
          </a:p>
        </p:txBody>
      </p:sp>
      <p:sp>
        <p:nvSpPr>
          <p:cNvPr id="20" name="Text 18"/>
          <p:cNvSpPr/>
          <p:nvPr/>
        </p:nvSpPr>
        <p:spPr>
          <a:xfrm>
            <a:off x="3749040" y="2926080"/>
            <a:ext cx="2926080" cy="274320"/>
          </a:xfrm>
          <a:prstGeom prst="rect">
            <a:avLst/>
          </a:prstGeom>
          <a:noFill/>
          <a:ln/>
        </p:spPr>
        <p:txBody>
          <a:bodyPr wrap="square" lIns="0" tIns="0" rIns="0" bIns="0" rtlCol="0" anchor="ctr"/>
          <a:lstStyle/>
          <a:p>
            <a:pPr algn="l" indent="0" marL="0">
              <a:buNone/>
            </a:pPr>
            <a:r>
              <a:rPr lang="en-US" sz="1100" b="1" dirty="0">
                <a:solidFill>
                  <a:srgbClr val="2D2D2D"/>
                </a:solidFill>
                <a:latin typeface="Calibri" pitchFamily="34" charset="0"/>
                <a:ea typeface="Calibri" pitchFamily="34" charset="-122"/>
                <a:cs typeface="Calibri" pitchFamily="34" charset="-120"/>
              </a:rPr>
              <a:t>粗利</a:t>
            </a:r>
            <a:endParaRPr lang="en-US" sz="1100" dirty="0"/>
          </a:p>
        </p:txBody>
      </p:sp>
      <p:sp>
        <p:nvSpPr>
          <p:cNvPr id="21" name="Text 19"/>
          <p:cNvSpPr/>
          <p:nvPr/>
        </p:nvSpPr>
        <p:spPr>
          <a:xfrm>
            <a:off x="6858000" y="2926080"/>
            <a:ext cx="1645920" cy="274320"/>
          </a:xfrm>
          <a:prstGeom prst="rect">
            <a:avLst/>
          </a:prstGeom>
          <a:noFill/>
          <a:ln/>
        </p:spPr>
        <p:txBody>
          <a:bodyPr wrap="square" lIns="0" tIns="0" rIns="0" bIns="0" rtlCol="0" anchor="ctr"/>
          <a:lstStyle/>
          <a:p>
            <a:pPr algn="r" indent="0" marL="0">
              <a:buNone/>
            </a:pPr>
            <a:r>
              <a:rPr lang="en-US" sz="1200" b="1" dirty="0">
                <a:solidFill>
                  <a:srgbClr val="2E8B57"/>
                </a:solidFill>
                <a:latin typeface="Calibri" pitchFamily="34" charset="0"/>
                <a:ea typeface="Calibri" pitchFamily="34" charset="-122"/>
                <a:cs typeface="Calibri" pitchFamily="34" charset="-120"/>
              </a:rPr>
              <a:t>¥26,400</a:t>
            </a:r>
            <a:endParaRPr lang="en-US" sz="1200" dirty="0"/>
          </a:p>
        </p:txBody>
      </p:sp>
      <p:sp>
        <p:nvSpPr>
          <p:cNvPr id="22" name="Shape 20"/>
          <p:cNvSpPr/>
          <p:nvPr/>
        </p:nvSpPr>
        <p:spPr>
          <a:xfrm>
            <a:off x="548640" y="3749040"/>
            <a:ext cx="8046720" cy="914400"/>
          </a:xfrm>
          <a:prstGeom prst="roundRect">
            <a:avLst>
              <a:gd name="adj" fmla="val 8000"/>
            </a:avLst>
          </a:prstGeom>
          <a:solidFill>
            <a:srgbClr val="FDF5E6"/>
          </a:solidFill>
          <a:ln/>
          <a:effectLst>
            <a:outerShdw sx="100000" sy="100000" kx="0" ky="0" algn="bl" rotWithShape="0" blurRad="50800" dist="25400" dir="18900000">
              <a:srgbClr val="000000">
                <a:alpha val="12000"/>
              </a:srgbClr>
            </a:outerShdw>
          </a:effectLst>
        </p:spPr>
      </p:sp>
      <p:sp>
        <p:nvSpPr>
          <p:cNvPr id="23" name="Text 21"/>
          <p:cNvSpPr/>
          <p:nvPr/>
        </p:nvSpPr>
        <p:spPr>
          <a:xfrm>
            <a:off x="731520" y="3840480"/>
            <a:ext cx="7680960" cy="640080"/>
          </a:xfrm>
          <a:prstGeom prst="rect">
            <a:avLst/>
          </a:prstGeom>
          <a:noFill/>
          <a:ln/>
        </p:spPr>
        <p:txBody>
          <a:bodyPr wrap="square" lIns="0" tIns="0" rIns="0" bIns="0" rtlCol="0" anchor="ctr"/>
          <a:lstStyle/>
          <a:p>
            <a:pPr algn="l" indent="0" marL="0">
              <a:lnSpc>
                <a:spcPct val="150000"/>
              </a:lnSpc>
              <a:buNone/>
            </a:pPr>
            <a:r>
              <a:rPr lang="en-US" sz="1100" b="1" dirty="0">
                <a:solidFill>
                  <a:srgbClr val="2D2D2D"/>
                </a:solidFill>
                <a:latin typeface="Calibri" pitchFamily="34" charset="0"/>
                <a:ea typeface="Calibri" pitchFamily="34" charset="-122"/>
                <a:cs typeface="Calibri" pitchFamily="34" charset="-120"/>
              </a:rPr>
              <a:t>ポイント変換率 約70%</a:t>
            </a:r>
            <a:endParaRPr lang="en-US" sz="1100" dirty="0"/>
          </a:p>
          <a:p>
            <a:pPr algn="l" indent="0" marL="0">
              <a:lnSpc>
                <a:spcPct val="150000"/>
              </a:lnSpc>
              <a:buNone/>
            </a:pPr>
            <a:r>
              <a:rPr lang="en-US" sz="1100" dirty="0">
                <a:solidFill>
                  <a:srgbClr val="2D2D2D"/>
                </a:solidFill>
                <a:latin typeface="Calibri" pitchFamily="34" charset="0"/>
                <a:ea typeface="Calibri" pitchFamily="34" charset="-122"/>
                <a:cs typeface="Calibri" pitchFamily="34" charset="-120"/>
              </a:rPr>
              <a:t>当選カードの約70%はポイント変換を選択 → 物理発送不要 → 発送コストを大幅削減。</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algn="l" indent="0" marL="0">
              <a:buNone/>
            </a:pPr>
            <a:r>
              <a:rPr lang="en-US" sz="3200" b="1" dirty="0">
                <a:solidFill>
                  <a:srgbClr val="8B0000"/>
                </a:solidFill>
                <a:latin typeface="Calibri" pitchFamily="34" charset="0"/>
                <a:ea typeface="Calibri" pitchFamily="34" charset="-122"/>
                <a:cs typeface="Calibri" pitchFamily="34" charset="-120"/>
              </a:rPr>
              <a:t>ロードマップ</a:t>
            </a:r>
            <a:endParaRPr lang="en-US" sz="3200" dirty="0"/>
          </a:p>
        </p:txBody>
      </p:sp>
      <p:sp>
        <p:nvSpPr>
          <p:cNvPr id="3" name="Text 1"/>
          <p:cNvSpPr/>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11</a:t>
            </a:r>
            <a:endParaRPr lang="en-US" sz="900" dirty="0"/>
          </a:p>
        </p:txBody>
      </p:sp>
      <p:sp>
        <p:nvSpPr>
          <p:cNvPr id="4" name="Shape 2"/>
          <p:cNvSpPr/>
          <p:nvPr/>
        </p:nvSpPr>
        <p:spPr>
          <a:xfrm>
            <a:off x="457200" y="1005840"/>
            <a:ext cx="2651760" cy="640080"/>
          </a:xfrm>
          <a:prstGeom prst="roundRect">
            <a:avLst>
              <a:gd name="adj" fmla="val 8571"/>
            </a:avLst>
          </a:prstGeom>
          <a:solidFill>
            <a:srgbClr val="C41E3A"/>
          </a:solidFill>
          <a:ln/>
          <a:effectLst>
            <a:outerShdw sx="100000" sy="100000" kx="0" ky="0" algn="bl" rotWithShape="0" blurRad="50800" dist="25400" dir="18900000">
              <a:srgbClr val="000000">
                <a:alpha val="12000"/>
              </a:srgbClr>
            </a:outerShdw>
          </a:effectLst>
        </p:spPr>
      </p:sp>
      <p:sp>
        <p:nvSpPr>
          <p:cNvPr id="5" name="Text 3"/>
          <p:cNvSpPr/>
          <p:nvPr/>
        </p:nvSpPr>
        <p:spPr>
          <a:xfrm>
            <a:off x="457200" y="1024128"/>
            <a:ext cx="2651760" cy="3200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Phase 1</a:t>
            </a:r>
            <a:endParaRPr lang="en-US" sz="1800" dirty="0"/>
          </a:p>
        </p:txBody>
      </p:sp>
      <p:sp>
        <p:nvSpPr>
          <p:cNvPr id="6" name="Text 4"/>
          <p:cNvSpPr/>
          <p:nvPr/>
        </p:nvSpPr>
        <p:spPr>
          <a:xfrm>
            <a:off x="457200" y="1325880"/>
            <a:ext cx="2651760" cy="228600"/>
          </a:xfrm>
          <a:prstGeom prst="rect">
            <a:avLst/>
          </a:prstGeom>
          <a:noFill/>
          <a:ln/>
        </p:spPr>
        <p:txBody>
          <a:bodyPr wrap="square" lIns="0" tIns="0" rIns="0" bIns="0" rtlCol="0" anchor="ctr"/>
          <a:lstStyle/>
          <a:p>
            <a:pPr algn="ctr" indent="0" marL="0">
              <a:buNone/>
            </a:pPr>
            <a:r>
              <a:rPr lang="en-US" sz="1000" dirty="0">
                <a:solidFill>
                  <a:srgbClr val="FFDDDD"/>
                </a:solidFill>
                <a:latin typeface="Calibri" pitchFamily="34" charset="0"/>
                <a:ea typeface="Calibri" pitchFamily="34" charset="-122"/>
                <a:cs typeface="Calibri" pitchFamily="34" charset="-120"/>
              </a:rPr>
              <a:t>2026年8月〜9月</a:t>
            </a:r>
            <a:endParaRPr lang="en-US" sz="1000" dirty="0"/>
          </a:p>
        </p:txBody>
      </p:sp>
      <p:sp>
        <p:nvSpPr>
          <p:cNvPr id="7" name="Shape 5"/>
          <p:cNvSpPr/>
          <p:nvPr/>
        </p:nvSpPr>
        <p:spPr>
          <a:xfrm>
            <a:off x="457200" y="1737360"/>
            <a:ext cx="2651760" cy="2834640"/>
          </a:xfrm>
          <a:prstGeom prst="roundRect">
            <a:avLst>
              <a:gd name="adj" fmla="val 2759"/>
            </a:avLst>
          </a:prstGeom>
          <a:solidFill>
            <a:srgbClr val="FDF5E6"/>
          </a:solidFill>
          <a:ln/>
          <a:effectLst>
            <a:outerShdw sx="100000" sy="100000" kx="0" ky="0" algn="bl" rotWithShape="0" blurRad="50800" dist="25400" dir="18900000">
              <a:srgbClr val="000000">
                <a:alpha val="12000"/>
              </a:srgbClr>
            </a:outerShdw>
          </a:effectLst>
        </p:spPr>
      </p:sp>
      <p:sp>
        <p:nvSpPr>
          <p:cNvPr id="8" name="Text 6"/>
          <p:cNvSpPr/>
          <p:nvPr/>
        </p:nvSpPr>
        <p:spPr>
          <a:xfrm>
            <a:off x="594360" y="1828800"/>
            <a:ext cx="2377440" cy="320040"/>
          </a:xfrm>
          <a:prstGeom prst="rect">
            <a:avLst/>
          </a:prstGeom>
          <a:noFill/>
          <a:ln/>
        </p:spPr>
        <p:txBody>
          <a:bodyPr wrap="square" lIns="0" tIns="0" rIns="0" bIns="0" rtlCol="0" anchor="ctr"/>
          <a:lstStyle/>
          <a:p>
            <a:pPr algn="l" indent="0" marL="0">
              <a:buNone/>
            </a:pPr>
            <a:r>
              <a:rPr lang="en-US" sz="1200" b="1" dirty="0">
                <a:solidFill>
                  <a:srgbClr val="8B0000"/>
                </a:solidFill>
                <a:latin typeface="Calibri" pitchFamily="34" charset="0"/>
                <a:ea typeface="Calibri" pitchFamily="34" charset="-122"/>
                <a:cs typeface="Calibri" pitchFamily="34" charset="-120"/>
              </a:rPr>
              <a:t>MVP完成・ローンチ準備</a:t>
            </a:r>
            <a:endParaRPr lang="en-US" sz="1200" dirty="0"/>
          </a:p>
        </p:txBody>
      </p:sp>
      <p:sp>
        <p:nvSpPr>
          <p:cNvPr id="9" name="Text 7"/>
          <p:cNvSpPr/>
          <p:nvPr/>
        </p:nvSpPr>
        <p:spPr>
          <a:xfrm>
            <a:off x="594360" y="2194560"/>
            <a:ext cx="2377440" cy="2103120"/>
          </a:xfrm>
          <a:prstGeom prst="rect">
            <a:avLst/>
          </a:prstGeom>
          <a:noFill/>
          <a:ln/>
        </p:spPr>
        <p:txBody>
          <a:bodyPr wrap="square" lIns="0" tIns="0" rIns="0" bIns="0" rtlCol="0" anchor="ctr"/>
          <a:lstStyle/>
          <a:p>
            <a:pPr algn="l" marL="342900" indent="-342900">
              <a:spcAft>
                <a:spcPts val="800"/>
              </a:spcAft>
              <a:buSzPct val="100000"/>
              <a:buChar char="•"/>
            </a:pPr>
            <a:r>
              <a:rPr lang="en-US" sz="1100" dirty="0">
                <a:solidFill>
                  <a:srgbClr val="2D2D2D"/>
                </a:solidFill>
                <a:latin typeface="Calibri" pitchFamily="34" charset="0"/>
                <a:ea typeface="Calibri" pitchFamily="34" charset="-122"/>
                <a:cs typeface="Calibri" pitchFamily="34" charset="-120"/>
              </a:rPr>
              <a:t>Supabase本番設定</a:t>
            </a:r>
            <a:endParaRPr lang="en-US" sz="1100" dirty="0"/>
          </a:p>
          <a:p>
            <a:pPr algn="l" marL="342900" indent="-342900">
              <a:spcAft>
                <a:spcPts val="800"/>
              </a:spcAft>
              <a:buSzPct val="100000"/>
              <a:buChar char="•"/>
            </a:pPr>
            <a:r>
              <a:rPr lang="en-US" sz="1100" dirty="0">
                <a:solidFill>
                  <a:srgbClr val="2D2D2D"/>
                </a:solidFill>
                <a:latin typeface="Calibri" pitchFamily="34" charset="0"/>
                <a:ea typeface="Calibri" pitchFamily="34" charset="-122"/>
                <a:cs typeface="Calibri" pitchFamily="34" charset="-120"/>
              </a:rPr>
              <a:t>古物商許可取得</a:t>
            </a:r>
            <a:endParaRPr lang="en-US" sz="1100" dirty="0"/>
          </a:p>
          <a:p>
            <a:pPr algn="l" marL="342900" indent="-342900">
              <a:spcAft>
                <a:spcPts val="800"/>
              </a:spcAft>
              <a:buSzPct val="100000"/>
              <a:buChar char="•"/>
            </a:pPr>
            <a:r>
              <a:rPr lang="en-US" sz="1100" dirty="0">
                <a:solidFill>
                  <a:srgbClr val="2D2D2D"/>
                </a:solidFill>
                <a:latin typeface="Calibri" pitchFamily="34" charset="0"/>
                <a:ea typeface="Calibri" pitchFamily="34" charset="-122"/>
                <a:cs typeface="Calibri" pitchFamily="34" charset="-120"/>
              </a:rPr>
              <a:t>Stripe本番モード</a:t>
            </a:r>
            <a:endParaRPr lang="en-US" sz="1100" dirty="0"/>
          </a:p>
          <a:p>
            <a:pPr algn="l" marL="342900" indent="-342900">
              <a:spcAft>
                <a:spcPts val="800"/>
              </a:spcAft>
              <a:buSzPct val="100000"/>
              <a:buChar char="•"/>
            </a:pPr>
            <a:r>
              <a:rPr lang="en-US" sz="1100" dirty="0">
                <a:solidFill>
                  <a:srgbClr val="2D2D2D"/>
                </a:solidFill>
                <a:latin typeface="Calibri" pitchFamily="34" charset="0"/>
                <a:ea typeface="Calibri" pitchFamily="34" charset="-122"/>
                <a:cs typeface="Calibri" pitchFamily="34" charset="-120"/>
              </a:rPr>
              <a:t>ポイント失効処理</a:t>
            </a:r>
            <a:endParaRPr lang="en-US" sz="1100" dirty="0"/>
          </a:p>
          <a:p>
            <a:pPr algn="l" marL="342900" indent="-342900">
              <a:spcAft>
                <a:spcPts val="800"/>
              </a:spcAft>
              <a:buSzPct val="100000"/>
              <a:buChar char="•"/>
            </a:pPr>
            <a:r>
              <a:rPr lang="en-US" sz="1100" dirty="0">
                <a:solidFill>
                  <a:srgbClr val="2D2D2D"/>
                </a:solidFill>
                <a:latin typeface="Calibri" pitchFamily="34" charset="0"/>
                <a:ea typeface="Calibri" pitchFamily="34" charset="-122"/>
                <a:cs typeface="Calibri" pitchFamily="34" charset="-120"/>
              </a:rPr>
              <a:t>ドメイン・SSL設定</a:t>
            </a:r>
            <a:endParaRPr lang="en-US" sz="1100" dirty="0"/>
          </a:p>
        </p:txBody>
      </p:sp>
      <p:sp>
        <p:nvSpPr>
          <p:cNvPr id="10" name="Text 8"/>
          <p:cNvSpPr/>
          <p:nvPr/>
        </p:nvSpPr>
        <p:spPr>
          <a:xfrm>
            <a:off x="3108960" y="1097280"/>
            <a:ext cx="137160" cy="457200"/>
          </a:xfrm>
          <a:prstGeom prst="rect">
            <a:avLst/>
          </a:prstGeom>
          <a:noFill/>
          <a:ln/>
        </p:spPr>
        <p:txBody>
          <a:bodyPr wrap="square" lIns="0" tIns="0" rIns="0" bIns="0" rtlCol="0" anchor="ctr"/>
          <a:lstStyle/>
          <a:p>
            <a:pPr algn="ctr" indent="0" marL="0">
              <a:buNone/>
            </a:pPr>
            <a:r>
              <a:rPr lang="en-US" sz="1800" dirty="0">
                <a:solidFill>
                  <a:srgbClr val="999999"/>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3246120" y="1005840"/>
            <a:ext cx="2651760" cy="640080"/>
          </a:xfrm>
          <a:prstGeom prst="roundRect">
            <a:avLst>
              <a:gd name="adj" fmla="val 8571"/>
            </a:avLst>
          </a:prstGeom>
          <a:solidFill>
            <a:srgbClr val="D4A017"/>
          </a:solidFill>
          <a:ln/>
          <a:effectLst>
            <a:outerShdw sx="100000" sy="100000" kx="0" ky="0" algn="bl" rotWithShape="0" blurRad="50800" dist="25400" dir="18900000">
              <a:srgbClr val="000000">
                <a:alpha val="12000"/>
              </a:srgbClr>
            </a:outerShdw>
          </a:effectLst>
        </p:spPr>
      </p:sp>
      <p:sp>
        <p:nvSpPr>
          <p:cNvPr id="12" name="Text 10"/>
          <p:cNvSpPr/>
          <p:nvPr/>
        </p:nvSpPr>
        <p:spPr>
          <a:xfrm>
            <a:off x="3246120" y="1024128"/>
            <a:ext cx="2651760" cy="3200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Phase 2</a:t>
            </a:r>
            <a:endParaRPr lang="en-US" sz="1800" dirty="0"/>
          </a:p>
        </p:txBody>
      </p:sp>
      <p:sp>
        <p:nvSpPr>
          <p:cNvPr id="13" name="Text 11"/>
          <p:cNvSpPr/>
          <p:nvPr/>
        </p:nvSpPr>
        <p:spPr>
          <a:xfrm>
            <a:off x="3246120" y="1325880"/>
            <a:ext cx="2651760" cy="228600"/>
          </a:xfrm>
          <a:prstGeom prst="rect">
            <a:avLst/>
          </a:prstGeom>
          <a:noFill/>
          <a:ln/>
        </p:spPr>
        <p:txBody>
          <a:bodyPr wrap="square" lIns="0" tIns="0" rIns="0" bIns="0" rtlCol="0" anchor="ctr"/>
          <a:lstStyle/>
          <a:p>
            <a:pPr algn="ctr" indent="0" marL="0">
              <a:buNone/>
            </a:pPr>
            <a:r>
              <a:rPr lang="en-US" sz="1000" dirty="0">
                <a:solidFill>
                  <a:srgbClr val="333333"/>
                </a:solidFill>
                <a:latin typeface="Calibri" pitchFamily="34" charset="0"/>
                <a:ea typeface="Calibri" pitchFamily="34" charset="-122"/>
                <a:cs typeface="Calibri" pitchFamily="34" charset="-120"/>
              </a:rPr>
              <a:t>2026年10月〜12月</a:t>
            </a:r>
            <a:endParaRPr lang="en-US" sz="1000" dirty="0"/>
          </a:p>
        </p:txBody>
      </p:sp>
      <p:sp>
        <p:nvSpPr>
          <p:cNvPr id="14" name="Shape 12"/>
          <p:cNvSpPr/>
          <p:nvPr/>
        </p:nvSpPr>
        <p:spPr>
          <a:xfrm>
            <a:off x="3246120" y="1737360"/>
            <a:ext cx="2651760" cy="2834640"/>
          </a:xfrm>
          <a:prstGeom prst="roundRect">
            <a:avLst>
              <a:gd name="adj" fmla="val 2759"/>
            </a:avLst>
          </a:prstGeom>
          <a:solidFill>
            <a:srgbClr val="FDF5E6"/>
          </a:solidFill>
          <a:ln/>
          <a:effectLst>
            <a:outerShdw sx="100000" sy="100000" kx="0" ky="0" algn="bl" rotWithShape="0" blurRad="50800" dist="25400" dir="18900000">
              <a:srgbClr val="000000">
                <a:alpha val="12000"/>
              </a:srgbClr>
            </a:outerShdw>
          </a:effectLst>
        </p:spPr>
      </p:sp>
      <p:sp>
        <p:nvSpPr>
          <p:cNvPr id="15" name="Text 13"/>
          <p:cNvSpPr/>
          <p:nvPr/>
        </p:nvSpPr>
        <p:spPr>
          <a:xfrm>
            <a:off x="3383280" y="1828800"/>
            <a:ext cx="2377440" cy="320040"/>
          </a:xfrm>
          <a:prstGeom prst="rect">
            <a:avLst/>
          </a:prstGeom>
          <a:noFill/>
          <a:ln/>
        </p:spPr>
        <p:txBody>
          <a:bodyPr wrap="square" lIns="0" tIns="0" rIns="0" bIns="0" rtlCol="0" anchor="ctr"/>
          <a:lstStyle/>
          <a:p>
            <a:pPr algn="l" indent="0" marL="0">
              <a:buNone/>
            </a:pPr>
            <a:r>
              <a:rPr lang="en-US" sz="1200" b="1" dirty="0">
                <a:solidFill>
                  <a:srgbClr val="8B0000"/>
                </a:solidFill>
                <a:latin typeface="Calibri" pitchFamily="34" charset="0"/>
                <a:ea typeface="Calibri" pitchFamily="34" charset="-122"/>
                <a:cs typeface="Calibri" pitchFamily="34" charset="-120"/>
              </a:rPr>
              <a:t>正式ローンチ・初期成長</a:t>
            </a:r>
            <a:endParaRPr lang="en-US" sz="1200" dirty="0"/>
          </a:p>
        </p:txBody>
      </p:sp>
      <p:sp>
        <p:nvSpPr>
          <p:cNvPr id="16" name="Text 14"/>
          <p:cNvSpPr/>
          <p:nvPr/>
        </p:nvSpPr>
        <p:spPr>
          <a:xfrm>
            <a:off x="3383280" y="2194560"/>
            <a:ext cx="2377440" cy="2103120"/>
          </a:xfrm>
          <a:prstGeom prst="rect">
            <a:avLst/>
          </a:prstGeom>
          <a:noFill/>
          <a:ln/>
        </p:spPr>
        <p:txBody>
          <a:bodyPr wrap="square" lIns="0" tIns="0" rIns="0" bIns="0" rtlCol="0" anchor="ctr"/>
          <a:lstStyle/>
          <a:p>
            <a:pPr algn="l" marL="342900" indent="-342900">
              <a:spcAft>
                <a:spcPts val="800"/>
              </a:spcAft>
              <a:buSzPct val="100000"/>
              <a:buChar char="•"/>
            </a:pPr>
            <a:r>
              <a:rPr lang="en-US" sz="1100" dirty="0">
                <a:solidFill>
                  <a:srgbClr val="2D2D2D"/>
                </a:solidFill>
                <a:latin typeface="Calibri" pitchFamily="34" charset="0"/>
                <a:ea typeface="Calibri" pitchFamily="34" charset="-122"/>
                <a:cs typeface="Calibri" pitchFamily="34" charset="-120"/>
              </a:rPr>
              <a:t>正式サービスローンチ</a:t>
            </a:r>
            <a:endParaRPr lang="en-US" sz="1100" dirty="0"/>
          </a:p>
          <a:p>
            <a:pPr algn="l" marL="342900" indent="-342900">
              <a:spcAft>
                <a:spcPts val="800"/>
              </a:spcAft>
              <a:buSzPct val="100000"/>
              <a:buChar char="•"/>
            </a:pPr>
            <a:r>
              <a:rPr lang="en-US" sz="1100" dirty="0">
                <a:solidFill>
                  <a:srgbClr val="2D2D2D"/>
                </a:solidFill>
                <a:latin typeface="Calibri" pitchFamily="34" charset="0"/>
                <a:ea typeface="Calibri" pitchFamily="34" charset="-122"/>
                <a:cs typeface="Calibri" pitchFamily="34" charset="-120"/>
              </a:rPr>
              <a:t>メール通知 (Resend)</a:t>
            </a:r>
            <a:endParaRPr lang="en-US" sz="1100" dirty="0"/>
          </a:p>
          <a:p>
            <a:pPr algn="l" marL="342900" indent="-342900">
              <a:spcAft>
                <a:spcPts val="800"/>
              </a:spcAft>
              <a:buSzPct val="100000"/>
              <a:buChar char="•"/>
            </a:pPr>
            <a:r>
              <a:rPr lang="en-US" sz="1100" dirty="0">
                <a:solidFill>
                  <a:srgbClr val="2D2D2D"/>
                </a:solidFill>
                <a:latin typeface="Calibri" pitchFamily="34" charset="0"/>
                <a:ea typeface="Calibri" pitchFamily="34" charset="-122"/>
                <a:cs typeface="Calibri" pitchFamily="34" charset="-120"/>
              </a:rPr>
              <a:t>天井（確定枠）実装</a:t>
            </a:r>
            <a:endParaRPr lang="en-US" sz="1100" dirty="0"/>
          </a:p>
          <a:p>
            <a:pPr algn="l" marL="342900" indent="-342900">
              <a:spcAft>
                <a:spcPts val="800"/>
              </a:spcAft>
              <a:buSzPct val="100000"/>
              <a:buChar char="•"/>
            </a:pPr>
            <a:r>
              <a:rPr lang="en-US" sz="1100" dirty="0">
                <a:solidFill>
                  <a:srgbClr val="2D2D2D"/>
                </a:solidFill>
                <a:latin typeface="Calibri" pitchFamily="34" charset="0"/>
                <a:ea typeface="Calibri" pitchFamily="34" charset="-122"/>
                <a:cs typeface="Calibri" pitchFamily="34" charset="-120"/>
              </a:rPr>
              <a:t>ランキング・実績公開</a:t>
            </a:r>
            <a:endParaRPr lang="en-US" sz="1100" dirty="0"/>
          </a:p>
          <a:p>
            <a:pPr algn="l" marL="342900" indent="-342900">
              <a:spcAft>
                <a:spcPts val="800"/>
              </a:spcAft>
              <a:buSzPct val="100000"/>
              <a:buChar char="•"/>
            </a:pPr>
            <a:r>
              <a:rPr lang="en-US" sz="1100" dirty="0">
                <a:solidFill>
                  <a:srgbClr val="2D2D2D"/>
                </a:solidFill>
                <a:latin typeface="Calibri" pitchFamily="34" charset="0"/>
                <a:ea typeface="Calibri" pitchFamily="34" charset="-122"/>
                <a:cs typeface="Calibri" pitchFamily="34" charset="-120"/>
              </a:rPr>
              <a:t>自動価格取得</a:t>
            </a:r>
            <a:endParaRPr lang="en-US" sz="1100" dirty="0"/>
          </a:p>
        </p:txBody>
      </p:sp>
      <p:sp>
        <p:nvSpPr>
          <p:cNvPr id="17" name="Text 15"/>
          <p:cNvSpPr/>
          <p:nvPr/>
        </p:nvSpPr>
        <p:spPr>
          <a:xfrm>
            <a:off x="5897880" y="1097280"/>
            <a:ext cx="137160" cy="457200"/>
          </a:xfrm>
          <a:prstGeom prst="rect">
            <a:avLst/>
          </a:prstGeom>
          <a:noFill/>
          <a:ln/>
        </p:spPr>
        <p:txBody>
          <a:bodyPr wrap="square" lIns="0" tIns="0" rIns="0" bIns="0" rtlCol="0" anchor="ctr"/>
          <a:lstStyle/>
          <a:p>
            <a:pPr algn="ctr" indent="0" marL="0">
              <a:buNone/>
            </a:pPr>
            <a:r>
              <a:rPr lang="en-US" sz="1800" dirty="0">
                <a:solidFill>
                  <a:srgbClr val="999999"/>
                </a:solidFill>
                <a:latin typeface="Calibri" pitchFamily="34" charset="0"/>
                <a:ea typeface="Calibri" pitchFamily="34" charset="-122"/>
                <a:cs typeface="Calibri" pitchFamily="34" charset="-120"/>
              </a:rPr>
              <a:t>→</a:t>
            </a:r>
            <a:endParaRPr lang="en-US" sz="1800" dirty="0"/>
          </a:p>
        </p:txBody>
      </p:sp>
      <p:sp>
        <p:nvSpPr>
          <p:cNvPr id="18" name="Shape 16"/>
          <p:cNvSpPr/>
          <p:nvPr/>
        </p:nvSpPr>
        <p:spPr>
          <a:xfrm>
            <a:off x="6035040" y="1005840"/>
            <a:ext cx="2651760" cy="640080"/>
          </a:xfrm>
          <a:prstGeom prst="roundRect">
            <a:avLst>
              <a:gd name="adj" fmla="val 8571"/>
            </a:avLst>
          </a:prstGeom>
          <a:solidFill>
            <a:srgbClr val="8B0000"/>
          </a:solidFill>
          <a:ln/>
          <a:effectLst>
            <a:outerShdw sx="100000" sy="100000" kx="0" ky="0" algn="bl" rotWithShape="0" blurRad="50800" dist="25400" dir="18900000">
              <a:srgbClr val="000000">
                <a:alpha val="12000"/>
              </a:srgbClr>
            </a:outerShdw>
          </a:effectLst>
        </p:spPr>
      </p:sp>
      <p:sp>
        <p:nvSpPr>
          <p:cNvPr id="19" name="Text 17"/>
          <p:cNvSpPr/>
          <p:nvPr/>
        </p:nvSpPr>
        <p:spPr>
          <a:xfrm>
            <a:off x="6035040" y="1024128"/>
            <a:ext cx="2651760" cy="3200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Phase 3</a:t>
            </a:r>
            <a:endParaRPr lang="en-US" sz="1800" dirty="0"/>
          </a:p>
        </p:txBody>
      </p:sp>
      <p:sp>
        <p:nvSpPr>
          <p:cNvPr id="20" name="Text 18"/>
          <p:cNvSpPr/>
          <p:nvPr/>
        </p:nvSpPr>
        <p:spPr>
          <a:xfrm>
            <a:off x="6035040" y="1325880"/>
            <a:ext cx="2651760" cy="228600"/>
          </a:xfrm>
          <a:prstGeom prst="rect">
            <a:avLst/>
          </a:prstGeom>
          <a:noFill/>
          <a:ln/>
        </p:spPr>
        <p:txBody>
          <a:bodyPr wrap="square" lIns="0" tIns="0" rIns="0" bIns="0" rtlCol="0" anchor="ctr"/>
          <a:lstStyle/>
          <a:p>
            <a:pPr algn="ctr" indent="0" marL="0">
              <a:buNone/>
            </a:pPr>
            <a:r>
              <a:rPr lang="en-US" sz="1000" dirty="0">
                <a:solidFill>
                  <a:srgbClr val="FFDDDD"/>
                </a:solidFill>
                <a:latin typeface="Calibri" pitchFamily="34" charset="0"/>
                <a:ea typeface="Calibri" pitchFamily="34" charset="-122"/>
                <a:cs typeface="Calibri" pitchFamily="34" charset="-120"/>
              </a:rPr>
              <a:t>2027年1月〜6月</a:t>
            </a:r>
            <a:endParaRPr lang="en-US" sz="1000" dirty="0"/>
          </a:p>
        </p:txBody>
      </p:sp>
      <p:sp>
        <p:nvSpPr>
          <p:cNvPr id="21" name="Shape 19"/>
          <p:cNvSpPr/>
          <p:nvPr/>
        </p:nvSpPr>
        <p:spPr>
          <a:xfrm>
            <a:off x="6035040" y="1737360"/>
            <a:ext cx="2651760" cy="2834640"/>
          </a:xfrm>
          <a:prstGeom prst="roundRect">
            <a:avLst>
              <a:gd name="adj" fmla="val 2759"/>
            </a:avLst>
          </a:prstGeom>
          <a:solidFill>
            <a:srgbClr val="FDF5E6"/>
          </a:solidFill>
          <a:ln/>
          <a:effectLst>
            <a:outerShdw sx="100000" sy="100000" kx="0" ky="0" algn="bl" rotWithShape="0" blurRad="50800" dist="25400" dir="18900000">
              <a:srgbClr val="000000">
                <a:alpha val="12000"/>
              </a:srgbClr>
            </a:outerShdw>
          </a:effectLst>
        </p:spPr>
      </p:sp>
      <p:sp>
        <p:nvSpPr>
          <p:cNvPr id="22" name="Text 20"/>
          <p:cNvSpPr/>
          <p:nvPr/>
        </p:nvSpPr>
        <p:spPr>
          <a:xfrm>
            <a:off x="6172200" y="1828800"/>
            <a:ext cx="2377440" cy="320040"/>
          </a:xfrm>
          <a:prstGeom prst="rect">
            <a:avLst/>
          </a:prstGeom>
          <a:noFill/>
          <a:ln/>
        </p:spPr>
        <p:txBody>
          <a:bodyPr wrap="square" lIns="0" tIns="0" rIns="0" bIns="0" rtlCol="0" anchor="ctr"/>
          <a:lstStyle/>
          <a:p>
            <a:pPr algn="l" indent="0" marL="0">
              <a:buNone/>
            </a:pPr>
            <a:r>
              <a:rPr lang="en-US" sz="1200" b="1" dirty="0">
                <a:solidFill>
                  <a:srgbClr val="8B0000"/>
                </a:solidFill>
                <a:latin typeface="Calibri" pitchFamily="34" charset="0"/>
                <a:ea typeface="Calibri" pitchFamily="34" charset="-122"/>
                <a:cs typeface="Calibri" pitchFamily="34" charset="-120"/>
              </a:rPr>
              <a:t>拡大期</a:t>
            </a:r>
            <a:endParaRPr lang="en-US" sz="1200" dirty="0"/>
          </a:p>
        </p:txBody>
      </p:sp>
      <p:sp>
        <p:nvSpPr>
          <p:cNvPr id="23" name="Text 21"/>
          <p:cNvSpPr/>
          <p:nvPr/>
        </p:nvSpPr>
        <p:spPr>
          <a:xfrm>
            <a:off x="6172200" y="2194560"/>
            <a:ext cx="2377440" cy="2103120"/>
          </a:xfrm>
          <a:prstGeom prst="rect">
            <a:avLst/>
          </a:prstGeom>
          <a:noFill/>
          <a:ln/>
        </p:spPr>
        <p:txBody>
          <a:bodyPr wrap="square" lIns="0" tIns="0" rIns="0" bIns="0" rtlCol="0" anchor="ctr"/>
          <a:lstStyle/>
          <a:p>
            <a:pPr algn="l" marL="342900" indent="-342900">
              <a:spcAft>
                <a:spcPts val="800"/>
              </a:spcAft>
              <a:buSzPct val="100000"/>
              <a:buChar char="•"/>
            </a:pPr>
            <a:r>
              <a:rPr lang="en-US" sz="1100" dirty="0">
                <a:solidFill>
                  <a:srgbClr val="2D2D2D"/>
                </a:solidFill>
                <a:latin typeface="Calibri" pitchFamily="34" charset="0"/>
                <a:ea typeface="Calibri" pitchFamily="34" charset="-122"/>
                <a:cs typeface="Calibri" pitchFamily="34" charset="-120"/>
              </a:rPr>
              <a:t>ネイティブアプリ開発</a:t>
            </a:r>
            <a:endParaRPr lang="en-US" sz="1100" dirty="0"/>
          </a:p>
          <a:p>
            <a:pPr algn="l" marL="342900" indent="-342900">
              <a:spcAft>
                <a:spcPts val="800"/>
              </a:spcAft>
              <a:buSzPct val="100000"/>
              <a:buChar char="•"/>
            </a:pPr>
            <a:r>
              <a:rPr lang="en-US" sz="1100" dirty="0">
                <a:solidFill>
                  <a:srgbClr val="2D2D2D"/>
                </a:solidFill>
                <a:latin typeface="Calibri" pitchFamily="34" charset="0"/>
                <a:ea typeface="Calibri" pitchFamily="34" charset="-122"/>
                <a:cs typeface="Calibri" pitchFamily="34" charset="-120"/>
              </a:rPr>
              <a:t>アフィリエイト制度</a:t>
            </a:r>
            <a:endParaRPr lang="en-US" sz="1100" dirty="0"/>
          </a:p>
          <a:p>
            <a:pPr algn="l" marL="342900" indent="-342900">
              <a:spcAft>
                <a:spcPts val="800"/>
              </a:spcAft>
              <a:buSzPct val="100000"/>
              <a:buChar char="•"/>
            </a:pPr>
            <a:r>
              <a:rPr lang="en-US" sz="1100" dirty="0">
                <a:solidFill>
                  <a:srgbClr val="2D2D2D"/>
                </a:solidFill>
                <a:latin typeface="Calibri" pitchFamily="34" charset="0"/>
                <a:ea typeface="Calibri" pitchFamily="34" charset="-122"/>
                <a:cs typeface="Calibri" pitchFamily="34" charset="-120"/>
              </a:rPr>
              <a:t>定期オリパ（サブスク）</a:t>
            </a:r>
            <a:endParaRPr lang="en-US" sz="1100" dirty="0"/>
          </a:p>
          <a:p>
            <a:pPr algn="l" marL="342900" indent="-342900">
              <a:spcAft>
                <a:spcPts val="800"/>
              </a:spcAft>
              <a:buSzPct val="100000"/>
              <a:buChar char="•"/>
            </a:pPr>
            <a:r>
              <a:rPr lang="en-US" sz="1100" dirty="0">
                <a:solidFill>
                  <a:srgbClr val="2D2D2D"/>
                </a:solidFill>
                <a:latin typeface="Calibri" pitchFamily="34" charset="0"/>
                <a:ea typeface="Calibri" pitchFamily="34" charset="-122"/>
                <a:cs typeface="Calibri" pitchFamily="34" charset="-120"/>
              </a:rPr>
              <a:t>コラボオリパ</a:t>
            </a:r>
            <a:endParaRPr lang="en-US" sz="1100" dirty="0"/>
          </a:p>
          <a:p>
            <a:pPr algn="l" marL="342900" indent="-342900">
              <a:spcAft>
                <a:spcPts val="800"/>
              </a:spcAft>
              <a:buSzPct val="100000"/>
              <a:buChar char="•"/>
            </a:pPr>
            <a:r>
              <a:rPr lang="en-US" sz="1100" dirty="0">
                <a:solidFill>
                  <a:srgbClr val="2D2D2D"/>
                </a:solidFill>
                <a:latin typeface="Calibri" pitchFamily="34" charset="0"/>
                <a:ea typeface="Calibri" pitchFamily="34" charset="-122"/>
                <a:cs typeface="Calibri" pitchFamily="34" charset="-120"/>
              </a:rPr>
              <a:t>海外展開調査</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algn="l" indent="0" marL="0">
              <a:buNone/>
            </a:pPr>
            <a:r>
              <a:rPr lang="en-US" sz="3200" b="1" dirty="0">
                <a:solidFill>
                  <a:srgbClr val="8B0000"/>
                </a:solidFill>
                <a:latin typeface="Calibri" pitchFamily="34" charset="0"/>
                <a:ea typeface="Calibri" pitchFamily="34" charset="-122"/>
                <a:cs typeface="Calibri" pitchFamily="34" charset="-120"/>
              </a:rPr>
              <a:t>売上予測（12ヶ月）</a:t>
            </a:r>
            <a:endParaRPr lang="en-US" sz="3200" dirty="0"/>
          </a:p>
        </p:txBody>
      </p:sp>
      <p:sp>
        <p:nvSpPr>
          <p:cNvPr id="3" name="Text 1"/>
          <p:cNvSpPr/>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12</a:t>
            </a:r>
            <a:endParaRPr lang="en-US" sz="900" dirty="0"/>
          </a:p>
        </p:txBody>
      </p:sp>
      <p:graphicFrame>
        <p:nvGraphicFramePr>
          <p:cNvPr id="4" name="Chart 0" descr=""/>
          <p:cNvGraphicFramePr/>
          <p:nvPr/>
        </p:nvGraphicFramePr>
        <p:xfrm>
          <a:off x="365760" y="822960"/>
          <a:ext cx="5303520" cy="3200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852160" y="914400"/>
            <a:ext cx="2926080" cy="320040"/>
          </a:xfrm>
          <a:prstGeom prst="rect">
            <a:avLst/>
          </a:prstGeom>
          <a:noFill/>
          <a:ln/>
        </p:spPr>
        <p:txBody>
          <a:bodyPr wrap="square" lIns="0" tIns="0" rIns="0" bIns="0" rtlCol="0" anchor="ctr"/>
          <a:lstStyle/>
          <a:p>
            <a:pPr algn="l" indent="0" marL="0">
              <a:buNone/>
            </a:pPr>
            <a:r>
              <a:rPr lang="en-US" sz="1300" b="1" dirty="0">
                <a:solidFill>
                  <a:srgbClr val="8B0000"/>
                </a:solidFill>
                <a:latin typeface="Calibri" pitchFamily="34" charset="0"/>
                <a:ea typeface="Calibri" pitchFamily="34" charset="-122"/>
                <a:cs typeface="Calibri" pitchFamily="34" charset="-120"/>
              </a:rPr>
              <a:t>3シナリオ比較（12ヶ月累計）</a:t>
            </a:r>
            <a:endParaRPr lang="en-US" sz="1300" dirty="0"/>
          </a:p>
        </p:txBody>
      </p:sp>
      <p:sp>
        <p:nvSpPr>
          <p:cNvPr id="6" name="Shape 3"/>
          <p:cNvSpPr/>
          <p:nvPr/>
        </p:nvSpPr>
        <p:spPr>
          <a:xfrm>
            <a:off x="5852160" y="1371600"/>
            <a:ext cx="2926080" cy="868680"/>
          </a:xfrm>
          <a:prstGeom prst="roundRect">
            <a:avLst>
              <a:gd name="adj" fmla="val 8421"/>
            </a:avLst>
          </a:prstGeom>
          <a:solidFill>
            <a:srgbClr val="FDF5E6"/>
          </a:solidFill>
          <a:ln/>
          <a:effectLst>
            <a:outerShdw sx="100000" sy="100000" kx="0" ky="0" algn="bl" rotWithShape="0" blurRad="50800" dist="25400" dir="18900000">
              <a:srgbClr val="000000">
                <a:alpha val="12000"/>
              </a:srgbClr>
            </a:outerShdw>
          </a:effectLst>
        </p:spPr>
      </p:sp>
      <p:sp>
        <p:nvSpPr>
          <p:cNvPr id="7" name="Text 4"/>
          <p:cNvSpPr/>
          <p:nvPr/>
        </p:nvSpPr>
        <p:spPr>
          <a:xfrm>
            <a:off x="5989320" y="1417320"/>
            <a:ext cx="914400" cy="274320"/>
          </a:xfrm>
          <a:prstGeom prst="rect">
            <a:avLst/>
          </a:prstGeom>
          <a:noFill/>
          <a:ln/>
        </p:spPr>
        <p:txBody>
          <a:bodyPr wrap="square" lIns="0" tIns="0" rIns="0" bIns="0" rtlCol="0" anchor="ctr"/>
          <a:lstStyle/>
          <a:p>
            <a:pPr algn="l" indent="0" marL="0">
              <a:buNone/>
            </a:pPr>
            <a:r>
              <a:rPr lang="en-US" sz="1200" b="1" dirty="0">
                <a:solidFill>
                  <a:srgbClr val="2D2D2D"/>
                </a:solidFill>
                <a:latin typeface="Calibri" pitchFamily="34" charset="0"/>
                <a:ea typeface="Calibri" pitchFamily="34" charset="-122"/>
                <a:cs typeface="Calibri" pitchFamily="34" charset="-120"/>
              </a:rPr>
              <a:t>保守的</a:t>
            </a:r>
            <a:endParaRPr lang="en-US" sz="1200" dirty="0"/>
          </a:p>
        </p:txBody>
      </p:sp>
      <p:sp>
        <p:nvSpPr>
          <p:cNvPr id="8" name="Text 5"/>
          <p:cNvSpPr/>
          <p:nvPr/>
        </p:nvSpPr>
        <p:spPr>
          <a:xfrm>
            <a:off x="5989320" y="1691640"/>
            <a:ext cx="2651760" cy="228600"/>
          </a:xfrm>
          <a:prstGeom prst="rect">
            <a:avLst/>
          </a:prstGeom>
          <a:noFill/>
          <a:ln/>
        </p:spPr>
        <p:txBody>
          <a:bodyPr wrap="square" lIns="0" tIns="0" rIns="0" bIns="0" rtlCol="0" anchor="ctr"/>
          <a:lstStyle/>
          <a:p>
            <a:pPr algn="l" indent="0" marL="0">
              <a:buNone/>
            </a:pPr>
            <a:r>
              <a:rPr lang="en-US" sz="1100" dirty="0">
                <a:solidFill>
                  <a:srgbClr val="2D2D2D"/>
                </a:solidFill>
                <a:latin typeface="Calibri" pitchFamily="34" charset="0"/>
                <a:ea typeface="Calibri" pitchFamily="34" charset="-122"/>
                <a:cs typeface="Calibri" pitchFamily="34" charset="-120"/>
              </a:rPr>
              <a:t>売上: ¥246万</a:t>
            </a:r>
            <a:endParaRPr lang="en-US" sz="1100" dirty="0"/>
          </a:p>
        </p:txBody>
      </p:sp>
      <p:sp>
        <p:nvSpPr>
          <p:cNvPr id="9" name="Text 6"/>
          <p:cNvSpPr/>
          <p:nvPr/>
        </p:nvSpPr>
        <p:spPr>
          <a:xfrm>
            <a:off x="5989320" y="1920240"/>
            <a:ext cx="2651760" cy="228600"/>
          </a:xfrm>
          <a:prstGeom prst="rect">
            <a:avLst/>
          </a:prstGeom>
          <a:noFill/>
          <a:ln/>
        </p:spPr>
        <p:txBody>
          <a:bodyPr wrap="square" lIns="0" tIns="0" rIns="0" bIns="0" rtlCol="0" anchor="ctr"/>
          <a:lstStyle/>
          <a:p>
            <a:pPr algn="l" indent="0" marL="0">
              <a:buNone/>
            </a:pPr>
            <a:r>
              <a:rPr lang="en-US" sz="1000" dirty="0">
                <a:solidFill>
                  <a:srgbClr val="999999"/>
                </a:solidFill>
                <a:latin typeface="Calibri" pitchFamily="34" charset="0"/>
                <a:ea typeface="Calibri" pitchFamily="34" charset="-122"/>
                <a:cs typeface="Calibri" pitchFamily="34" charset="-120"/>
              </a:rPr>
              <a:t>粗利: ¥99万 / 累計: 5,800人</a:t>
            </a:r>
            <a:endParaRPr lang="en-US" sz="1000" dirty="0"/>
          </a:p>
        </p:txBody>
      </p:sp>
      <p:sp>
        <p:nvSpPr>
          <p:cNvPr id="10" name="Shape 7"/>
          <p:cNvSpPr/>
          <p:nvPr/>
        </p:nvSpPr>
        <p:spPr>
          <a:xfrm>
            <a:off x="5852160" y="2377440"/>
            <a:ext cx="2926080" cy="868680"/>
          </a:xfrm>
          <a:prstGeom prst="roundRect">
            <a:avLst>
              <a:gd name="adj" fmla="val 8421"/>
            </a:avLst>
          </a:prstGeom>
          <a:solidFill>
            <a:srgbClr val="C41E3A"/>
          </a:solidFill>
          <a:ln/>
          <a:effectLst>
            <a:outerShdw sx="100000" sy="100000" kx="0" ky="0" algn="bl" rotWithShape="0" blurRad="50800" dist="25400" dir="18900000">
              <a:srgbClr val="000000">
                <a:alpha val="12000"/>
              </a:srgbClr>
            </a:outerShdw>
          </a:effectLst>
        </p:spPr>
      </p:sp>
      <p:sp>
        <p:nvSpPr>
          <p:cNvPr id="11" name="Text 8"/>
          <p:cNvSpPr/>
          <p:nvPr/>
        </p:nvSpPr>
        <p:spPr>
          <a:xfrm>
            <a:off x="5989320" y="2423160"/>
            <a:ext cx="914400" cy="27432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標準</a:t>
            </a:r>
            <a:endParaRPr lang="en-US" sz="1200" dirty="0"/>
          </a:p>
        </p:txBody>
      </p:sp>
      <p:sp>
        <p:nvSpPr>
          <p:cNvPr id="12" name="Text 9"/>
          <p:cNvSpPr/>
          <p:nvPr/>
        </p:nvSpPr>
        <p:spPr>
          <a:xfrm>
            <a:off x="5989320" y="2697480"/>
            <a:ext cx="2651760" cy="228600"/>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売上: ¥2,960万</a:t>
            </a:r>
            <a:endParaRPr lang="en-US" sz="1100" dirty="0"/>
          </a:p>
        </p:txBody>
      </p:sp>
      <p:sp>
        <p:nvSpPr>
          <p:cNvPr id="13" name="Text 10"/>
          <p:cNvSpPr/>
          <p:nvPr/>
        </p:nvSpPr>
        <p:spPr>
          <a:xfrm>
            <a:off x="5989320" y="2926080"/>
            <a:ext cx="2651760" cy="228600"/>
          </a:xfrm>
          <a:prstGeom prst="rect">
            <a:avLst/>
          </a:prstGeom>
          <a:noFill/>
          <a:ln/>
        </p:spPr>
        <p:txBody>
          <a:bodyPr wrap="square" lIns="0" tIns="0" rIns="0" bIns="0" rtlCol="0" anchor="ctr"/>
          <a:lstStyle/>
          <a:p>
            <a:pPr algn="l" indent="0" marL="0">
              <a:buNone/>
            </a:pPr>
            <a:r>
              <a:rPr lang="en-US" sz="1000" dirty="0">
                <a:solidFill>
                  <a:srgbClr val="FFCCCC"/>
                </a:solidFill>
                <a:latin typeface="Calibri" pitchFamily="34" charset="0"/>
                <a:ea typeface="Calibri" pitchFamily="34" charset="-122"/>
                <a:cs typeface="Calibri" pitchFamily="34" charset="-120"/>
              </a:rPr>
              <a:t>粗利: ¥1,539万 / 累計: 27,104人</a:t>
            </a:r>
            <a:endParaRPr lang="en-US" sz="1000" dirty="0"/>
          </a:p>
        </p:txBody>
      </p:sp>
      <p:sp>
        <p:nvSpPr>
          <p:cNvPr id="14" name="Shape 11"/>
          <p:cNvSpPr/>
          <p:nvPr/>
        </p:nvSpPr>
        <p:spPr>
          <a:xfrm>
            <a:off x="5852160" y="3383280"/>
            <a:ext cx="2926080" cy="868680"/>
          </a:xfrm>
          <a:prstGeom prst="roundRect">
            <a:avLst>
              <a:gd name="adj" fmla="val 8421"/>
            </a:avLst>
          </a:prstGeom>
          <a:solidFill>
            <a:srgbClr val="FDF5E6"/>
          </a:solidFill>
          <a:ln/>
          <a:effectLst>
            <a:outerShdw sx="100000" sy="100000" kx="0" ky="0" algn="bl" rotWithShape="0" blurRad="50800" dist="25400" dir="18900000">
              <a:srgbClr val="000000">
                <a:alpha val="12000"/>
              </a:srgbClr>
            </a:outerShdw>
          </a:effectLst>
        </p:spPr>
      </p:sp>
      <p:sp>
        <p:nvSpPr>
          <p:cNvPr id="15" name="Text 12"/>
          <p:cNvSpPr/>
          <p:nvPr/>
        </p:nvSpPr>
        <p:spPr>
          <a:xfrm>
            <a:off x="5989320" y="3429000"/>
            <a:ext cx="914400" cy="274320"/>
          </a:xfrm>
          <a:prstGeom prst="rect">
            <a:avLst/>
          </a:prstGeom>
          <a:noFill/>
          <a:ln/>
        </p:spPr>
        <p:txBody>
          <a:bodyPr wrap="square" lIns="0" tIns="0" rIns="0" bIns="0" rtlCol="0" anchor="ctr"/>
          <a:lstStyle/>
          <a:p>
            <a:pPr algn="l" indent="0" marL="0">
              <a:buNone/>
            </a:pPr>
            <a:r>
              <a:rPr lang="en-US" sz="1200" b="1" dirty="0">
                <a:solidFill>
                  <a:srgbClr val="2D2D2D"/>
                </a:solidFill>
                <a:latin typeface="Calibri" pitchFamily="34" charset="0"/>
                <a:ea typeface="Calibri" pitchFamily="34" charset="-122"/>
                <a:cs typeface="Calibri" pitchFamily="34" charset="-120"/>
              </a:rPr>
              <a:t>楽観的</a:t>
            </a:r>
            <a:endParaRPr lang="en-US" sz="1200" dirty="0"/>
          </a:p>
        </p:txBody>
      </p:sp>
      <p:sp>
        <p:nvSpPr>
          <p:cNvPr id="16" name="Text 13"/>
          <p:cNvSpPr/>
          <p:nvPr/>
        </p:nvSpPr>
        <p:spPr>
          <a:xfrm>
            <a:off x="5989320" y="3703320"/>
            <a:ext cx="2651760" cy="228600"/>
          </a:xfrm>
          <a:prstGeom prst="rect">
            <a:avLst/>
          </a:prstGeom>
          <a:noFill/>
          <a:ln/>
        </p:spPr>
        <p:txBody>
          <a:bodyPr wrap="square" lIns="0" tIns="0" rIns="0" bIns="0" rtlCol="0" anchor="ctr"/>
          <a:lstStyle/>
          <a:p>
            <a:pPr algn="l" indent="0" marL="0">
              <a:buNone/>
            </a:pPr>
            <a:r>
              <a:rPr lang="en-US" sz="1100" dirty="0">
                <a:solidFill>
                  <a:srgbClr val="2D2D2D"/>
                </a:solidFill>
                <a:latin typeface="Calibri" pitchFamily="34" charset="0"/>
                <a:ea typeface="Calibri" pitchFamily="34" charset="-122"/>
                <a:cs typeface="Calibri" pitchFamily="34" charset="-120"/>
              </a:rPr>
              <a:t>売上: ¥3.27億</a:t>
            </a:r>
            <a:endParaRPr lang="en-US" sz="1100" dirty="0"/>
          </a:p>
        </p:txBody>
      </p:sp>
      <p:sp>
        <p:nvSpPr>
          <p:cNvPr id="17" name="Text 14"/>
          <p:cNvSpPr/>
          <p:nvPr/>
        </p:nvSpPr>
        <p:spPr>
          <a:xfrm>
            <a:off x="5989320" y="3931920"/>
            <a:ext cx="2651760" cy="228600"/>
          </a:xfrm>
          <a:prstGeom prst="rect">
            <a:avLst/>
          </a:prstGeom>
          <a:noFill/>
          <a:ln/>
        </p:spPr>
        <p:txBody>
          <a:bodyPr wrap="square" lIns="0" tIns="0" rIns="0" bIns="0" rtlCol="0" anchor="ctr"/>
          <a:lstStyle/>
          <a:p>
            <a:pPr algn="l" indent="0" marL="0">
              <a:buNone/>
            </a:pPr>
            <a:r>
              <a:rPr lang="en-US" sz="1000" dirty="0">
                <a:solidFill>
                  <a:srgbClr val="999999"/>
                </a:solidFill>
                <a:latin typeface="Calibri" pitchFamily="34" charset="0"/>
                <a:ea typeface="Calibri" pitchFamily="34" charset="-122"/>
                <a:cs typeface="Calibri" pitchFamily="34" charset="-120"/>
              </a:rPr>
              <a:t>粗利: ¥1.96億 / 累計: 139,235人</a:t>
            </a:r>
            <a:endParaRPr lang="en-US" sz="1000" dirty="0"/>
          </a:p>
        </p:txBody>
      </p:sp>
      <p:sp>
        <p:nvSpPr>
          <p:cNvPr id="18" name="Text 15"/>
          <p:cNvSpPr/>
          <p:nvPr/>
        </p:nvSpPr>
        <p:spPr>
          <a:xfrm>
            <a:off x="548640" y="4389120"/>
            <a:ext cx="8046720" cy="274320"/>
          </a:xfrm>
          <a:prstGeom prst="rect">
            <a:avLst/>
          </a:prstGeom>
          <a:noFill/>
          <a:ln/>
        </p:spPr>
        <p:txBody>
          <a:bodyPr wrap="square" lIns="0" tIns="0" rIns="0" bIns="0" rtlCol="0" anchor="ctr"/>
          <a:lstStyle/>
          <a:p>
            <a:pPr algn="l" indent="0" marL="0">
              <a:buNone/>
            </a:pPr>
            <a:r>
              <a:rPr lang="en-US" sz="900" dirty="0">
                <a:solidFill>
                  <a:srgbClr val="999999"/>
                </a:solidFill>
                <a:latin typeface="Calibri" pitchFamily="34" charset="0"/>
                <a:ea typeface="Calibri" pitchFamily="34" charset="-122"/>
                <a:cs typeface="Calibri" pitchFamily="34" charset="-120"/>
              </a:rPr>
              <a:t>※ 標準: 月500人新規、25%成長、課金率15%、ARPPU ¥5,000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algn="l" indent="0" marL="0">
              <a:buNone/>
            </a:pPr>
            <a:r>
              <a:rPr lang="en-US" sz="3200" b="1" dirty="0">
                <a:solidFill>
                  <a:srgbClr val="8B0000"/>
                </a:solidFill>
                <a:latin typeface="Calibri" pitchFamily="34" charset="0"/>
                <a:ea typeface="Calibri" pitchFamily="34" charset="-122"/>
                <a:cs typeface="Calibri" pitchFamily="34" charset="-120"/>
              </a:rPr>
              <a:t>KPI設計</a:t>
            </a:r>
            <a:endParaRPr lang="en-US" sz="3200" dirty="0"/>
          </a:p>
        </p:txBody>
      </p:sp>
      <p:sp>
        <p:nvSpPr>
          <p:cNvPr id="3" name="Text 1"/>
          <p:cNvSpPr/>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13</a:t>
            </a:r>
            <a:endParaRPr lang="en-US" sz="900" dirty="0"/>
          </a:p>
        </p:txBody>
      </p:sp>
      <p:sp>
        <p:nvSpPr>
          <p:cNvPr id="4" name="Text 2"/>
          <p:cNvSpPr/>
          <p:nvPr/>
        </p:nvSpPr>
        <p:spPr>
          <a:xfrm>
            <a:off x="548640" y="731520"/>
            <a:ext cx="8046720" cy="228600"/>
          </a:xfrm>
          <a:prstGeom prst="rect">
            <a:avLst/>
          </a:prstGeom>
          <a:noFill/>
          <a:ln/>
        </p:spPr>
        <p:txBody>
          <a:bodyPr wrap="square" lIns="0" tIns="0" rIns="0" bIns="0" rtlCol="0" anchor="ctr"/>
          <a:lstStyle/>
          <a:p>
            <a:pPr algn="l" indent="0" marL="0">
              <a:buNone/>
            </a:pPr>
            <a:r>
              <a:rPr lang="en-US" sz="1200" dirty="0">
                <a:solidFill>
                  <a:srgbClr val="999999"/>
                </a:solidFill>
                <a:latin typeface="Calibri" pitchFamily="34" charset="0"/>
                <a:ea typeface="Calibri" pitchFamily="34" charset="-122"/>
                <a:cs typeface="Calibri" pitchFamily="34" charset="-120"/>
              </a:rPr>
              <a:t>6ヶ月後の目標値</a:t>
            </a:r>
            <a:endParaRPr lang="en-US" sz="1200" dirty="0"/>
          </a:p>
        </p:txBody>
      </p:sp>
      <p:sp>
        <p:nvSpPr>
          <p:cNvPr id="5" name="Shape 3"/>
          <p:cNvSpPr/>
          <p:nvPr/>
        </p:nvSpPr>
        <p:spPr>
          <a:xfrm>
            <a:off x="548640" y="1097280"/>
            <a:ext cx="1920240" cy="1051560"/>
          </a:xfrm>
          <a:prstGeom prst="roundRect">
            <a:avLst>
              <a:gd name="adj" fmla="val 6957"/>
            </a:avLst>
          </a:prstGeom>
          <a:solidFill>
            <a:srgbClr val="FDF5E6"/>
          </a:solidFill>
          <a:ln/>
          <a:effectLst>
            <a:outerShdw sx="100000" sy="100000" kx="0" ky="0" algn="bl" rotWithShape="0" blurRad="50800" dist="25400" dir="18900000">
              <a:srgbClr val="000000">
                <a:alpha val="12000"/>
              </a:srgbClr>
            </a:outerShdw>
          </a:effectLst>
        </p:spPr>
      </p:sp>
      <p:sp>
        <p:nvSpPr>
          <p:cNvPr id="6" name="Shape 4"/>
          <p:cNvSpPr/>
          <p:nvPr/>
        </p:nvSpPr>
        <p:spPr>
          <a:xfrm>
            <a:off x="640080" y="1188720"/>
            <a:ext cx="768096" cy="201168"/>
          </a:xfrm>
          <a:prstGeom prst="roundRect">
            <a:avLst>
              <a:gd name="adj" fmla="val 13636"/>
            </a:avLst>
          </a:prstGeom>
          <a:solidFill>
            <a:srgbClr val="C41E3A"/>
          </a:solidFill>
          <a:ln/>
        </p:spPr>
      </p:sp>
      <p:sp>
        <p:nvSpPr>
          <p:cNvPr id="7" name="Text 5"/>
          <p:cNvSpPr/>
          <p:nvPr/>
        </p:nvSpPr>
        <p:spPr>
          <a:xfrm>
            <a:off x="640080" y="1188720"/>
            <a:ext cx="768096"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成長</a:t>
            </a:r>
            <a:endParaRPr lang="en-US" sz="700" dirty="0"/>
          </a:p>
        </p:txBody>
      </p:sp>
      <p:sp>
        <p:nvSpPr>
          <p:cNvPr id="8" name="Text 6"/>
          <p:cNvSpPr/>
          <p:nvPr/>
        </p:nvSpPr>
        <p:spPr>
          <a:xfrm>
            <a:off x="548640" y="1463040"/>
            <a:ext cx="1920240" cy="320040"/>
          </a:xfrm>
          <a:prstGeom prst="rect">
            <a:avLst/>
          </a:prstGeom>
          <a:noFill/>
          <a:ln/>
        </p:spPr>
        <p:txBody>
          <a:bodyPr wrap="square" lIns="0" tIns="0" rIns="0" bIns="0" rtlCol="0" anchor="ctr"/>
          <a:lstStyle/>
          <a:p>
            <a:pPr algn="ctr" indent="0" marL="0">
              <a:buNone/>
            </a:pPr>
            <a:r>
              <a:rPr lang="en-US" sz="2000" b="1" dirty="0">
                <a:solidFill>
                  <a:srgbClr val="8B0000"/>
                </a:solidFill>
                <a:latin typeface="Calibri" pitchFamily="34" charset="0"/>
                <a:ea typeface="Calibri" pitchFamily="34" charset="-122"/>
                <a:cs typeface="Calibri" pitchFamily="34" charset="-120"/>
              </a:rPr>
              <a:t>3,000人</a:t>
            </a:r>
            <a:endParaRPr lang="en-US" sz="2000" dirty="0"/>
          </a:p>
        </p:txBody>
      </p:sp>
      <p:sp>
        <p:nvSpPr>
          <p:cNvPr id="9" name="Text 7"/>
          <p:cNvSpPr/>
          <p:nvPr/>
        </p:nvSpPr>
        <p:spPr>
          <a:xfrm>
            <a:off x="548640" y="1828800"/>
            <a:ext cx="1920240" cy="201168"/>
          </a:xfrm>
          <a:prstGeom prst="rect">
            <a:avLst/>
          </a:prstGeom>
          <a:noFill/>
          <a:ln/>
        </p:spPr>
        <p:txBody>
          <a:bodyPr wrap="square" lIns="0" tIns="0" rIns="0" bIns="0" rtlCol="0" anchor="ctr"/>
          <a:lstStyle/>
          <a:p>
            <a:pPr algn="ctr" indent="0" marL="0">
              <a:buNone/>
            </a:pPr>
            <a:r>
              <a:rPr lang="en-US" sz="1000" dirty="0">
                <a:solidFill>
                  <a:srgbClr val="999999"/>
                </a:solidFill>
                <a:latin typeface="Calibri" pitchFamily="34" charset="0"/>
                <a:ea typeface="Calibri" pitchFamily="34" charset="-122"/>
                <a:cs typeface="Calibri" pitchFamily="34" charset="-120"/>
              </a:rPr>
              <a:t>MAU</a:t>
            </a:r>
            <a:endParaRPr lang="en-US" sz="1000" dirty="0"/>
          </a:p>
        </p:txBody>
      </p:sp>
      <p:sp>
        <p:nvSpPr>
          <p:cNvPr id="10" name="Shape 8"/>
          <p:cNvSpPr/>
          <p:nvPr/>
        </p:nvSpPr>
        <p:spPr>
          <a:xfrm>
            <a:off x="2578608" y="1097280"/>
            <a:ext cx="1920240" cy="1051560"/>
          </a:xfrm>
          <a:prstGeom prst="roundRect">
            <a:avLst>
              <a:gd name="adj" fmla="val 6957"/>
            </a:avLst>
          </a:prstGeom>
          <a:solidFill>
            <a:srgbClr val="FDF5E6"/>
          </a:solidFill>
          <a:ln/>
          <a:effectLst>
            <a:outerShdw sx="100000" sy="100000" kx="0" ky="0" algn="bl" rotWithShape="0" blurRad="50800" dist="25400" dir="18900000">
              <a:srgbClr val="000000">
                <a:alpha val="12000"/>
              </a:srgbClr>
            </a:outerShdw>
          </a:effectLst>
        </p:spPr>
      </p:sp>
      <p:sp>
        <p:nvSpPr>
          <p:cNvPr id="11" name="Shape 9"/>
          <p:cNvSpPr/>
          <p:nvPr/>
        </p:nvSpPr>
        <p:spPr>
          <a:xfrm>
            <a:off x="2670048" y="1188720"/>
            <a:ext cx="768096" cy="201168"/>
          </a:xfrm>
          <a:prstGeom prst="roundRect">
            <a:avLst>
              <a:gd name="adj" fmla="val 13636"/>
            </a:avLst>
          </a:prstGeom>
          <a:solidFill>
            <a:srgbClr val="D4A017"/>
          </a:solidFill>
          <a:ln/>
        </p:spPr>
      </p:sp>
      <p:sp>
        <p:nvSpPr>
          <p:cNvPr id="12" name="Text 10"/>
          <p:cNvSpPr/>
          <p:nvPr/>
        </p:nvSpPr>
        <p:spPr>
          <a:xfrm>
            <a:off x="2670048" y="1188720"/>
            <a:ext cx="768096"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収益</a:t>
            </a:r>
            <a:endParaRPr lang="en-US" sz="700" dirty="0"/>
          </a:p>
        </p:txBody>
      </p:sp>
      <p:sp>
        <p:nvSpPr>
          <p:cNvPr id="13" name="Text 11"/>
          <p:cNvSpPr/>
          <p:nvPr/>
        </p:nvSpPr>
        <p:spPr>
          <a:xfrm>
            <a:off x="2578608" y="1463040"/>
            <a:ext cx="1920240" cy="320040"/>
          </a:xfrm>
          <a:prstGeom prst="rect">
            <a:avLst/>
          </a:prstGeom>
          <a:noFill/>
          <a:ln/>
        </p:spPr>
        <p:txBody>
          <a:bodyPr wrap="square" lIns="0" tIns="0" rIns="0" bIns="0" rtlCol="0" anchor="ctr"/>
          <a:lstStyle/>
          <a:p>
            <a:pPr algn="ctr" indent="0" marL="0">
              <a:buNone/>
            </a:pPr>
            <a:r>
              <a:rPr lang="en-US" sz="2000" b="1" dirty="0">
                <a:solidFill>
                  <a:srgbClr val="8B0000"/>
                </a:solidFill>
                <a:latin typeface="Calibri" pitchFamily="34" charset="0"/>
                <a:ea typeface="Calibri" pitchFamily="34" charset="-122"/>
                <a:cs typeface="Calibri" pitchFamily="34" charset="-120"/>
              </a:rPr>
              <a:t>15%</a:t>
            </a:r>
            <a:endParaRPr lang="en-US" sz="2000" dirty="0"/>
          </a:p>
        </p:txBody>
      </p:sp>
      <p:sp>
        <p:nvSpPr>
          <p:cNvPr id="14" name="Text 12"/>
          <p:cNvSpPr/>
          <p:nvPr/>
        </p:nvSpPr>
        <p:spPr>
          <a:xfrm>
            <a:off x="2578608" y="1828800"/>
            <a:ext cx="1920240" cy="201168"/>
          </a:xfrm>
          <a:prstGeom prst="rect">
            <a:avLst/>
          </a:prstGeom>
          <a:noFill/>
          <a:ln/>
        </p:spPr>
        <p:txBody>
          <a:bodyPr wrap="square" lIns="0" tIns="0" rIns="0" bIns="0" rtlCol="0" anchor="ctr"/>
          <a:lstStyle/>
          <a:p>
            <a:pPr algn="ctr" indent="0" marL="0">
              <a:buNone/>
            </a:pPr>
            <a:r>
              <a:rPr lang="en-US" sz="1000" dirty="0">
                <a:solidFill>
                  <a:srgbClr val="999999"/>
                </a:solidFill>
                <a:latin typeface="Calibri" pitchFamily="34" charset="0"/>
                <a:ea typeface="Calibri" pitchFamily="34" charset="-122"/>
                <a:cs typeface="Calibri" pitchFamily="34" charset="-120"/>
              </a:rPr>
              <a:t>課金率</a:t>
            </a:r>
            <a:endParaRPr lang="en-US" sz="1000" dirty="0"/>
          </a:p>
        </p:txBody>
      </p:sp>
      <p:sp>
        <p:nvSpPr>
          <p:cNvPr id="15" name="Shape 13"/>
          <p:cNvSpPr/>
          <p:nvPr/>
        </p:nvSpPr>
        <p:spPr>
          <a:xfrm>
            <a:off x="4608576" y="1097280"/>
            <a:ext cx="1920240" cy="1051560"/>
          </a:xfrm>
          <a:prstGeom prst="roundRect">
            <a:avLst>
              <a:gd name="adj" fmla="val 6957"/>
            </a:avLst>
          </a:prstGeom>
          <a:solidFill>
            <a:srgbClr val="FDF5E6"/>
          </a:solidFill>
          <a:ln/>
          <a:effectLst>
            <a:outerShdw sx="100000" sy="100000" kx="0" ky="0" algn="bl" rotWithShape="0" blurRad="50800" dist="25400" dir="18900000">
              <a:srgbClr val="000000">
                <a:alpha val="12000"/>
              </a:srgbClr>
            </a:outerShdw>
          </a:effectLst>
        </p:spPr>
      </p:sp>
      <p:sp>
        <p:nvSpPr>
          <p:cNvPr id="16" name="Shape 14"/>
          <p:cNvSpPr/>
          <p:nvPr/>
        </p:nvSpPr>
        <p:spPr>
          <a:xfrm>
            <a:off x="4700016" y="1188720"/>
            <a:ext cx="768096" cy="201168"/>
          </a:xfrm>
          <a:prstGeom prst="roundRect">
            <a:avLst>
              <a:gd name="adj" fmla="val 13636"/>
            </a:avLst>
          </a:prstGeom>
          <a:solidFill>
            <a:srgbClr val="8B0000"/>
          </a:solidFill>
          <a:ln/>
        </p:spPr>
      </p:sp>
      <p:sp>
        <p:nvSpPr>
          <p:cNvPr id="17" name="Text 15"/>
          <p:cNvSpPr/>
          <p:nvPr/>
        </p:nvSpPr>
        <p:spPr>
          <a:xfrm>
            <a:off x="4700016" y="1188720"/>
            <a:ext cx="768096"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収益</a:t>
            </a:r>
            <a:endParaRPr lang="en-US" sz="700" dirty="0"/>
          </a:p>
        </p:txBody>
      </p:sp>
      <p:sp>
        <p:nvSpPr>
          <p:cNvPr id="18" name="Text 16"/>
          <p:cNvSpPr/>
          <p:nvPr/>
        </p:nvSpPr>
        <p:spPr>
          <a:xfrm>
            <a:off x="4608576" y="1463040"/>
            <a:ext cx="1920240" cy="320040"/>
          </a:xfrm>
          <a:prstGeom prst="rect">
            <a:avLst/>
          </a:prstGeom>
          <a:noFill/>
          <a:ln/>
        </p:spPr>
        <p:txBody>
          <a:bodyPr wrap="square" lIns="0" tIns="0" rIns="0" bIns="0" rtlCol="0" anchor="ctr"/>
          <a:lstStyle/>
          <a:p>
            <a:pPr algn="ctr" indent="0" marL="0">
              <a:buNone/>
            </a:pPr>
            <a:r>
              <a:rPr lang="en-US" sz="2000" b="1" dirty="0">
                <a:solidFill>
                  <a:srgbClr val="8B0000"/>
                </a:solidFill>
                <a:latin typeface="Calibri" pitchFamily="34" charset="0"/>
                <a:ea typeface="Calibri" pitchFamily="34" charset="-122"/>
                <a:cs typeface="Calibri" pitchFamily="34" charset="-120"/>
              </a:rPr>
              <a:t>¥5,000</a:t>
            </a:r>
            <a:endParaRPr lang="en-US" sz="2000" dirty="0"/>
          </a:p>
        </p:txBody>
      </p:sp>
      <p:sp>
        <p:nvSpPr>
          <p:cNvPr id="19" name="Text 17"/>
          <p:cNvSpPr/>
          <p:nvPr/>
        </p:nvSpPr>
        <p:spPr>
          <a:xfrm>
            <a:off x="4608576" y="1828800"/>
            <a:ext cx="1920240" cy="201168"/>
          </a:xfrm>
          <a:prstGeom prst="rect">
            <a:avLst/>
          </a:prstGeom>
          <a:noFill/>
          <a:ln/>
        </p:spPr>
        <p:txBody>
          <a:bodyPr wrap="square" lIns="0" tIns="0" rIns="0" bIns="0" rtlCol="0" anchor="ctr"/>
          <a:lstStyle/>
          <a:p>
            <a:pPr algn="ctr" indent="0" marL="0">
              <a:buNone/>
            </a:pPr>
            <a:r>
              <a:rPr lang="en-US" sz="1000" dirty="0">
                <a:solidFill>
                  <a:srgbClr val="999999"/>
                </a:solidFill>
                <a:latin typeface="Calibri" pitchFamily="34" charset="0"/>
                <a:ea typeface="Calibri" pitchFamily="34" charset="-122"/>
                <a:cs typeface="Calibri" pitchFamily="34" charset="-120"/>
              </a:rPr>
              <a:t>ARPPU</a:t>
            </a:r>
            <a:endParaRPr lang="en-US" sz="1000" dirty="0"/>
          </a:p>
        </p:txBody>
      </p:sp>
      <p:sp>
        <p:nvSpPr>
          <p:cNvPr id="20" name="Shape 18"/>
          <p:cNvSpPr/>
          <p:nvPr/>
        </p:nvSpPr>
        <p:spPr>
          <a:xfrm>
            <a:off x="6638544" y="1097280"/>
            <a:ext cx="1920240" cy="1051560"/>
          </a:xfrm>
          <a:prstGeom prst="roundRect">
            <a:avLst>
              <a:gd name="adj" fmla="val 6957"/>
            </a:avLst>
          </a:prstGeom>
          <a:solidFill>
            <a:srgbClr val="FDF5E6"/>
          </a:solidFill>
          <a:ln/>
          <a:effectLst>
            <a:outerShdw sx="100000" sy="100000" kx="0" ky="0" algn="bl" rotWithShape="0" blurRad="50800" dist="25400" dir="18900000">
              <a:srgbClr val="000000">
                <a:alpha val="12000"/>
              </a:srgbClr>
            </a:outerShdw>
          </a:effectLst>
        </p:spPr>
      </p:sp>
      <p:sp>
        <p:nvSpPr>
          <p:cNvPr id="21" name="Shape 19"/>
          <p:cNvSpPr/>
          <p:nvPr/>
        </p:nvSpPr>
        <p:spPr>
          <a:xfrm>
            <a:off x="6729984" y="1188720"/>
            <a:ext cx="768096" cy="201168"/>
          </a:xfrm>
          <a:prstGeom prst="roundRect">
            <a:avLst>
              <a:gd name="adj" fmla="val 13636"/>
            </a:avLst>
          </a:prstGeom>
          <a:solidFill>
            <a:srgbClr val="C41E3A"/>
          </a:solidFill>
          <a:ln/>
        </p:spPr>
      </p:sp>
      <p:sp>
        <p:nvSpPr>
          <p:cNvPr id="22" name="Text 20"/>
          <p:cNvSpPr/>
          <p:nvPr/>
        </p:nvSpPr>
        <p:spPr>
          <a:xfrm>
            <a:off x="6729984" y="1188720"/>
            <a:ext cx="768096"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収益</a:t>
            </a:r>
            <a:endParaRPr lang="en-US" sz="700" dirty="0"/>
          </a:p>
        </p:txBody>
      </p:sp>
      <p:sp>
        <p:nvSpPr>
          <p:cNvPr id="23" name="Text 21"/>
          <p:cNvSpPr/>
          <p:nvPr/>
        </p:nvSpPr>
        <p:spPr>
          <a:xfrm>
            <a:off x="6638544" y="1463040"/>
            <a:ext cx="1920240" cy="320040"/>
          </a:xfrm>
          <a:prstGeom prst="rect">
            <a:avLst/>
          </a:prstGeom>
          <a:noFill/>
          <a:ln/>
        </p:spPr>
        <p:txBody>
          <a:bodyPr wrap="square" lIns="0" tIns="0" rIns="0" bIns="0" rtlCol="0" anchor="ctr"/>
          <a:lstStyle/>
          <a:p>
            <a:pPr algn="ctr" indent="0" marL="0">
              <a:buNone/>
            </a:pPr>
            <a:r>
              <a:rPr lang="en-US" sz="2000" b="1" dirty="0">
                <a:solidFill>
                  <a:srgbClr val="8B0000"/>
                </a:solidFill>
                <a:latin typeface="Calibri" pitchFamily="34" charset="0"/>
                <a:ea typeface="Calibri" pitchFamily="34" charset="-122"/>
                <a:cs typeface="Calibri" pitchFamily="34" charset="-120"/>
              </a:rPr>
              <a:t>¥1,500万</a:t>
            </a:r>
            <a:endParaRPr lang="en-US" sz="2000" dirty="0"/>
          </a:p>
        </p:txBody>
      </p:sp>
      <p:sp>
        <p:nvSpPr>
          <p:cNvPr id="24" name="Text 22"/>
          <p:cNvSpPr/>
          <p:nvPr/>
        </p:nvSpPr>
        <p:spPr>
          <a:xfrm>
            <a:off x="6638544" y="1828800"/>
            <a:ext cx="1920240" cy="201168"/>
          </a:xfrm>
          <a:prstGeom prst="rect">
            <a:avLst/>
          </a:prstGeom>
          <a:noFill/>
          <a:ln/>
        </p:spPr>
        <p:txBody>
          <a:bodyPr wrap="square" lIns="0" tIns="0" rIns="0" bIns="0" rtlCol="0" anchor="ctr"/>
          <a:lstStyle/>
          <a:p>
            <a:pPr algn="ctr" indent="0" marL="0">
              <a:buNone/>
            </a:pPr>
            <a:r>
              <a:rPr lang="en-US" sz="1000" dirty="0">
                <a:solidFill>
                  <a:srgbClr val="999999"/>
                </a:solidFill>
                <a:latin typeface="Calibri" pitchFamily="34" charset="0"/>
                <a:ea typeface="Calibri" pitchFamily="34" charset="-122"/>
                <a:cs typeface="Calibri" pitchFamily="34" charset="-120"/>
              </a:rPr>
              <a:t>月間売上</a:t>
            </a:r>
            <a:endParaRPr lang="en-US" sz="1000" dirty="0"/>
          </a:p>
        </p:txBody>
      </p:sp>
      <p:sp>
        <p:nvSpPr>
          <p:cNvPr id="25" name="Shape 23"/>
          <p:cNvSpPr/>
          <p:nvPr/>
        </p:nvSpPr>
        <p:spPr>
          <a:xfrm>
            <a:off x="548640" y="2258568"/>
            <a:ext cx="1920240" cy="1051560"/>
          </a:xfrm>
          <a:prstGeom prst="roundRect">
            <a:avLst>
              <a:gd name="adj" fmla="val 6957"/>
            </a:avLst>
          </a:prstGeom>
          <a:solidFill>
            <a:srgbClr val="FDF5E6"/>
          </a:solidFill>
          <a:ln/>
          <a:effectLst>
            <a:outerShdw sx="100000" sy="100000" kx="0" ky="0" algn="bl" rotWithShape="0" blurRad="50800" dist="25400" dir="18900000">
              <a:srgbClr val="000000">
                <a:alpha val="12000"/>
              </a:srgbClr>
            </a:outerShdw>
          </a:effectLst>
        </p:spPr>
      </p:sp>
      <p:sp>
        <p:nvSpPr>
          <p:cNvPr id="26" name="Shape 24"/>
          <p:cNvSpPr/>
          <p:nvPr/>
        </p:nvSpPr>
        <p:spPr>
          <a:xfrm>
            <a:off x="640080" y="2350008"/>
            <a:ext cx="768096" cy="201168"/>
          </a:xfrm>
          <a:prstGeom prst="roundRect">
            <a:avLst>
              <a:gd name="adj" fmla="val 13636"/>
            </a:avLst>
          </a:prstGeom>
          <a:solidFill>
            <a:srgbClr val="D4A017"/>
          </a:solidFill>
          <a:ln/>
        </p:spPr>
      </p:sp>
      <p:sp>
        <p:nvSpPr>
          <p:cNvPr id="27" name="Text 25"/>
          <p:cNvSpPr/>
          <p:nvPr/>
        </p:nvSpPr>
        <p:spPr>
          <a:xfrm>
            <a:off x="640080" y="2350008"/>
            <a:ext cx="768096"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エンゲージ</a:t>
            </a:r>
            <a:endParaRPr lang="en-US" sz="700" dirty="0"/>
          </a:p>
        </p:txBody>
      </p:sp>
      <p:sp>
        <p:nvSpPr>
          <p:cNvPr id="28" name="Text 26"/>
          <p:cNvSpPr/>
          <p:nvPr/>
        </p:nvSpPr>
        <p:spPr>
          <a:xfrm>
            <a:off x="548640" y="2624328"/>
            <a:ext cx="1920240" cy="320040"/>
          </a:xfrm>
          <a:prstGeom prst="rect">
            <a:avLst/>
          </a:prstGeom>
          <a:noFill/>
          <a:ln/>
        </p:spPr>
        <p:txBody>
          <a:bodyPr wrap="square" lIns="0" tIns="0" rIns="0" bIns="0" rtlCol="0" anchor="ctr"/>
          <a:lstStyle/>
          <a:p>
            <a:pPr algn="ctr" indent="0" marL="0">
              <a:buNone/>
            </a:pPr>
            <a:r>
              <a:rPr lang="en-US" sz="2000" b="1" dirty="0">
                <a:solidFill>
                  <a:srgbClr val="8B0000"/>
                </a:solidFill>
                <a:latin typeface="Calibri" pitchFamily="34" charset="0"/>
                <a:ea typeface="Calibri" pitchFamily="34" charset="-122"/>
                <a:cs typeface="Calibri" pitchFamily="34" charset="-120"/>
              </a:rPr>
              <a:t>8回/人</a:t>
            </a:r>
            <a:endParaRPr lang="en-US" sz="2000" dirty="0"/>
          </a:p>
        </p:txBody>
      </p:sp>
      <p:sp>
        <p:nvSpPr>
          <p:cNvPr id="29" name="Text 27"/>
          <p:cNvSpPr/>
          <p:nvPr/>
        </p:nvSpPr>
        <p:spPr>
          <a:xfrm>
            <a:off x="548640" y="2990088"/>
            <a:ext cx="1920240" cy="201168"/>
          </a:xfrm>
          <a:prstGeom prst="rect">
            <a:avLst/>
          </a:prstGeom>
          <a:noFill/>
          <a:ln/>
        </p:spPr>
        <p:txBody>
          <a:bodyPr wrap="square" lIns="0" tIns="0" rIns="0" bIns="0" rtlCol="0" anchor="ctr"/>
          <a:lstStyle/>
          <a:p>
            <a:pPr algn="ctr" indent="0" marL="0">
              <a:buNone/>
            </a:pPr>
            <a:r>
              <a:rPr lang="en-US" sz="1000" dirty="0">
                <a:solidFill>
                  <a:srgbClr val="999999"/>
                </a:solidFill>
                <a:latin typeface="Calibri" pitchFamily="34" charset="0"/>
                <a:ea typeface="Calibri" pitchFamily="34" charset="-122"/>
                <a:cs typeface="Calibri" pitchFamily="34" charset="-120"/>
              </a:rPr>
              <a:t>月間抽選</a:t>
            </a:r>
            <a:endParaRPr lang="en-US" sz="1000" dirty="0"/>
          </a:p>
        </p:txBody>
      </p:sp>
      <p:sp>
        <p:nvSpPr>
          <p:cNvPr id="30" name="Shape 28"/>
          <p:cNvSpPr/>
          <p:nvPr/>
        </p:nvSpPr>
        <p:spPr>
          <a:xfrm>
            <a:off x="2578608" y="2258568"/>
            <a:ext cx="1920240" cy="1051560"/>
          </a:xfrm>
          <a:prstGeom prst="roundRect">
            <a:avLst>
              <a:gd name="adj" fmla="val 6957"/>
            </a:avLst>
          </a:prstGeom>
          <a:solidFill>
            <a:srgbClr val="FDF5E6"/>
          </a:solidFill>
          <a:ln/>
          <a:effectLst>
            <a:outerShdw sx="100000" sy="100000" kx="0" ky="0" algn="bl" rotWithShape="0" blurRad="50800" dist="25400" dir="18900000">
              <a:srgbClr val="000000">
                <a:alpha val="12000"/>
              </a:srgbClr>
            </a:outerShdw>
          </a:effectLst>
        </p:spPr>
      </p:sp>
      <p:sp>
        <p:nvSpPr>
          <p:cNvPr id="31" name="Shape 29"/>
          <p:cNvSpPr/>
          <p:nvPr/>
        </p:nvSpPr>
        <p:spPr>
          <a:xfrm>
            <a:off x="2670048" y="2350008"/>
            <a:ext cx="768096" cy="201168"/>
          </a:xfrm>
          <a:prstGeom prst="roundRect">
            <a:avLst>
              <a:gd name="adj" fmla="val 13636"/>
            </a:avLst>
          </a:prstGeom>
          <a:solidFill>
            <a:srgbClr val="B8860B"/>
          </a:solidFill>
          <a:ln/>
        </p:spPr>
      </p:sp>
      <p:sp>
        <p:nvSpPr>
          <p:cNvPr id="32" name="Text 30"/>
          <p:cNvSpPr/>
          <p:nvPr/>
        </p:nvSpPr>
        <p:spPr>
          <a:xfrm>
            <a:off x="2670048" y="2350008"/>
            <a:ext cx="768096"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継続</a:t>
            </a:r>
            <a:endParaRPr lang="en-US" sz="700" dirty="0"/>
          </a:p>
        </p:txBody>
      </p:sp>
      <p:sp>
        <p:nvSpPr>
          <p:cNvPr id="33" name="Text 31"/>
          <p:cNvSpPr/>
          <p:nvPr/>
        </p:nvSpPr>
        <p:spPr>
          <a:xfrm>
            <a:off x="2578608" y="2624328"/>
            <a:ext cx="1920240" cy="320040"/>
          </a:xfrm>
          <a:prstGeom prst="rect">
            <a:avLst/>
          </a:prstGeom>
          <a:noFill/>
          <a:ln/>
        </p:spPr>
        <p:txBody>
          <a:bodyPr wrap="square" lIns="0" tIns="0" rIns="0" bIns="0" rtlCol="0" anchor="ctr"/>
          <a:lstStyle/>
          <a:p>
            <a:pPr algn="ctr" indent="0" marL="0">
              <a:buNone/>
            </a:pPr>
            <a:r>
              <a:rPr lang="en-US" sz="2000" b="1" dirty="0">
                <a:solidFill>
                  <a:srgbClr val="8B0000"/>
                </a:solidFill>
                <a:latin typeface="Calibri" pitchFamily="34" charset="0"/>
                <a:ea typeface="Calibri" pitchFamily="34" charset="-122"/>
                <a:cs typeface="Calibri" pitchFamily="34" charset="-120"/>
              </a:rPr>
              <a:t>40%</a:t>
            </a:r>
            <a:endParaRPr lang="en-US" sz="2000" dirty="0"/>
          </a:p>
        </p:txBody>
      </p:sp>
      <p:sp>
        <p:nvSpPr>
          <p:cNvPr id="34" name="Text 32"/>
          <p:cNvSpPr/>
          <p:nvPr/>
        </p:nvSpPr>
        <p:spPr>
          <a:xfrm>
            <a:off x="2578608" y="2990088"/>
            <a:ext cx="1920240" cy="201168"/>
          </a:xfrm>
          <a:prstGeom prst="rect">
            <a:avLst/>
          </a:prstGeom>
          <a:noFill/>
          <a:ln/>
        </p:spPr>
        <p:txBody>
          <a:bodyPr wrap="square" lIns="0" tIns="0" rIns="0" bIns="0" rtlCol="0" anchor="ctr"/>
          <a:lstStyle/>
          <a:p>
            <a:pPr algn="ctr" indent="0" marL="0">
              <a:buNone/>
            </a:pPr>
            <a:r>
              <a:rPr lang="en-US" sz="1000" dirty="0">
                <a:solidFill>
                  <a:srgbClr val="999999"/>
                </a:solidFill>
                <a:latin typeface="Calibri" pitchFamily="34" charset="0"/>
                <a:ea typeface="Calibri" pitchFamily="34" charset="-122"/>
                <a:cs typeface="Calibri" pitchFamily="34" charset="-120"/>
              </a:rPr>
              <a:t>継続率</a:t>
            </a:r>
            <a:endParaRPr lang="en-US" sz="1000" dirty="0"/>
          </a:p>
        </p:txBody>
      </p:sp>
      <p:sp>
        <p:nvSpPr>
          <p:cNvPr id="35" name="Shape 33"/>
          <p:cNvSpPr/>
          <p:nvPr/>
        </p:nvSpPr>
        <p:spPr>
          <a:xfrm>
            <a:off x="4608576" y="2258568"/>
            <a:ext cx="1920240" cy="1051560"/>
          </a:xfrm>
          <a:prstGeom prst="roundRect">
            <a:avLst>
              <a:gd name="adj" fmla="val 6957"/>
            </a:avLst>
          </a:prstGeom>
          <a:solidFill>
            <a:srgbClr val="FDF5E6"/>
          </a:solidFill>
          <a:ln/>
          <a:effectLst>
            <a:outerShdw sx="100000" sy="100000" kx="0" ky="0" algn="bl" rotWithShape="0" blurRad="50800" dist="25400" dir="18900000">
              <a:srgbClr val="000000">
                <a:alpha val="12000"/>
              </a:srgbClr>
            </a:outerShdw>
          </a:effectLst>
        </p:spPr>
      </p:sp>
      <p:sp>
        <p:nvSpPr>
          <p:cNvPr id="36" name="Shape 34"/>
          <p:cNvSpPr/>
          <p:nvPr/>
        </p:nvSpPr>
        <p:spPr>
          <a:xfrm>
            <a:off x="4700016" y="2350008"/>
            <a:ext cx="768096" cy="201168"/>
          </a:xfrm>
          <a:prstGeom prst="roundRect">
            <a:avLst>
              <a:gd name="adj" fmla="val 13636"/>
            </a:avLst>
          </a:prstGeom>
          <a:solidFill>
            <a:srgbClr val="8B0000"/>
          </a:solidFill>
          <a:ln/>
        </p:spPr>
      </p:sp>
      <p:sp>
        <p:nvSpPr>
          <p:cNvPr id="37" name="Text 35"/>
          <p:cNvSpPr/>
          <p:nvPr/>
        </p:nvSpPr>
        <p:spPr>
          <a:xfrm>
            <a:off x="4700016" y="2350008"/>
            <a:ext cx="768096"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継続</a:t>
            </a:r>
            <a:endParaRPr lang="en-US" sz="700" dirty="0"/>
          </a:p>
        </p:txBody>
      </p:sp>
      <p:sp>
        <p:nvSpPr>
          <p:cNvPr id="38" name="Text 36"/>
          <p:cNvSpPr/>
          <p:nvPr/>
        </p:nvSpPr>
        <p:spPr>
          <a:xfrm>
            <a:off x="4608576" y="2624328"/>
            <a:ext cx="1920240" cy="320040"/>
          </a:xfrm>
          <a:prstGeom prst="rect">
            <a:avLst/>
          </a:prstGeom>
          <a:noFill/>
          <a:ln/>
        </p:spPr>
        <p:txBody>
          <a:bodyPr wrap="square" lIns="0" tIns="0" rIns="0" bIns="0" rtlCol="0" anchor="ctr"/>
          <a:lstStyle/>
          <a:p>
            <a:pPr algn="ctr" indent="0" marL="0">
              <a:buNone/>
            </a:pPr>
            <a:r>
              <a:rPr lang="en-US" sz="2000" b="1" dirty="0">
                <a:solidFill>
                  <a:srgbClr val="8B0000"/>
                </a:solidFill>
                <a:latin typeface="Calibri" pitchFamily="34" charset="0"/>
                <a:ea typeface="Calibri" pitchFamily="34" charset="-122"/>
                <a:cs typeface="Calibri" pitchFamily="34" charset="-120"/>
              </a:rPr>
              <a:t>¥15,000</a:t>
            </a:r>
            <a:endParaRPr lang="en-US" sz="2000" dirty="0"/>
          </a:p>
        </p:txBody>
      </p:sp>
      <p:sp>
        <p:nvSpPr>
          <p:cNvPr id="39" name="Text 37"/>
          <p:cNvSpPr/>
          <p:nvPr/>
        </p:nvSpPr>
        <p:spPr>
          <a:xfrm>
            <a:off x="4608576" y="2990088"/>
            <a:ext cx="1920240" cy="201168"/>
          </a:xfrm>
          <a:prstGeom prst="rect">
            <a:avLst/>
          </a:prstGeom>
          <a:noFill/>
          <a:ln/>
        </p:spPr>
        <p:txBody>
          <a:bodyPr wrap="square" lIns="0" tIns="0" rIns="0" bIns="0" rtlCol="0" anchor="ctr"/>
          <a:lstStyle/>
          <a:p>
            <a:pPr algn="ctr" indent="0" marL="0">
              <a:buNone/>
            </a:pPr>
            <a:r>
              <a:rPr lang="en-US" sz="1000" dirty="0">
                <a:solidFill>
                  <a:srgbClr val="999999"/>
                </a:solidFill>
                <a:latin typeface="Calibri" pitchFamily="34" charset="0"/>
                <a:ea typeface="Calibri" pitchFamily="34" charset="-122"/>
                <a:cs typeface="Calibri" pitchFamily="34" charset="-120"/>
              </a:rPr>
              <a:t>LTV</a:t>
            </a:r>
            <a:endParaRPr lang="en-US" sz="1000" dirty="0"/>
          </a:p>
        </p:txBody>
      </p:sp>
      <p:sp>
        <p:nvSpPr>
          <p:cNvPr id="40" name="Shape 38"/>
          <p:cNvSpPr/>
          <p:nvPr/>
        </p:nvSpPr>
        <p:spPr>
          <a:xfrm>
            <a:off x="6638544" y="2258568"/>
            <a:ext cx="1920240" cy="1051560"/>
          </a:xfrm>
          <a:prstGeom prst="roundRect">
            <a:avLst>
              <a:gd name="adj" fmla="val 6957"/>
            </a:avLst>
          </a:prstGeom>
          <a:solidFill>
            <a:srgbClr val="FDF5E6"/>
          </a:solidFill>
          <a:ln/>
          <a:effectLst>
            <a:outerShdw sx="100000" sy="100000" kx="0" ky="0" algn="bl" rotWithShape="0" blurRad="50800" dist="25400" dir="18900000">
              <a:srgbClr val="000000">
                <a:alpha val="12000"/>
              </a:srgbClr>
            </a:outerShdw>
          </a:effectLst>
        </p:spPr>
      </p:sp>
      <p:sp>
        <p:nvSpPr>
          <p:cNvPr id="41" name="Shape 39"/>
          <p:cNvSpPr/>
          <p:nvPr/>
        </p:nvSpPr>
        <p:spPr>
          <a:xfrm>
            <a:off x="6729984" y="2350008"/>
            <a:ext cx="768096" cy="201168"/>
          </a:xfrm>
          <a:prstGeom prst="roundRect">
            <a:avLst>
              <a:gd name="adj" fmla="val 13636"/>
            </a:avLst>
          </a:prstGeom>
          <a:solidFill>
            <a:srgbClr val="C41E3A"/>
          </a:solidFill>
          <a:ln/>
        </p:spPr>
      </p:sp>
      <p:sp>
        <p:nvSpPr>
          <p:cNvPr id="42" name="Text 40"/>
          <p:cNvSpPr/>
          <p:nvPr/>
        </p:nvSpPr>
        <p:spPr>
          <a:xfrm>
            <a:off x="6729984" y="2350008"/>
            <a:ext cx="768096"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運用</a:t>
            </a:r>
            <a:endParaRPr lang="en-US" sz="700" dirty="0"/>
          </a:p>
        </p:txBody>
      </p:sp>
      <p:sp>
        <p:nvSpPr>
          <p:cNvPr id="43" name="Text 41"/>
          <p:cNvSpPr/>
          <p:nvPr/>
        </p:nvSpPr>
        <p:spPr>
          <a:xfrm>
            <a:off x="6638544" y="2624328"/>
            <a:ext cx="1920240" cy="320040"/>
          </a:xfrm>
          <a:prstGeom prst="rect">
            <a:avLst/>
          </a:prstGeom>
          <a:noFill/>
          <a:ln/>
        </p:spPr>
        <p:txBody>
          <a:bodyPr wrap="square" lIns="0" tIns="0" rIns="0" bIns="0" rtlCol="0" anchor="ctr"/>
          <a:lstStyle/>
          <a:p>
            <a:pPr algn="ctr" indent="0" marL="0">
              <a:buNone/>
            </a:pPr>
            <a:r>
              <a:rPr lang="en-US" sz="2000" b="1" dirty="0">
                <a:solidFill>
                  <a:srgbClr val="8B0000"/>
                </a:solidFill>
                <a:latin typeface="Calibri" pitchFamily="34" charset="0"/>
                <a:ea typeface="Calibri" pitchFamily="34" charset="-122"/>
                <a:cs typeface="Calibri" pitchFamily="34" charset="-120"/>
              </a:rPr>
              <a:t>7日以内</a:t>
            </a:r>
            <a:endParaRPr lang="en-US" sz="2000" dirty="0"/>
          </a:p>
        </p:txBody>
      </p:sp>
      <p:sp>
        <p:nvSpPr>
          <p:cNvPr id="44" name="Text 42"/>
          <p:cNvSpPr/>
          <p:nvPr/>
        </p:nvSpPr>
        <p:spPr>
          <a:xfrm>
            <a:off x="6638544" y="2990088"/>
            <a:ext cx="1920240" cy="201168"/>
          </a:xfrm>
          <a:prstGeom prst="rect">
            <a:avLst/>
          </a:prstGeom>
          <a:noFill/>
          <a:ln/>
        </p:spPr>
        <p:txBody>
          <a:bodyPr wrap="square" lIns="0" tIns="0" rIns="0" bIns="0" rtlCol="0" anchor="ctr"/>
          <a:lstStyle/>
          <a:p>
            <a:pPr algn="ctr" indent="0" marL="0">
              <a:buNone/>
            </a:pPr>
            <a:r>
              <a:rPr lang="en-US" sz="1000" dirty="0">
                <a:solidFill>
                  <a:srgbClr val="999999"/>
                </a:solidFill>
                <a:latin typeface="Calibri" pitchFamily="34" charset="0"/>
                <a:ea typeface="Calibri" pitchFamily="34" charset="-122"/>
                <a:cs typeface="Calibri" pitchFamily="34" charset="-120"/>
              </a:rPr>
              <a:t>発送LT</a:t>
            </a:r>
            <a:endParaRPr lang="en-US" sz="1000" dirty="0"/>
          </a:p>
        </p:txBody>
      </p:sp>
      <p:sp>
        <p:nvSpPr>
          <p:cNvPr id="45" name="Shape 43"/>
          <p:cNvSpPr/>
          <p:nvPr/>
        </p:nvSpPr>
        <p:spPr>
          <a:xfrm>
            <a:off x="548640" y="3383280"/>
            <a:ext cx="8046720" cy="822960"/>
          </a:xfrm>
          <a:prstGeom prst="roundRect">
            <a:avLst>
              <a:gd name="adj" fmla="val 8889"/>
            </a:avLst>
          </a:prstGeom>
          <a:solidFill>
            <a:srgbClr val="FDF5E6"/>
          </a:solidFill>
          <a:ln/>
          <a:effectLst>
            <a:outerShdw sx="100000" sy="100000" kx="0" ky="0" algn="bl" rotWithShape="0" blurRad="50800" dist="25400" dir="18900000">
              <a:srgbClr val="000000">
                <a:alpha val="12000"/>
              </a:srgbClr>
            </a:outerShdw>
          </a:effectLst>
        </p:spPr>
      </p:sp>
      <p:sp>
        <p:nvSpPr>
          <p:cNvPr id="46" name="Text 44"/>
          <p:cNvSpPr/>
          <p:nvPr/>
        </p:nvSpPr>
        <p:spPr>
          <a:xfrm>
            <a:off x="731520" y="3474720"/>
            <a:ext cx="1828800" cy="274320"/>
          </a:xfrm>
          <a:prstGeom prst="rect">
            <a:avLst/>
          </a:prstGeom>
          <a:noFill/>
          <a:ln/>
        </p:spPr>
        <p:txBody>
          <a:bodyPr wrap="square" lIns="0" tIns="0" rIns="0" bIns="0" rtlCol="0" anchor="ctr"/>
          <a:lstStyle/>
          <a:p>
            <a:pPr algn="l" indent="0" marL="0">
              <a:buNone/>
            </a:pPr>
            <a:r>
              <a:rPr lang="en-US" sz="1200" b="1" dirty="0">
                <a:solidFill>
                  <a:srgbClr val="8B0000"/>
                </a:solidFill>
                <a:latin typeface="Calibri" pitchFamily="34" charset="0"/>
                <a:ea typeface="Calibri" pitchFamily="34" charset="-122"/>
                <a:cs typeface="Calibri" pitchFamily="34" charset="-120"/>
              </a:rPr>
              <a:t>モニタリング体制</a:t>
            </a:r>
            <a:endParaRPr lang="en-US" sz="1200" dirty="0"/>
          </a:p>
        </p:txBody>
      </p:sp>
      <p:sp>
        <p:nvSpPr>
          <p:cNvPr id="47" name="Text 45"/>
          <p:cNvSpPr/>
          <p:nvPr/>
        </p:nvSpPr>
        <p:spPr>
          <a:xfrm>
            <a:off x="731520" y="3749040"/>
            <a:ext cx="7680960" cy="320040"/>
          </a:xfrm>
          <a:prstGeom prst="rect">
            <a:avLst/>
          </a:prstGeom>
          <a:noFill/>
          <a:ln/>
        </p:spPr>
        <p:txBody>
          <a:bodyPr wrap="square" lIns="0" tIns="0" rIns="0" bIns="0" rtlCol="0" anchor="ctr"/>
          <a:lstStyle/>
          <a:p>
            <a:pPr algn="l" indent="0" marL="0">
              <a:buNone/>
            </a:pPr>
            <a:r>
              <a:rPr lang="en-US" sz="1000" dirty="0">
                <a:solidFill>
                  <a:srgbClr val="2D2D2D"/>
                </a:solidFill>
                <a:latin typeface="Calibri" pitchFamily="34" charset="0"/>
                <a:ea typeface="Calibri" pitchFamily="34" charset="-122"/>
                <a:cs typeface="Calibri" pitchFamily="34" charset="-120"/>
              </a:rPr>
              <a:t>Supabase PostgreSQL + Stripe Dashboard + Google Analytics / Vercel Analytics でKPIをリアルタイム可視化。毎週月曜にKPIレビューを実施。</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algn="l" indent="0" marL="0">
              <a:buNone/>
            </a:pPr>
            <a:r>
              <a:rPr lang="en-US" sz="3200" b="1" dirty="0">
                <a:solidFill>
                  <a:srgbClr val="8B0000"/>
                </a:solidFill>
                <a:latin typeface="Calibri" pitchFamily="34" charset="0"/>
                <a:ea typeface="Calibri" pitchFamily="34" charset="-122"/>
                <a:cs typeface="Calibri" pitchFamily="34" charset="-120"/>
              </a:rPr>
              <a:t>リスクと対策</a:t>
            </a:r>
            <a:endParaRPr lang="en-US" sz="3200" dirty="0"/>
          </a:p>
        </p:txBody>
      </p:sp>
      <p:sp>
        <p:nvSpPr>
          <p:cNvPr id="3" name="Text 1"/>
          <p:cNvSpPr/>
          <p:nvPr/>
        </p:nvSpPr>
        <p:spPr>
          <a:xfrm>
            <a:off x="8412480" y="4754880"/>
            <a:ext cx="457200" cy="274320"/>
          </a:xfrm>
          <a:prstGeom prst="rect">
            <a:avLst/>
          </a:prstGeom>
          <a:noFill/>
          <a:ln/>
        </p:spPr>
        <p:txBody>
          <a:bodyPr wrap="square" lIns="0" tIns="0" rIns="0" bIns="0"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14</a:t>
            </a:r>
            <a:endParaRPr lang="en-US" sz="900" dirty="0"/>
          </a:p>
        </p:txBody>
      </p:sp>
      <p:sp>
        <p:nvSpPr>
          <p:cNvPr id="4" name="Shape 2"/>
          <p:cNvSpPr/>
          <p:nvPr/>
        </p:nvSpPr>
        <p:spPr>
          <a:xfrm>
            <a:off x="548640" y="1005840"/>
            <a:ext cx="3886200" cy="868680"/>
          </a:xfrm>
          <a:prstGeom prst="roundRect">
            <a:avLst>
              <a:gd name="adj" fmla="val 8421"/>
            </a:avLst>
          </a:prstGeom>
          <a:solidFill>
            <a:srgbClr val="FDF5E6"/>
          </a:solidFill>
          <a:ln/>
          <a:effectLst>
            <a:outerShdw sx="100000" sy="100000" kx="0" ky="0" algn="bl" rotWithShape="0" blurRad="50800" dist="25400" dir="18900000">
              <a:srgbClr val="000000">
                <a:alpha val="12000"/>
              </a:srgbClr>
            </a:outerShdw>
          </a:effectLst>
        </p:spPr>
      </p:sp>
      <p:sp>
        <p:nvSpPr>
          <p:cNvPr id="5" name="Shape 3"/>
          <p:cNvSpPr/>
          <p:nvPr/>
        </p:nvSpPr>
        <p:spPr>
          <a:xfrm>
            <a:off x="3246120" y="1078992"/>
            <a:ext cx="502920" cy="182880"/>
          </a:xfrm>
          <a:prstGeom prst="roundRect">
            <a:avLst>
              <a:gd name="adj" fmla="val 15000"/>
            </a:avLst>
          </a:prstGeom>
          <a:solidFill>
            <a:srgbClr val="C41E3A"/>
          </a:solidFill>
          <a:ln/>
        </p:spPr>
      </p:sp>
      <p:sp>
        <p:nvSpPr>
          <p:cNvPr id="6" name="Text 4"/>
          <p:cNvSpPr/>
          <p:nvPr/>
        </p:nvSpPr>
        <p:spPr>
          <a:xfrm>
            <a:off x="3246120" y="1078992"/>
            <a:ext cx="50292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影響高</a:t>
            </a:r>
            <a:endParaRPr lang="en-US" sz="700" dirty="0"/>
          </a:p>
        </p:txBody>
      </p:sp>
      <p:sp>
        <p:nvSpPr>
          <p:cNvPr id="7" name="Shape 5"/>
          <p:cNvSpPr/>
          <p:nvPr/>
        </p:nvSpPr>
        <p:spPr>
          <a:xfrm>
            <a:off x="3794760" y="1078992"/>
            <a:ext cx="502920" cy="182880"/>
          </a:xfrm>
          <a:prstGeom prst="roundRect">
            <a:avLst>
              <a:gd name="adj" fmla="val 15000"/>
            </a:avLst>
          </a:prstGeom>
          <a:solidFill>
            <a:srgbClr val="D4A017"/>
          </a:solidFill>
          <a:ln/>
        </p:spPr>
      </p:sp>
      <p:sp>
        <p:nvSpPr>
          <p:cNvPr id="8" name="Text 6"/>
          <p:cNvSpPr/>
          <p:nvPr/>
        </p:nvSpPr>
        <p:spPr>
          <a:xfrm>
            <a:off x="3794760" y="1078992"/>
            <a:ext cx="50292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確率中</a:t>
            </a:r>
            <a:endParaRPr lang="en-US" sz="700" dirty="0"/>
          </a:p>
        </p:txBody>
      </p:sp>
      <p:sp>
        <p:nvSpPr>
          <p:cNvPr id="9" name="Text 7"/>
          <p:cNvSpPr/>
          <p:nvPr/>
        </p:nvSpPr>
        <p:spPr>
          <a:xfrm>
            <a:off x="685800" y="1051560"/>
            <a:ext cx="2423160" cy="274320"/>
          </a:xfrm>
          <a:prstGeom prst="rect">
            <a:avLst/>
          </a:prstGeom>
          <a:noFill/>
          <a:ln/>
        </p:spPr>
        <p:txBody>
          <a:bodyPr wrap="square" lIns="0" tIns="0" rIns="0" bIns="0" rtlCol="0" anchor="ctr"/>
          <a:lstStyle/>
          <a:p>
            <a:pPr algn="l" indent="0" marL="0">
              <a:buNone/>
            </a:pPr>
            <a:r>
              <a:rPr lang="en-US" sz="1300" b="1" dirty="0">
                <a:solidFill>
                  <a:srgbClr val="8B0000"/>
                </a:solidFill>
                <a:latin typeface="Calibri" pitchFamily="34" charset="0"/>
                <a:ea typeface="Calibri" pitchFamily="34" charset="-122"/>
                <a:cs typeface="Calibri" pitchFamily="34" charset="-120"/>
              </a:rPr>
              <a:t>法規制の強化</a:t>
            </a:r>
            <a:endParaRPr lang="en-US" sz="1300" dirty="0"/>
          </a:p>
        </p:txBody>
      </p:sp>
      <p:sp>
        <p:nvSpPr>
          <p:cNvPr id="10" name="Text 8"/>
          <p:cNvSpPr/>
          <p:nvPr/>
        </p:nvSpPr>
        <p:spPr>
          <a:xfrm>
            <a:off x="685800" y="1353312"/>
            <a:ext cx="3611880" cy="411480"/>
          </a:xfrm>
          <a:prstGeom prst="rect">
            <a:avLst/>
          </a:prstGeom>
          <a:noFill/>
          <a:ln/>
        </p:spPr>
        <p:txBody>
          <a:bodyPr wrap="square" lIns="0" tIns="0" rIns="0" bIns="0" rtlCol="0" anchor="ctr"/>
          <a:lstStyle/>
          <a:p>
            <a:pPr algn="l" indent="0" marL="0">
              <a:lnSpc>
                <a:spcPct val="130000"/>
              </a:lnSpc>
              <a:buNone/>
            </a:pPr>
            <a:r>
              <a:rPr lang="en-US" sz="1000" dirty="0">
                <a:solidFill>
                  <a:srgbClr val="2D2D2D"/>
                </a:solidFill>
                <a:latin typeface="Calibri" pitchFamily="34" charset="0"/>
                <a:ea typeface="Calibri" pitchFamily="34" charset="-122"/>
                <a:cs typeface="Calibri" pitchFamily="34" charset="-120"/>
              </a:rPr>
              <a:t>法令動向を継続監視、顧問弁護士の起用</a:t>
            </a:r>
            <a:endParaRPr lang="en-US" sz="1000" dirty="0"/>
          </a:p>
        </p:txBody>
      </p:sp>
      <p:sp>
        <p:nvSpPr>
          <p:cNvPr id="11" name="Shape 9"/>
          <p:cNvSpPr/>
          <p:nvPr/>
        </p:nvSpPr>
        <p:spPr>
          <a:xfrm>
            <a:off x="4572000" y="1005840"/>
            <a:ext cx="3886200" cy="868680"/>
          </a:xfrm>
          <a:prstGeom prst="roundRect">
            <a:avLst>
              <a:gd name="adj" fmla="val 8421"/>
            </a:avLst>
          </a:prstGeom>
          <a:solidFill>
            <a:srgbClr val="FDF5E6"/>
          </a:solidFill>
          <a:ln/>
          <a:effectLst>
            <a:outerShdw sx="100000" sy="100000" kx="0" ky="0" algn="bl" rotWithShape="0" blurRad="50800" dist="25400" dir="18900000">
              <a:srgbClr val="000000">
                <a:alpha val="12000"/>
              </a:srgbClr>
            </a:outerShdw>
          </a:effectLst>
        </p:spPr>
      </p:sp>
      <p:sp>
        <p:nvSpPr>
          <p:cNvPr id="12" name="Shape 10"/>
          <p:cNvSpPr/>
          <p:nvPr/>
        </p:nvSpPr>
        <p:spPr>
          <a:xfrm>
            <a:off x="7269480" y="1078992"/>
            <a:ext cx="502920" cy="182880"/>
          </a:xfrm>
          <a:prstGeom prst="roundRect">
            <a:avLst>
              <a:gd name="adj" fmla="val 15000"/>
            </a:avLst>
          </a:prstGeom>
          <a:solidFill>
            <a:srgbClr val="C41E3A"/>
          </a:solidFill>
          <a:ln/>
        </p:spPr>
      </p:sp>
      <p:sp>
        <p:nvSpPr>
          <p:cNvPr id="13" name="Text 11"/>
          <p:cNvSpPr/>
          <p:nvPr/>
        </p:nvSpPr>
        <p:spPr>
          <a:xfrm>
            <a:off x="7269480" y="1078992"/>
            <a:ext cx="50292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影響高</a:t>
            </a:r>
            <a:endParaRPr lang="en-US" sz="700" dirty="0"/>
          </a:p>
        </p:txBody>
      </p:sp>
      <p:sp>
        <p:nvSpPr>
          <p:cNvPr id="14" name="Shape 12"/>
          <p:cNvSpPr/>
          <p:nvPr/>
        </p:nvSpPr>
        <p:spPr>
          <a:xfrm>
            <a:off x="7818120" y="1078992"/>
            <a:ext cx="502920" cy="182880"/>
          </a:xfrm>
          <a:prstGeom prst="roundRect">
            <a:avLst>
              <a:gd name="adj" fmla="val 15000"/>
            </a:avLst>
          </a:prstGeom>
          <a:solidFill>
            <a:srgbClr val="C41E3A"/>
          </a:solidFill>
          <a:ln/>
        </p:spPr>
      </p:sp>
      <p:sp>
        <p:nvSpPr>
          <p:cNvPr id="15" name="Text 13"/>
          <p:cNvSpPr/>
          <p:nvPr/>
        </p:nvSpPr>
        <p:spPr>
          <a:xfrm>
            <a:off x="7818120" y="1078992"/>
            <a:ext cx="50292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確率高</a:t>
            </a:r>
            <a:endParaRPr lang="en-US" sz="700" dirty="0"/>
          </a:p>
        </p:txBody>
      </p:sp>
      <p:sp>
        <p:nvSpPr>
          <p:cNvPr id="16" name="Text 14"/>
          <p:cNvSpPr/>
          <p:nvPr/>
        </p:nvSpPr>
        <p:spPr>
          <a:xfrm>
            <a:off x="4709160" y="1051560"/>
            <a:ext cx="2423160" cy="274320"/>
          </a:xfrm>
          <a:prstGeom prst="rect">
            <a:avLst/>
          </a:prstGeom>
          <a:noFill/>
          <a:ln/>
        </p:spPr>
        <p:txBody>
          <a:bodyPr wrap="square" lIns="0" tIns="0" rIns="0" bIns="0" rtlCol="0" anchor="ctr"/>
          <a:lstStyle/>
          <a:p>
            <a:pPr algn="l" indent="0" marL="0">
              <a:buNone/>
            </a:pPr>
            <a:r>
              <a:rPr lang="en-US" sz="1300" b="1" dirty="0">
                <a:solidFill>
                  <a:srgbClr val="8B0000"/>
                </a:solidFill>
                <a:latin typeface="Calibri" pitchFamily="34" charset="0"/>
                <a:ea typeface="Calibri" pitchFamily="34" charset="-122"/>
                <a:cs typeface="Calibri" pitchFamily="34" charset="-120"/>
              </a:rPr>
              <a:t>競合の激化</a:t>
            </a:r>
            <a:endParaRPr lang="en-US" sz="1300" dirty="0"/>
          </a:p>
        </p:txBody>
      </p:sp>
      <p:sp>
        <p:nvSpPr>
          <p:cNvPr id="17" name="Text 15"/>
          <p:cNvSpPr/>
          <p:nvPr/>
        </p:nvSpPr>
        <p:spPr>
          <a:xfrm>
            <a:off x="4709160" y="1353312"/>
            <a:ext cx="3611880" cy="411480"/>
          </a:xfrm>
          <a:prstGeom prst="rect">
            <a:avLst/>
          </a:prstGeom>
          <a:noFill/>
          <a:ln/>
        </p:spPr>
        <p:txBody>
          <a:bodyPr wrap="square" lIns="0" tIns="0" rIns="0" bIns="0" rtlCol="0" anchor="ctr"/>
          <a:lstStyle/>
          <a:p>
            <a:pPr algn="l" indent="0" marL="0">
              <a:lnSpc>
                <a:spcPct val="130000"/>
              </a:lnSpc>
              <a:buNone/>
            </a:pPr>
            <a:r>
              <a:rPr lang="en-US" sz="1000" dirty="0">
                <a:solidFill>
                  <a:srgbClr val="2D2D2D"/>
                </a:solidFill>
                <a:latin typeface="Calibri" pitchFamily="34" charset="0"/>
                <a:ea typeface="Calibri" pitchFamily="34" charset="-122"/>
                <a:cs typeface="Calibri" pitchFamily="34" charset="-120"/>
              </a:rPr>
              <a:t>技術的優位性（透明性・セキュリティ）で差別化</a:t>
            </a:r>
            <a:endParaRPr lang="en-US" sz="1000" dirty="0"/>
          </a:p>
        </p:txBody>
      </p:sp>
      <p:sp>
        <p:nvSpPr>
          <p:cNvPr id="18" name="Shape 16"/>
          <p:cNvSpPr/>
          <p:nvPr/>
        </p:nvSpPr>
        <p:spPr>
          <a:xfrm>
            <a:off x="548640" y="1947672"/>
            <a:ext cx="3886200" cy="868680"/>
          </a:xfrm>
          <a:prstGeom prst="roundRect">
            <a:avLst>
              <a:gd name="adj" fmla="val 8421"/>
            </a:avLst>
          </a:prstGeom>
          <a:solidFill>
            <a:srgbClr val="FDF5E6"/>
          </a:solidFill>
          <a:ln/>
          <a:effectLst>
            <a:outerShdw sx="100000" sy="100000" kx="0" ky="0" algn="bl" rotWithShape="0" blurRad="50800" dist="25400" dir="18900000">
              <a:srgbClr val="000000">
                <a:alpha val="12000"/>
              </a:srgbClr>
            </a:outerShdw>
          </a:effectLst>
        </p:spPr>
      </p:sp>
      <p:sp>
        <p:nvSpPr>
          <p:cNvPr id="19" name="Shape 17"/>
          <p:cNvSpPr/>
          <p:nvPr/>
        </p:nvSpPr>
        <p:spPr>
          <a:xfrm>
            <a:off x="3246120" y="2020824"/>
            <a:ext cx="502920" cy="182880"/>
          </a:xfrm>
          <a:prstGeom prst="roundRect">
            <a:avLst>
              <a:gd name="adj" fmla="val 15000"/>
            </a:avLst>
          </a:prstGeom>
          <a:solidFill>
            <a:srgbClr val="C41E3A"/>
          </a:solidFill>
          <a:ln/>
        </p:spPr>
      </p:sp>
      <p:sp>
        <p:nvSpPr>
          <p:cNvPr id="20" name="Text 18"/>
          <p:cNvSpPr/>
          <p:nvPr/>
        </p:nvSpPr>
        <p:spPr>
          <a:xfrm>
            <a:off x="3246120" y="2020824"/>
            <a:ext cx="50292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影響高</a:t>
            </a:r>
            <a:endParaRPr lang="en-US" sz="700" dirty="0"/>
          </a:p>
        </p:txBody>
      </p:sp>
      <p:sp>
        <p:nvSpPr>
          <p:cNvPr id="21" name="Shape 19"/>
          <p:cNvSpPr/>
          <p:nvPr/>
        </p:nvSpPr>
        <p:spPr>
          <a:xfrm>
            <a:off x="3794760" y="2020824"/>
            <a:ext cx="502920" cy="182880"/>
          </a:xfrm>
          <a:prstGeom prst="roundRect">
            <a:avLst>
              <a:gd name="adj" fmla="val 15000"/>
            </a:avLst>
          </a:prstGeom>
          <a:solidFill>
            <a:srgbClr val="2E8B57"/>
          </a:solidFill>
          <a:ln/>
        </p:spPr>
      </p:sp>
      <p:sp>
        <p:nvSpPr>
          <p:cNvPr id="22" name="Text 20"/>
          <p:cNvSpPr/>
          <p:nvPr/>
        </p:nvSpPr>
        <p:spPr>
          <a:xfrm>
            <a:off x="3794760" y="2020824"/>
            <a:ext cx="50292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確率低</a:t>
            </a:r>
            <a:endParaRPr lang="en-US" sz="700" dirty="0"/>
          </a:p>
        </p:txBody>
      </p:sp>
      <p:sp>
        <p:nvSpPr>
          <p:cNvPr id="23" name="Text 21"/>
          <p:cNvSpPr/>
          <p:nvPr/>
        </p:nvSpPr>
        <p:spPr>
          <a:xfrm>
            <a:off x="685800" y="1993392"/>
            <a:ext cx="2423160" cy="274320"/>
          </a:xfrm>
          <a:prstGeom prst="rect">
            <a:avLst/>
          </a:prstGeom>
          <a:noFill/>
          <a:ln/>
        </p:spPr>
        <p:txBody>
          <a:bodyPr wrap="square" lIns="0" tIns="0" rIns="0" bIns="0" rtlCol="0" anchor="ctr"/>
          <a:lstStyle/>
          <a:p>
            <a:pPr algn="l" indent="0" marL="0">
              <a:buNone/>
            </a:pPr>
            <a:r>
              <a:rPr lang="en-US" sz="1300" b="1" dirty="0">
                <a:solidFill>
                  <a:srgbClr val="8B0000"/>
                </a:solidFill>
                <a:latin typeface="Calibri" pitchFamily="34" charset="0"/>
                <a:ea typeface="Calibri" pitchFamily="34" charset="-122"/>
                <a:cs typeface="Calibri" pitchFamily="34" charset="-120"/>
              </a:rPr>
              <a:t>トレカ市場の縮小</a:t>
            </a:r>
            <a:endParaRPr lang="en-US" sz="1300" dirty="0"/>
          </a:p>
        </p:txBody>
      </p:sp>
      <p:sp>
        <p:nvSpPr>
          <p:cNvPr id="24" name="Text 22"/>
          <p:cNvSpPr/>
          <p:nvPr/>
        </p:nvSpPr>
        <p:spPr>
          <a:xfrm>
            <a:off x="685800" y="2295144"/>
            <a:ext cx="3611880" cy="411480"/>
          </a:xfrm>
          <a:prstGeom prst="rect">
            <a:avLst/>
          </a:prstGeom>
          <a:noFill/>
          <a:ln/>
        </p:spPr>
        <p:txBody>
          <a:bodyPr wrap="square" lIns="0" tIns="0" rIns="0" bIns="0" rtlCol="0" anchor="ctr"/>
          <a:lstStyle/>
          <a:p>
            <a:pPr algn="l" indent="0" marL="0">
              <a:lnSpc>
                <a:spcPct val="130000"/>
              </a:lnSpc>
              <a:buNone/>
            </a:pPr>
            <a:r>
              <a:rPr lang="en-US" sz="1000" dirty="0">
                <a:solidFill>
                  <a:srgbClr val="2D2D2D"/>
                </a:solidFill>
                <a:latin typeface="Calibri" pitchFamily="34" charset="0"/>
                <a:ea typeface="Calibri" pitchFamily="34" charset="-122"/>
                <a:cs typeface="Calibri" pitchFamily="34" charset="-120"/>
              </a:rPr>
              <a:t>複数タイトルへの分散投資</a:t>
            </a:r>
            <a:endParaRPr lang="en-US" sz="1000" dirty="0"/>
          </a:p>
        </p:txBody>
      </p:sp>
      <p:sp>
        <p:nvSpPr>
          <p:cNvPr id="25" name="Shape 23"/>
          <p:cNvSpPr/>
          <p:nvPr/>
        </p:nvSpPr>
        <p:spPr>
          <a:xfrm>
            <a:off x="4572000" y="1947672"/>
            <a:ext cx="3886200" cy="868680"/>
          </a:xfrm>
          <a:prstGeom prst="roundRect">
            <a:avLst>
              <a:gd name="adj" fmla="val 8421"/>
            </a:avLst>
          </a:prstGeom>
          <a:solidFill>
            <a:srgbClr val="FDF5E6"/>
          </a:solidFill>
          <a:ln/>
          <a:effectLst>
            <a:outerShdw sx="100000" sy="100000" kx="0" ky="0" algn="bl" rotWithShape="0" blurRad="50800" dist="25400" dir="18900000">
              <a:srgbClr val="000000">
                <a:alpha val="12000"/>
              </a:srgbClr>
            </a:outerShdw>
          </a:effectLst>
        </p:spPr>
      </p:sp>
      <p:sp>
        <p:nvSpPr>
          <p:cNvPr id="26" name="Shape 24"/>
          <p:cNvSpPr/>
          <p:nvPr/>
        </p:nvSpPr>
        <p:spPr>
          <a:xfrm>
            <a:off x="7269480" y="2020824"/>
            <a:ext cx="502920" cy="182880"/>
          </a:xfrm>
          <a:prstGeom prst="roundRect">
            <a:avLst>
              <a:gd name="adj" fmla="val 15000"/>
            </a:avLst>
          </a:prstGeom>
          <a:solidFill>
            <a:srgbClr val="C41E3A"/>
          </a:solidFill>
          <a:ln/>
        </p:spPr>
      </p:sp>
      <p:sp>
        <p:nvSpPr>
          <p:cNvPr id="27" name="Text 25"/>
          <p:cNvSpPr/>
          <p:nvPr/>
        </p:nvSpPr>
        <p:spPr>
          <a:xfrm>
            <a:off x="7269480" y="2020824"/>
            <a:ext cx="50292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影響高</a:t>
            </a:r>
            <a:endParaRPr lang="en-US" sz="700" dirty="0"/>
          </a:p>
        </p:txBody>
      </p:sp>
      <p:sp>
        <p:nvSpPr>
          <p:cNvPr id="28" name="Shape 26"/>
          <p:cNvSpPr/>
          <p:nvPr/>
        </p:nvSpPr>
        <p:spPr>
          <a:xfrm>
            <a:off x="7818120" y="2020824"/>
            <a:ext cx="502920" cy="182880"/>
          </a:xfrm>
          <a:prstGeom prst="roundRect">
            <a:avLst>
              <a:gd name="adj" fmla="val 15000"/>
            </a:avLst>
          </a:prstGeom>
          <a:solidFill>
            <a:srgbClr val="2E8B57"/>
          </a:solidFill>
          <a:ln/>
        </p:spPr>
      </p:sp>
      <p:sp>
        <p:nvSpPr>
          <p:cNvPr id="29" name="Text 27"/>
          <p:cNvSpPr/>
          <p:nvPr/>
        </p:nvSpPr>
        <p:spPr>
          <a:xfrm>
            <a:off x="7818120" y="2020824"/>
            <a:ext cx="50292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確率低</a:t>
            </a:r>
            <a:endParaRPr lang="en-US" sz="700" dirty="0"/>
          </a:p>
        </p:txBody>
      </p:sp>
      <p:sp>
        <p:nvSpPr>
          <p:cNvPr id="30" name="Text 28"/>
          <p:cNvSpPr/>
          <p:nvPr/>
        </p:nvSpPr>
        <p:spPr>
          <a:xfrm>
            <a:off x="4709160" y="1993392"/>
            <a:ext cx="2423160" cy="274320"/>
          </a:xfrm>
          <a:prstGeom prst="rect">
            <a:avLst/>
          </a:prstGeom>
          <a:noFill/>
          <a:ln/>
        </p:spPr>
        <p:txBody>
          <a:bodyPr wrap="square" lIns="0" tIns="0" rIns="0" bIns="0" rtlCol="0" anchor="ctr"/>
          <a:lstStyle/>
          <a:p>
            <a:pPr algn="l" indent="0" marL="0">
              <a:buNone/>
            </a:pPr>
            <a:r>
              <a:rPr lang="en-US" sz="1300" b="1" dirty="0">
                <a:solidFill>
                  <a:srgbClr val="8B0000"/>
                </a:solidFill>
                <a:latin typeface="Calibri" pitchFamily="34" charset="0"/>
                <a:ea typeface="Calibri" pitchFamily="34" charset="-122"/>
                <a:cs typeface="Calibri" pitchFamily="34" charset="-120"/>
              </a:rPr>
              <a:t>不正アクセス・漏洩</a:t>
            </a:r>
            <a:endParaRPr lang="en-US" sz="1300" dirty="0"/>
          </a:p>
        </p:txBody>
      </p:sp>
      <p:sp>
        <p:nvSpPr>
          <p:cNvPr id="31" name="Text 29"/>
          <p:cNvSpPr/>
          <p:nvPr/>
        </p:nvSpPr>
        <p:spPr>
          <a:xfrm>
            <a:off x="4709160" y="2295144"/>
            <a:ext cx="3611880" cy="411480"/>
          </a:xfrm>
          <a:prstGeom prst="rect">
            <a:avLst/>
          </a:prstGeom>
          <a:noFill/>
          <a:ln/>
        </p:spPr>
        <p:txBody>
          <a:bodyPr wrap="square" lIns="0" tIns="0" rIns="0" bIns="0" rtlCol="0" anchor="ctr"/>
          <a:lstStyle/>
          <a:p>
            <a:pPr algn="l" indent="0" marL="0">
              <a:lnSpc>
                <a:spcPct val="130000"/>
              </a:lnSpc>
              <a:buNone/>
            </a:pPr>
            <a:r>
              <a:rPr lang="en-US" sz="1000" dirty="0">
                <a:solidFill>
                  <a:srgbClr val="2D2D2D"/>
                </a:solidFill>
                <a:latin typeface="Calibri" pitchFamily="34" charset="0"/>
                <a:ea typeface="Calibri" pitchFamily="34" charset="-122"/>
                <a:cs typeface="Calibri" pitchFamily="34" charset="-120"/>
              </a:rPr>
              <a:t>RLS・サーバーサイド認証・PCI DSS多層防御</a:t>
            </a:r>
            <a:endParaRPr lang="en-US" sz="1000" dirty="0"/>
          </a:p>
        </p:txBody>
      </p:sp>
      <p:sp>
        <p:nvSpPr>
          <p:cNvPr id="32" name="Shape 30"/>
          <p:cNvSpPr/>
          <p:nvPr/>
        </p:nvSpPr>
        <p:spPr>
          <a:xfrm>
            <a:off x="548640" y="2889504"/>
            <a:ext cx="3886200" cy="868680"/>
          </a:xfrm>
          <a:prstGeom prst="roundRect">
            <a:avLst>
              <a:gd name="adj" fmla="val 8421"/>
            </a:avLst>
          </a:prstGeom>
          <a:solidFill>
            <a:srgbClr val="FDF5E6"/>
          </a:solidFill>
          <a:ln/>
          <a:effectLst>
            <a:outerShdw sx="100000" sy="100000" kx="0" ky="0" algn="bl" rotWithShape="0" blurRad="50800" dist="25400" dir="18900000">
              <a:srgbClr val="000000">
                <a:alpha val="12000"/>
              </a:srgbClr>
            </a:outerShdw>
          </a:effectLst>
        </p:spPr>
      </p:sp>
      <p:sp>
        <p:nvSpPr>
          <p:cNvPr id="33" name="Shape 31"/>
          <p:cNvSpPr/>
          <p:nvPr/>
        </p:nvSpPr>
        <p:spPr>
          <a:xfrm>
            <a:off x="3246120" y="2962656"/>
            <a:ext cx="502920" cy="182880"/>
          </a:xfrm>
          <a:prstGeom prst="roundRect">
            <a:avLst>
              <a:gd name="adj" fmla="val 15000"/>
            </a:avLst>
          </a:prstGeom>
          <a:solidFill>
            <a:srgbClr val="D4A017"/>
          </a:solidFill>
          <a:ln/>
        </p:spPr>
      </p:sp>
      <p:sp>
        <p:nvSpPr>
          <p:cNvPr id="34" name="Text 32"/>
          <p:cNvSpPr/>
          <p:nvPr/>
        </p:nvSpPr>
        <p:spPr>
          <a:xfrm>
            <a:off x="3246120" y="2962656"/>
            <a:ext cx="50292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影響中</a:t>
            </a:r>
            <a:endParaRPr lang="en-US" sz="700" dirty="0"/>
          </a:p>
        </p:txBody>
      </p:sp>
      <p:sp>
        <p:nvSpPr>
          <p:cNvPr id="35" name="Shape 33"/>
          <p:cNvSpPr/>
          <p:nvPr/>
        </p:nvSpPr>
        <p:spPr>
          <a:xfrm>
            <a:off x="3794760" y="2962656"/>
            <a:ext cx="502920" cy="182880"/>
          </a:xfrm>
          <a:prstGeom prst="roundRect">
            <a:avLst>
              <a:gd name="adj" fmla="val 15000"/>
            </a:avLst>
          </a:prstGeom>
          <a:solidFill>
            <a:srgbClr val="D4A017"/>
          </a:solidFill>
          <a:ln/>
        </p:spPr>
      </p:sp>
      <p:sp>
        <p:nvSpPr>
          <p:cNvPr id="36" name="Text 34"/>
          <p:cNvSpPr/>
          <p:nvPr/>
        </p:nvSpPr>
        <p:spPr>
          <a:xfrm>
            <a:off x="3794760" y="2962656"/>
            <a:ext cx="50292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確率中</a:t>
            </a:r>
            <a:endParaRPr lang="en-US" sz="700" dirty="0"/>
          </a:p>
        </p:txBody>
      </p:sp>
      <p:sp>
        <p:nvSpPr>
          <p:cNvPr id="37" name="Text 35"/>
          <p:cNvSpPr/>
          <p:nvPr/>
        </p:nvSpPr>
        <p:spPr>
          <a:xfrm>
            <a:off x="685800" y="2935224"/>
            <a:ext cx="2423160" cy="274320"/>
          </a:xfrm>
          <a:prstGeom prst="rect">
            <a:avLst/>
          </a:prstGeom>
          <a:noFill/>
          <a:ln/>
        </p:spPr>
        <p:txBody>
          <a:bodyPr wrap="square" lIns="0" tIns="0" rIns="0" bIns="0" rtlCol="0" anchor="ctr"/>
          <a:lstStyle/>
          <a:p>
            <a:pPr algn="l" indent="0" marL="0">
              <a:buNone/>
            </a:pPr>
            <a:r>
              <a:rPr lang="en-US" sz="1300" b="1" dirty="0">
                <a:solidFill>
                  <a:srgbClr val="8B0000"/>
                </a:solidFill>
                <a:latin typeface="Calibri" pitchFamily="34" charset="0"/>
                <a:ea typeface="Calibri" pitchFamily="34" charset="-122"/>
                <a:cs typeface="Calibri" pitchFamily="34" charset="-120"/>
              </a:rPr>
              <a:t>調達困難（品薄）</a:t>
            </a:r>
            <a:endParaRPr lang="en-US" sz="1300" dirty="0"/>
          </a:p>
        </p:txBody>
      </p:sp>
      <p:sp>
        <p:nvSpPr>
          <p:cNvPr id="38" name="Text 36"/>
          <p:cNvSpPr/>
          <p:nvPr/>
        </p:nvSpPr>
        <p:spPr>
          <a:xfrm>
            <a:off x="685800" y="3236976"/>
            <a:ext cx="3611880" cy="411480"/>
          </a:xfrm>
          <a:prstGeom prst="rect">
            <a:avLst/>
          </a:prstGeom>
          <a:noFill/>
          <a:ln/>
        </p:spPr>
        <p:txBody>
          <a:bodyPr wrap="square" lIns="0" tIns="0" rIns="0" bIns="0" rtlCol="0" anchor="ctr"/>
          <a:lstStyle/>
          <a:p>
            <a:pPr algn="l" indent="0" marL="0">
              <a:lnSpc>
                <a:spcPct val="130000"/>
              </a:lnSpc>
              <a:buNone/>
            </a:pPr>
            <a:r>
              <a:rPr lang="en-US" sz="1000" dirty="0">
                <a:solidFill>
                  <a:srgbClr val="2D2D2D"/>
                </a:solidFill>
                <a:latin typeface="Calibri" pitchFamily="34" charset="0"/>
                <a:ea typeface="Calibri" pitchFamily="34" charset="-122"/>
                <a:cs typeface="Calibri" pitchFamily="34" charset="-120"/>
              </a:rPr>
              <a:t>バーチャル在庫で調達失敗時は自動返金</a:t>
            </a:r>
            <a:endParaRPr lang="en-US" sz="1000" dirty="0"/>
          </a:p>
        </p:txBody>
      </p:sp>
      <p:sp>
        <p:nvSpPr>
          <p:cNvPr id="39" name="Shape 37"/>
          <p:cNvSpPr/>
          <p:nvPr/>
        </p:nvSpPr>
        <p:spPr>
          <a:xfrm>
            <a:off x="4572000" y="2889504"/>
            <a:ext cx="3886200" cy="868680"/>
          </a:xfrm>
          <a:prstGeom prst="roundRect">
            <a:avLst>
              <a:gd name="adj" fmla="val 8421"/>
            </a:avLst>
          </a:prstGeom>
          <a:solidFill>
            <a:srgbClr val="FDF5E6"/>
          </a:solidFill>
          <a:ln/>
          <a:effectLst>
            <a:outerShdw sx="100000" sy="100000" kx="0" ky="0" algn="bl" rotWithShape="0" blurRad="50800" dist="25400" dir="18900000">
              <a:srgbClr val="000000">
                <a:alpha val="12000"/>
              </a:srgbClr>
            </a:outerShdw>
          </a:effectLst>
        </p:spPr>
      </p:sp>
      <p:sp>
        <p:nvSpPr>
          <p:cNvPr id="40" name="Shape 38"/>
          <p:cNvSpPr/>
          <p:nvPr/>
        </p:nvSpPr>
        <p:spPr>
          <a:xfrm>
            <a:off x="7269480" y="2962656"/>
            <a:ext cx="502920" cy="182880"/>
          </a:xfrm>
          <a:prstGeom prst="roundRect">
            <a:avLst>
              <a:gd name="adj" fmla="val 15000"/>
            </a:avLst>
          </a:prstGeom>
          <a:solidFill>
            <a:srgbClr val="D4A017"/>
          </a:solidFill>
          <a:ln/>
        </p:spPr>
      </p:sp>
      <p:sp>
        <p:nvSpPr>
          <p:cNvPr id="41" name="Text 39"/>
          <p:cNvSpPr/>
          <p:nvPr/>
        </p:nvSpPr>
        <p:spPr>
          <a:xfrm>
            <a:off x="7269480" y="2962656"/>
            <a:ext cx="50292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影響中</a:t>
            </a:r>
            <a:endParaRPr lang="en-US" sz="700" dirty="0"/>
          </a:p>
        </p:txBody>
      </p:sp>
      <p:sp>
        <p:nvSpPr>
          <p:cNvPr id="42" name="Shape 40"/>
          <p:cNvSpPr/>
          <p:nvPr/>
        </p:nvSpPr>
        <p:spPr>
          <a:xfrm>
            <a:off x="7818120" y="2962656"/>
            <a:ext cx="502920" cy="182880"/>
          </a:xfrm>
          <a:prstGeom prst="roundRect">
            <a:avLst>
              <a:gd name="adj" fmla="val 15000"/>
            </a:avLst>
          </a:prstGeom>
          <a:solidFill>
            <a:srgbClr val="2E8B57"/>
          </a:solidFill>
          <a:ln/>
        </p:spPr>
      </p:sp>
      <p:sp>
        <p:nvSpPr>
          <p:cNvPr id="43" name="Text 41"/>
          <p:cNvSpPr/>
          <p:nvPr/>
        </p:nvSpPr>
        <p:spPr>
          <a:xfrm>
            <a:off x="7818120" y="2962656"/>
            <a:ext cx="50292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確率低</a:t>
            </a:r>
            <a:endParaRPr lang="en-US" sz="700" dirty="0"/>
          </a:p>
        </p:txBody>
      </p:sp>
      <p:sp>
        <p:nvSpPr>
          <p:cNvPr id="44" name="Text 42"/>
          <p:cNvSpPr/>
          <p:nvPr/>
        </p:nvSpPr>
        <p:spPr>
          <a:xfrm>
            <a:off x="4709160" y="2935224"/>
            <a:ext cx="2423160" cy="274320"/>
          </a:xfrm>
          <a:prstGeom prst="rect">
            <a:avLst/>
          </a:prstGeom>
          <a:noFill/>
          <a:ln/>
        </p:spPr>
        <p:txBody>
          <a:bodyPr wrap="square" lIns="0" tIns="0" rIns="0" bIns="0" rtlCol="0" anchor="ctr"/>
          <a:lstStyle/>
          <a:p>
            <a:pPr algn="l" indent="0" marL="0">
              <a:buNone/>
            </a:pPr>
            <a:r>
              <a:rPr lang="en-US" sz="1300" b="1" dirty="0">
                <a:solidFill>
                  <a:srgbClr val="8B0000"/>
                </a:solidFill>
                <a:latin typeface="Calibri" pitchFamily="34" charset="0"/>
                <a:ea typeface="Calibri" pitchFamily="34" charset="-122"/>
                <a:cs typeface="Calibri" pitchFamily="34" charset="-120"/>
              </a:rPr>
              <a:t>チャージバック</a:t>
            </a:r>
            <a:endParaRPr lang="en-US" sz="1300" dirty="0"/>
          </a:p>
        </p:txBody>
      </p:sp>
      <p:sp>
        <p:nvSpPr>
          <p:cNvPr id="45" name="Text 43"/>
          <p:cNvSpPr/>
          <p:nvPr/>
        </p:nvSpPr>
        <p:spPr>
          <a:xfrm>
            <a:off x="4709160" y="3236976"/>
            <a:ext cx="3611880" cy="411480"/>
          </a:xfrm>
          <a:prstGeom prst="rect">
            <a:avLst/>
          </a:prstGeom>
          <a:noFill/>
          <a:ln/>
        </p:spPr>
        <p:txBody>
          <a:bodyPr wrap="square" lIns="0" tIns="0" rIns="0" bIns="0" rtlCol="0" anchor="ctr"/>
          <a:lstStyle/>
          <a:p>
            <a:pPr algn="l" indent="0" marL="0">
              <a:lnSpc>
                <a:spcPct val="130000"/>
              </a:lnSpc>
              <a:buNone/>
            </a:pPr>
            <a:r>
              <a:rPr lang="en-US" sz="1000" dirty="0">
                <a:solidFill>
                  <a:srgbClr val="2D2D2D"/>
                </a:solidFill>
                <a:latin typeface="Calibri" pitchFamily="34" charset="0"/>
                <a:ea typeface="Calibri" pitchFamily="34" charset="-122"/>
                <a:cs typeface="Calibri" pitchFamily="34" charset="-120"/>
              </a:rPr>
              <a:t>冪等Webhook処理で二重付与防止</a:t>
            </a:r>
            <a:endParaRPr lang="en-US" sz="1000" dirty="0"/>
          </a:p>
        </p:txBody>
      </p:sp>
      <p:sp>
        <p:nvSpPr>
          <p:cNvPr id="46" name="Shape 44"/>
          <p:cNvSpPr/>
          <p:nvPr/>
        </p:nvSpPr>
        <p:spPr>
          <a:xfrm>
            <a:off x="548640" y="3886200"/>
            <a:ext cx="8046720" cy="777240"/>
          </a:xfrm>
          <a:prstGeom prst="roundRect">
            <a:avLst>
              <a:gd name="adj" fmla="val 9412"/>
            </a:avLst>
          </a:prstGeom>
          <a:solidFill>
            <a:srgbClr val="FDF5E6"/>
          </a:solidFill>
          <a:ln/>
          <a:effectLst>
            <a:outerShdw sx="100000" sy="100000" kx="0" ky="0" algn="bl" rotWithShape="0" blurRad="50800" dist="25400" dir="18900000">
              <a:srgbClr val="000000">
                <a:alpha val="12000"/>
              </a:srgbClr>
            </a:outerShdw>
          </a:effectLst>
        </p:spPr>
      </p:sp>
      <p:sp>
        <p:nvSpPr>
          <p:cNvPr id="47" name="Text 45"/>
          <p:cNvSpPr/>
          <p:nvPr/>
        </p:nvSpPr>
        <p:spPr>
          <a:xfrm>
            <a:off x="731520" y="3931920"/>
            <a:ext cx="1371600" cy="228600"/>
          </a:xfrm>
          <a:prstGeom prst="rect">
            <a:avLst/>
          </a:prstGeom>
          <a:noFill/>
          <a:ln/>
        </p:spPr>
        <p:txBody>
          <a:bodyPr wrap="square" lIns="0" tIns="0" rIns="0" bIns="0" rtlCol="0" anchor="ctr"/>
          <a:lstStyle/>
          <a:p>
            <a:pPr algn="l" indent="0" marL="0">
              <a:buNone/>
            </a:pPr>
            <a:r>
              <a:rPr lang="en-US" sz="1100" b="1" dirty="0">
                <a:solidFill>
                  <a:srgbClr val="8B0000"/>
                </a:solidFill>
                <a:latin typeface="Calibri" pitchFamily="34" charset="0"/>
                <a:ea typeface="Calibri" pitchFamily="34" charset="-122"/>
                <a:cs typeface="Calibri" pitchFamily="34" charset="-120"/>
              </a:rPr>
              <a:t>法令遵守</a:t>
            </a:r>
            <a:endParaRPr lang="en-US" sz="1100" dirty="0"/>
          </a:p>
        </p:txBody>
      </p:sp>
      <p:sp>
        <p:nvSpPr>
          <p:cNvPr id="48" name="Text 46"/>
          <p:cNvSpPr/>
          <p:nvPr/>
        </p:nvSpPr>
        <p:spPr>
          <a:xfrm>
            <a:off x="731520" y="4160520"/>
            <a:ext cx="7680960" cy="365760"/>
          </a:xfrm>
          <a:prstGeom prst="rect">
            <a:avLst/>
          </a:prstGeom>
          <a:noFill/>
          <a:ln/>
        </p:spPr>
        <p:txBody>
          <a:bodyPr wrap="square" lIns="0" tIns="0" rIns="0" bIns="0" rtlCol="0" anchor="ctr"/>
          <a:lstStyle/>
          <a:p>
            <a:pPr algn="l" indent="0" marL="0">
              <a:buNone/>
            </a:pPr>
            <a:r>
              <a:rPr lang="en-US" sz="1000" dirty="0">
                <a:solidFill>
                  <a:srgbClr val="2D2D2D"/>
                </a:solidFill>
                <a:latin typeface="Calibri" pitchFamily="34" charset="0"/>
                <a:ea typeface="Calibri" pitchFamily="34" charset="-122"/>
                <a:cs typeface="Calibri" pitchFamily="34" charset="-120"/>
              </a:rPr>
              <a:t>古物営業法（許可取得予定）、景品表示法（在庫消化型で準拠）、資金決済法（180日有効期限で適用除外）、特商法（表示ページ実装済み）</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0A0E"/>
        </a:solidFill>
      </p:bgPr>
    </p:bg>
    <p:spTree>
      <p:nvGrpSpPr>
        <p:cNvPr id="1" name=""/>
        <p:cNvGrpSpPr/>
        <p:nvPr/>
      </p:nvGrpSpPr>
      <p:grpSpPr>
        <a:xfrm>
          <a:off x="0" y="0"/>
          <a:ext cx="0" cy="0"/>
          <a:chOff x="0" y="0"/>
          <a:chExt cx="0" cy="0"/>
        </a:xfrm>
      </p:grpSpPr>
      <p:sp>
        <p:nvSpPr>
          <p:cNvPr id="2" name="Shape 0"/>
          <p:cNvSpPr/>
          <p:nvPr/>
        </p:nvSpPr>
        <p:spPr>
          <a:xfrm>
            <a:off x="-914400" y="-914400"/>
            <a:ext cx="2743200" cy="2743200"/>
          </a:xfrm>
          <a:prstGeom prst="ellipse">
            <a:avLst/>
          </a:prstGeom>
          <a:solidFill>
            <a:srgbClr val="C41E3A">
              <a:alpha val="10000"/>
            </a:srgbClr>
          </a:solidFill>
          <a:ln/>
        </p:spPr>
      </p:sp>
      <p:sp>
        <p:nvSpPr>
          <p:cNvPr id="3" name="Shape 1"/>
          <p:cNvSpPr/>
          <p:nvPr/>
        </p:nvSpPr>
        <p:spPr>
          <a:xfrm>
            <a:off x="7315200" y="3200400"/>
            <a:ext cx="3200400" cy="3200400"/>
          </a:xfrm>
          <a:prstGeom prst="ellipse">
            <a:avLst/>
          </a:prstGeom>
          <a:solidFill>
            <a:srgbClr val="D4A017">
              <a:alpha val="10000"/>
            </a:srgbClr>
          </a:solidFill>
          <a:ln/>
        </p:spPr>
      </p:sp>
      <p:sp>
        <p:nvSpPr>
          <p:cNvPr id="4" name="Text 2"/>
          <p:cNvSpPr/>
          <p:nvPr/>
        </p:nvSpPr>
        <p:spPr>
          <a:xfrm>
            <a:off x="548640" y="457200"/>
            <a:ext cx="8046720" cy="54864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ORIPAが目指す未来</a:t>
            </a:r>
            <a:endParaRPr lang="en-US" sz="3600" dirty="0"/>
          </a:p>
        </p:txBody>
      </p:sp>
      <p:sp>
        <p:nvSpPr>
          <p:cNvPr id="5" name="Shape 3"/>
          <p:cNvSpPr/>
          <p:nvPr/>
        </p:nvSpPr>
        <p:spPr>
          <a:xfrm>
            <a:off x="1371600" y="1417320"/>
            <a:ext cx="228600" cy="228600"/>
          </a:xfrm>
          <a:prstGeom prst="ellipse">
            <a:avLst/>
          </a:prstGeom>
          <a:solidFill>
            <a:srgbClr val="C41E3A"/>
          </a:solidFill>
          <a:ln/>
        </p:spPr>
      </p:sp>
      <p:sp>
        <p:nvSpPr>
          <p:cNvPr id="6" name="Text 4"/>
          <p:cNvSpPr/>
          <p:nvPr/>
        </p:nvSpPr>
        <p:spPr>
          <a:xfrm>
            <a:off x="1737360" y="1371600"/>
            <a:ext cx="6400800" cy="32004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3,000億円超のトレカ市場で、技術力で信頼を勝ち取る</a:t>
            </a:r>
            <a:endParaRPr lang="en-US" sz="1400" dirty="0"/>
          </a:p>
        </p:txBody>
      </p:sp>
      <p:sp>
        <p:nvSpPr>
          <p:cNvPr id="7" name="Shape 5"/>
          <p:cNvSpPr/>
          <p:nvPr/>
        </p:nvSpPr>
        <p:spPr>
          <a:xfrm>
            <a:off x="1371600" y="2011680"/>
            <a:ext cx="228600" cy="228600"/>
          </a:xfrm>
          <a:prstGeom prst="ellipse">
            <a:avLst/>
          </a:prstGeom>
          <a:solidFill>
            <a:srgbClr val="D4A017"/>
          </a:solidFill>
          <a:ln/>
        </p:spPr>
      </p:sp>
      <p:sp>
        <p:nvSpPr>
          <p:cNvPr id="8" name="Text 6"/>
          <p:cNvSpPr/>
          <p:nvPr/>
        </p:nvSpPr>
        <p:spPr>
          <a:xfrm>
            <a:off x="1737360" y="1965960"/>
            <a:ext cx="6400800" cy="32004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MVP完成 → 2026年10月 正式ローンチ</a:t>
            </a:r>
            <a:endParaRPr lang="en-US" sz="1400" dirty="0"/>
          </a:p>
        </p:txBody>
      </p:sp>
      <p:sp>
        <p:nvSpPr>
          <p:cNvPr id="9" name="Shape 7"/>
          <p:cNvSpPr/>
          <p:nvPr/>
        </p:nvSpPr>
        <p:spPr>
          <a:xfrm>
            <a:off x="1371600" y="2606040"/>
            <a:ext cx="228600" cy="228600"/>
          </a:xfrm>
          <a:prstGeom prst="ellipse">
            <a:avLst/>
          </a:prstGeom>
          <a:solidFill>
            <a:srgbClr val="C41E3A"/>
          </a:solidFill>
          <a:ln/>
        </p:spPr>
      </p:sp>
      <p:sp>
        <p:nvSpPr>
          <p:cNvPr id="10" name="Text 8"/>
          <p:cNvSpPr/>
          <p:nvPr/>
        </p:nvSpPr>
        <p:spPr>
          <a:xfrm>
            <a:off x="1737360" y="2560320"/>
            <a:ext cx="6400800" cy="32004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標準シナリオで年間売上 約3,000万円、粗利 約1,500万円</a:t>
            </a:r>
            <a:endParaRPr lang="en-US" sz="1400" dirty="0"/>
          </a:p>
        </p:txBody>
      </p:sp>
      <p:sp>
        <p:nvSpPr>
          <p:cNvPr id="11" name="Shape 9"/>
          <p:cNvSpPr/>
          <p:nvPr/>
        </p:nvSpPr>
        <p:spPr>
          <a:xfrm>
            <a:off x="1371600" y="3200400"/>
            <a:ext cx="228600" cy="228600"/>
          </a:xfrm>
          <a:prstGeom prst="ellipse">
            <a:avLst/>
          </a:prstGeom>
          <a:solidFill>
            <a:srgbClr val="C41E3A"/>
          </a:solidFill>
          <a:ln/>
        </p:spPr>
      </p:sp>
      <p:sp>
        <p:nvSpPr>
          <p:cNvPr id="12" name="Text 10"/>
          <p:cNvSpPr/>
          <p:nvPr/>
        </p:nvSpPr>
        <p:spPr>
          <a:xfrm>
            <a:off x="1737360" y="3154680"/>
            <a:ext cx="6400800" cy="32004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在庫リスクゼロのバーチャル在庫モデルで資金効率を最大化</a:t>
            </a:r>
            <a:endParaRPr lang="en-US" sz="1400" dirty="0"/>
          </a:p>
        </p:txBody>
      </p:sp>
      <p:sp>
        <p:nvSpPr>
          <p:cNvPr id="13" name="Text 11"/>
          <p:cNvSpPr/>
          <p:nvPr/>
        </p:nvSpPr>
        <p:spPr>
          <a:xfrm>
            <a:off x="548640" y="3657600"/>
            <a:ext cx="8046720" cy="36576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Next Steps</a:t>
            </a:r>
            <a:endParaRPr lang="en-US" sz="1800" dirty="0"/>
          </a:p>
        </p:txBody>
      </p:sp>
      <p:sp>
        <p:nvSpPr>
          <p:cNvPr id="14" name="Text 12"/>
          <p:cNvSpPr/>
          <p:nvPr/>
        </p:nvSpPr>
        <p:spPr>
          <a:xfrm>
            <a:off x="731520" y="4023360"/>
            <a:ext cx="7680960" cy="320040"/>
          </a:xfrm>
          <a:prstGeom prst="rect">
            <a:avLst/>
          </a:prstGeom>
          <a:noFill/>
          <a:ln/>
        </p:spPr>
        <p:txBody>
          <a:bodyPr wrap="square" lIns="0" tIns="0" rIns="0" bIns="0" rtlCol="0" anchor="ctr"/>
          <a:lstStyle/>
          <a:p>
            <a:pPr algn="ctr" indent="0" marL="0">
              <a:buNone/>
            </a:pPr>
            <a:r>
              <a:rPr lang="en-US" sz="1200" dirty="0">
                <a:solidFill>
                  <a:srgbClr val="CCCCCC"/>
                </a:solidFill>
                <a:latin typeface="Calibri" pitchFamily="34" charset="0"/>
                <a:ea typeface="Calibri" pitchFamily="34" charset="-122"/>
                <a:cs typeface="Calibri" pitchFamily="34" charset="-120"/>
              </a:rPr>
              <a:t>古物商許可申請  →  Supabase本番環境構築  →  Stripe本番設定  →  2026年10月ローンチ</a:t>
            </a:r>
            <a:endParaRPr lang="en-US" sz="1200" dirty="0"/>
          </a:p>
        </p:txBody>
      </p:sp>
      <p:sp>
        <p:nvSpPr>
          <p:cNvPr id="15" name="Text 13"/>
          <p:cNvSpPr/>
          <p:nvPr/>
        </p:nvSpPr>
        <p:spPr>
          <a:xfrm>
            <a:off x="457200" y="4572000"/>
            <a:ext cx="8229600" cy="274320"/>
          </a:xfrm>
          <a:prstGeom prst="rect">
            <a:avLst/>
          </a:prstGeom>
          <a:noFill/>
          <a:ln/>
        </p:spPr>
        <p:txBody>
          <a:bodyPr wrap="square" lIns="0" tIns="0" rIns="0" bIns="0" rtlCol="0" anchor="ctr"/>
          <a:lstStyle/>
          <a:p>
            <a:pPr algn="ctr" indent="0" marL="0">
              <a:buNone/>
            </a:pPr>
            <a:r>
              <a:rPr lang="en-US" sz="900" dirty="0">
                <a:solidFill>
                  <a:srgbClr val="999999"/>
                </a:solidFill>
                <a:latin typeface="Calibri" pitchFamily="34" charset="0"/>
                <a:ea typeface="Calibri" pitchFamily="34" charset="-122"/>
                <a:cs typeface="Calibri" pitchFamily="34" charset="-120"/>
              </a:rPr>
              <a:t>ORIPA  |  お問い合わせ: theoffzaki@gmail.com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2026-07-30T15:52:17Z</dcterms:created>
  <dcterms:modified xsi:type="dcterms:W3CDTF">2026-07-30T15:52:17Z</dcterms:modified>
</cp:coreProperties>
</file>